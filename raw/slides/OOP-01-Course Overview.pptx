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7302500" cy="9588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0">
          <p15:clr>
            <a:srgbClr val="000000"/>
          </p15:clr>
        </p15:guide>
        <p15:guide id="2" pos="2300">
          <p15:clr>
            <a:srgbClr val="000000"/>
          </p15:clr>
        </p15:guide>
      </p15:notesGuideLst>
    </p:ext>
    <p:ext uri="GoogleSlidesCustomDataVersion2">
      <go:slidesCustomData xmlns:go="http://customooxmlschemas.google.com/" r:id="rId27" roundtripDataSignature="AMtx7mjoZZUHtmrNd9XptOzPubPDE6eT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0" orient="horz"/>
        <p:guide pos="230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36393" y="0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p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3" name="Google Shape;213;p17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7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1:notes"/>
          <p:cNvSpPr/>
          <p:nvPr>
            <p:ph idx="2" type="sldImg"/>
          </p:nvPr>
        </p:nvSpPr>
        <p:spPr>
          <a:xfrm>
            <a:off x="1254125" y="719138"/>
            <a:ext cx="4794250" cy="3595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9" name="Google Shape;249;p21:notes"/>
          <p:cNvSpPr txBox="1"/>
          <p:nvPr>
            <p:ph idx="1" type="body"/>
          </p:nvPr>
        </p:nvSpPr>
        <p:spPr>
          <a:xfrm>
            <a:off x="730250" y="4554538"/>
            <a:ext cx="5842000" cy="4314825"/>
          </a:xfrm>
          <a:prstGeom prst="rect">
            <a:avLst/>
          </a:prstGeom>
          <a:noFill/>
          <a:ln>
            <a:noFill/>
          </a:ln>
        </p:spPr>
        <p:txBody>
          <a:bodyPr anchorCtr="0" anchor="t" bIns="48250" lIns="96500" spcFirstLastPara="1" rIns="96500" wrap="square" tIns="48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1:notes"/>
          <p:cNvSpPr txBox="1"/>
          <p:nvPr>
            <p:ph idx="12" type="sldNum"/>
          </p:nvPr>
        </p:nvSpPr>
        <p:spPr>
          <a:xfrm>
            <a:off x="4136393" y="9107411"/>
            <a:ext cx="316441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250" lIns="96500" spcFirstLastPara="1" rIns="96500" wrap="square" tIns="482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23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32" name="Google Shape;32;p23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33" name="Google Shape;33;p23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23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23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23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3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3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3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" name="Google Shape;40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426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23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00FF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23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3"/>
          <p:cNvSpPr/>
          <p:nvPr/>
        </p:nvSpPr>
        <p:spPr>
          <a:xfrm>
            <a:off x="6096000" y="3733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GV. Nguyễn Minh Huy</a:t>
            </a:r>
            <a:endParaRPr b="0" i="0" sz="20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3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5000">
                <a:solidFill>
                  <a:srgbClr val="FF66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clipboard2" id="57" name="Google Shape;5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89788" y="4419600"/>
            <a:ext cx="1725612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754813" y="4176713"/>
            <a:ext cx="2160587" cy="2147887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2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8610" lvl="1" marL="9144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⮚"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" name="Google Shape;11;p22"/>
          <p:cNvGrpSpPr/>
          <p:nvPr/>
        </p:nvGrpSpPr>
        <p:grpSpPr>
          <a:xfrm>
            <a:off x="0" y="0"/>
            <a:ext cx="9140825" cy="6850063"/>
            <a:chOff x="0" y="0"/>
            <a:chExt cx="5758" cy="4315"/>
          </a:xfrm>
        </p:grpSpPr>
        <p:grpSp>
          <p:nvGrpSpPr>
            <p:cNvPr id="12" name="Google Shape;12;p22"/>
            <p:cNvGrpSpPr/>
            <p:nvPr/>
          </p:nvGrpSpPr>
          <p:grpSpPr>
            <a:xfrm>
              <a:off x="1728" y="2230"/>
              <a:ext cx="4027" cy="2085"/>
              <a:chOff x="1728" y="2230"/>
              <a:chExt cx="4027" cy="2085"/>
            </a:xfrm>
          </p:grpSpPr>
          <p:sp>
            <p:nvSpPr>
              <p:cNvPr id="13" name="Google Shape;13;p22"/>
              <p:cNvSpPr/>
              <p:nvPr/>
            </p:nvSpPr>
            <p:spPr>
              <a:xfrm>
                <a:off x="1728" y="2644"/>
                <a:ext cx="2882" cy="1671"/>
              </a:xfrm>
              <a:custGeom>
                <a:rect b="b" l="l" r="r" t="t"/>
                <a:pathLst>
                  <a:path extrusionOk="0" h="1671" w="2882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2"/>
              <p:cNvSpPr/>
              <p:nvPr/>
            </p:nvSpPr>
            <p:spPr>
              <a:xfrm>
                <a:off x="4170" y="2671"/>
                <a:ext cx="1259" cy="811"/>
              </a:xfrm>
              <a:custGeom>
                <a:rect b="b" l="l" r="r" t="t"/>
                <a:pathLst>
                  <a:path extrusionOk="0" h="811" w="1259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00309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2"/>
              <p:cNvSpPr/>
              <p:nvPr/>
            </p:nvSpPr>
            <p:spPr>
              <a:xfrm>
                <a:off x="2900" y="3346"/>
                <a:ext cx="2849" cy="969"/>
              </a:xfrm>
              <a:custGeom>
                <a:rect b="b" l="l" r="r" t="t"/>
                <a:pathLst>
                  <a:path extrusionOk="0" h="969" w="284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lnTo>
                      <a:pt x="92" y="958"/>
                    </a:lnTo>
                    <a:close/>
                  </a:path>
                </a:pathLst>
              </a:custGeom>
              <a:gradFill>
                <a:gsLst>
                  <a:gs pos="0">
                    <a:srgbClr val="002E8B"/>
                  </a:gs>
                  <a:gs pos="100000">
                    <a:schemeClr val="dk2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2"/>
              <p:cNvSpPr/>
              <p:nvPr/>
            </p:nvSpPr>
            <p:spPr>
              <a:xfrm>
                <a:off x="2748" y="2230"/>
                <a:ext cx="3007" cy="2085"/>
              </a:xfrm>
              <a:custGeom>
                <a:rect b="b" l="l" r="r" t="t"/>
                <a:pathLst>
                  <a:path extrusionOk="0" h="2085" w="3007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2"/>
              <p:cNvSpPr/>
              <p:nvPr/>
            </p:nvSpPr>
            <p:spPr>
              <a:xfrm>
                <a:off x="4501" y="2317"/>
                <a:ext cx="1248" cy="539"/>
              </a:xfrm>
              <a:custGeom>
                <a:rect b="b" l="l" r="r" t="t"/>
                <a:pathLst>
                  <a:path extrusionOk="0" h="539" w="1248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lnTo>
                      <a:pt x="0" y="332"/>
                    </a:lnTo>
                    <a:close/>
                  </a:path>
                </a:pathLst>
              </a:custGeom>
              <a:gradFill>
                <a:gsLst>
                  <a:gs pos="0">
                    <a:srgbClr val="003090"/>
                  </a:gs>
                  <a:gs pos="100000">
                    <a:schemeClr val="dk2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lt2"/>
                  </a:buClr>
                  <a:buSzPts val="1680"/>
                  <a:buFont typeface="Noto Sans Symbols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18;p22"/>
            <p:cNvSpPr/>
            <p:nvPr/>
          </p:nvSpPr>
          <p:spPr>
            <a:xfrm>
              <a:off x="3322" y="1341"/>
              <a:ext cx="1825" cy="1537"/>
            </a:xfrm>
            <a:custGeom>
              <a:rect b="b" l="l" r="r" t="t"/>
              <a:pathLst>
                <a:path extrusionOk="0" h="1469" w="2296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lnTo>
                    <a:pt x="771" y="1088"/>
                  </a:lnTo>
                  <a:close/>
                </a:path>
              </a:pathLst>
            </a:custGeom>
            <a:gradFill>
              <a:gsLst>
                <a:gs pos="0">
                  <a:srgbClr val="002F8D"/>
                </a:gs>
                <a:gs pos="100000">
                  <a:schemeClr val="dk2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2"/>
            <p:cNvSpPr/>
            <p:nvPr/>
          </p:nvSpPr>
          <p:spPr>
            <a:xfrm>
              <a:off x="0" y="0"/>
              <a:ext cx="5758" cy="1776"/>
            </a:xfrm>
            <a:custGeom>
              <a:rect b="b" l="l" r="r" t="t"/>
              <a:pathLst>
                <a:path extrusionOk="0" h="1906" w="5740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2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■"/>
              <a:defRPr b="0" i="0" sz="3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■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⮚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972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972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972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972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972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⮚"/>
              <a:def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23" name="Google Shape;23;p22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2"/>
          <p:cNvGrpSpPr/>
          <p:nvPr/>
        </p:nvGrpSpPr>
        <p:grpSpPr>
          <a:xfrm>
            <a:off x="7848600" y="152400"/>
            <a:ext cx="685800" cy="609600"/>
            <a:chOff x="5088" y="48"/>
            <a:chExt cx="528" cy="480"/>
          </a:xfrm>
        </p:grpSpPr>
        <p:sp>
          <p:nvSpPr>
            <p:cNvPr id="25" name="Google Shape;25;p22"/>
            <p:cNvSpPr/>
            <p:nvPr/>
          </p:nvSpPr>
          <p:spPr>
            <a:xfrm>
              <a:off x="5088" y="144"/>
              <a:ext cx="288" cy="336"/>
            </a:xfrm>
            <a:prstGeom prst="flowChartAlternateProcess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2"/>
            <p:cNvSpPr/>
            <p:nvPr/>
          </p:nvSpPr>
          <p:spPr>
            <a:xfrm>
              <a:off x="5185" y="48"/>
              <a:ext cx="385" cy="336"/>
            </a:xfrm>
            <a:prstGeom prst="flowChartAlternateProcess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2"/>
            <p:cNvSpPr/>
            <p:nvPr/>
          </p:nvSpPr>
          <p:spPr>
            <a:xfrm>
              <a:off x="5232" y="192"/>
              <a:ext cx="384" cy="336"/>
            </a:xfrm>
            <a:prstGeom prst="flowChartAlternateProcess">
              <a:avLst/>
            </a:prstGeom>
            <a:noFill/>
            <a:ln cap="flat" cmpd="sng" w="381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2"/>
                </a:buClr>
                <a:buSzPts val="168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8" name="Google Shape;28;p22"/>
          <p:cNvCxnSpPr/>
          <p:nvPr/>
        </p:nvCxnSpPr>
        <p:spPr>
          <a:xfrm>
            <a:off x="0" y="64770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22"/>
          <p:cNvSpPr/>
          <p:nvPr/>
        </p:nvSpPr>
        <p:spPr>
          <a:xfrm>
            <a:off x="76200" y="6553200"/>
            <a:ext cx="228600" cy="228600"/>
          </a:xfrm>
          <a:prstGeom prst="star16">
            <a:avLst>
              <a:gd fmla="val 37500" name="adj"/>
            </a:avLst>
          </a:prstGeom>
          <a:gradFill>
            <a:gsLst>
              <a:gs pos="0">
                <a:srgbClr val="8F6BB3"/>
              </a:gs>
              <a:gs pos="50000">
                <a:srgbClr val="CC99FF"/>
              </a:gs>
              <a:gs pos="100000">
                <a:srgbClr val="8F6BB3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/>
          <p:nvPr>
            <p:ph type="ctrTitle"/>
          </p:nvPr>
        </p:nvSpPr>
        <p:spPr>
          <a:xfrm>
            <a:off x="304800" y="1828800"/>
            <a:ext cx="85344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Giới thiệu môn học</a:t>
            </a:r>
            <a:endParaRPr/>
          </a:p>
        </p:txBody>
      </p:sp>
      <p:sp>
        <p:nvSpPr>
          <p:cNvPr id="70" name="Google Shape;70;p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Chuẩn và quy ước lập trình.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Nạp chồng hàm.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Lập trình tổng quát.</a:t>
            </a:r>
            <a:endParaRPr/>
          </a:p>
        </p:txBody>
      </p:sp>
      <p:sp>
        <p:nvSpPr>
          <p:cNvPr id="79" name="Google Shape;79;p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Chuẩn và quy ước lập trình.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Nạp chồng hàm.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Lập trình tổng quát.</a:t>
            </a:r>
            <a:endParaRPr/>
          </a:p>
        </p:txBody>
      </p:sp>
      <p:sp>
        <p:nvSpPr>
          <p:cNvPr id="88" name="Google Shape;88;p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  <p:sp>
        <p:nvSpPr>
          <p:cNvPr id="97" name="Google Shape;97;p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Chuẩn và quy ước lập trình</a:t>
            </a:r>
            <a:endParaRPr/>
          </a:p>
        </p:txBody>
      </p:sp>
      <p:sp>
        <p:nvSpPr>
          <p:cNvPr id="98" name="Google Shape;98;p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Vì sao phải có chuẩn và quy ước?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Làm việc một mình: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Tự làm tự hiểu.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b="1" lang="en-US">
                <a:solidFill>
                  <a:schemeClr val="hlink"/>
                </a:solidFill>
              </a:rPr>
              <a:t>Mình luôn hiểu mình?</a:t>
            </a:r>
            <a:endParaRPr/>
          </a:p>
          <a:p>
            <a:pPr indent="-121919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Làm việc nhóm: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Mỗi người một việc.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Ráp nối công việc.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b="1" lang="en-US">
                <a:solidFill>
                  <a:schemeClr val="hlink"/>
                </a:solidFill>
              </a:rPr>
              <a:t>Mọi người luôn hiểu nhau?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04800" y="5095875"/>
            <a:ext cx="4953000" cy="923925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Để phối hợp công việc hiệu quả</a:t>
            </a:r>
            <a:endParaRPr b="1" i="0" sz="2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0" y="5105400"/>
            <a:ext cx="3352800" cy="9144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Phải áp đặt kỷ luật!!</a:t>
            </a:r>
            <a:endParaRPr/>
          </a:p>
          <a:p>
            <a:pPr indent="0" lvl="0" marL="0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Phải có chuẩn!!</a:t>
            </a:r>
            <a:endParaRPr b="1" i="0" sz="2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9800" y="3505200"/>
            <a:ext cx="1355725" cy="11922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0292020" id="102" name="Google Shape;1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19800" y="1828800"/>
            <a:ext cx="1219200" cy="115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  <p:sp>
        <p:nvSpPr>
          <p:cNvPr id="110" name="Google Shape;110;p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Chuẩn và quy ước lập trình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chemeClr val="hlink"/>
                </a:solidFill>
              </a:rPr>
              <a:t>Quy ước #0: Không có chuẩn chung!!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Tùy thuộc ngôn ngữ lập trình.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Tùy thuộc doanh nghiệp.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Tùy thuộc cộng đồng.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Một vài quy ước thông dụng: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Quy ước đặt tên (naming convention).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Quy ước viết câu lệnh (statement convention).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Quy ước viết chú thích (comment convention).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i="1" lang="en-US"/>
              <a:t>(Xem Coding Convention Guidelines)</a:t>
            </a:r>
            <a:endParaRPr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18" name="Google Shape;118;p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Chuẩn và quy ước lập trình.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Nạp chồng hàm.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Lập trình tổng quát.</a:t>
            </a:r>
            <a:endParaRPr/>
          </a:p>
        </p:txBody>
      </p:sp>
      <p:sp>
        <p:nvSpPr>
          <p:cNvPr id="119" name="Google Shape;119;p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  <p:sp>
        <p:nvSpPr>
          <p:cNvPr id="128" name="Google Shape;128;p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Nạp chồng hàm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Chữ ký hàm (Function Signature/Prototype):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Định danh một hàm.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Thành phần của chữ ký: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Tên hàm.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Danh sách tham số.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rPr b="1" lang="en-US" sz="2000"/>
              <a:t>			double</a:t>
            </a:r>
            <a:r>
              <a:rPr lang="en-US" sz="2000"/>
              <a:t> </a:t>
            </a:r>
            <a:r>
              <a:rPr b="1" lang="en-US" sz="2000">
                <a:solidFill>
                  <a:schemeClr val="hlink"/>
                </a:solidFill>
              </a:rPr>
              <a:t>sapXep</a:t>
            </a:r>
            <a:r>
              <a:rPr lang="en-US" sz="2000"/>
              <a:t>(</a:t>
            </a:r>
            <a:r>
              <a:rPr b="1" i="1" lang="en-US" sz="2000"/>
              <a:t>int danhSach[ ], int kichThuoc</a:t>
            </a:r>
            <a:r>
              <a:rPr lang="en-US" sz="2000"/>
              <a:t>);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lang="en-US" sz="2000"/>
              <a:t>			double</a:t>
            </a:r>
            <a:r>
              <a:rPr lang="en-US" sz="2000"/>
              <a:t> </a:t>
            </a:r>
            <a:r>
              <a:rPr b="1" lang="en-US" sz="2000">
                <a:solidFill>
                  <a:schemeClr val="hlink"/>
                </a:solidFill>
              </a:rPr>
              <a:t>sapXep</a:t>
            </a:r>
            <a:r>
              <a:rPr lang="en-US" sz="2000"/>
              <a:t>(</a:t>
            </a:r>
            <a:r>
              <a:rPr b="1" i="1" lang="en-US" sz="2000"/>
              <a:t>float danhSach[ ], int kichThuoc</a:t>
            </a:r>
            <a:r>
              <a:rPr lang="en-US" sz="2000"/>
              <a:t>);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b="1" lang="en-US">
                <a:solidFill>
                  <a:schemeClr val="hlink"/>
                </a:solidFill>
              </a:rPr>
              <a:t>Giá trị trả về không thuộc chữ ký hàm!!</a:t>
            </a:r>
            <a:endParaRPr sz="1200"/>
          </a:p>
        </p:txBody>
      </p:sp>
      <p:sp>
        <p:nvSpPr>
          <p:cNvPr id="130" name="Google Shape;130;p7"/>
          <p:cNvSpPr/>
          <p:nvPr/>
        </p:nvSpPr>
        <p:spPr>
          <a:xfrm>
            <a:off x="2362200" y="4648200"/>
            <a:ext cx="4343400" cy="1219200"/>
          </a:xfrm>
          <a:prstGeom prst="roundRect">
            <a:avLst>
              <a:gd fmla="val 7093" name="adj"/>
            </a:avLst>
          </a:prstGeom>
          <a:solidFill>
            <a:srgbClr val="F5E5FF"/>
          </a:solidFill>
          <a:ln cap="flat" cmpd="sng" w="952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ctr" dir="2700000" dist="35921">
              <a:schemeClr val="dk1"/>
            </a:outerShdw>
          </a:effectLst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Chương trình có thể có</a:t>
            </a:r>
            <a:endParaRPr b="1" i="0" sz="2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nhiều hàm cùng tên!!</a:t>
            </a:r>
            <a:endParaRPr b="0" i="0" sz="2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  <p:sp>
        <p:nvSpPr>
          <p:cNvPr id="138" name="Google Shape;138;p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Nạp chồng hàm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Những trường hợp nạp chồng hàm nào không hợp lệ?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SzPts val="1260"/>
              <a:buFont typeface="Noto Sans Symbols"/>
              <a:buNone/>
            </a:pPr>
            <a:r>
              <a:t/>
            </a:r>
            <a:endParaRPr sz="18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/>
              <a:t>1. int tinhToan(int a, int b);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/>
              <a:t>2. int tinhToan(int x, int y);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/>
              <a:t>3. int tinhToan(int a, float b);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/>
              <a:t>4. float tinhToan(int u, int v);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/>
              <a:t>5. int tinhToan(int a, long b);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Chuẩn và quy ước lập trình.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Nạp chồng hàm.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b="1" lang="en-US">
                <a:solidFill>
                  <a:srgbClr val="FFC000"/>
                </a:solidFill>
              </a:rPr>
              <a:t>Lập trình tổng quát.</a:t>
            </a:r>
            <a:endParaRPr/>
          </a:p>
        </p:txBody>
      </p:sp>
      <p:sp>
        <p:nvSpPr>
          <p:cNvPr id="147" name="Google Shape;147;p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Lập trình tổng quát</a:t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Mức độ tổng quát của chương trình: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Khả năng hoạt động trong nhiều ngữ cảnh.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Không cố định vào một trường hợp.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Write once, use everywhere.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Dùng phương pháp tham số hóa: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Tham số hóa dữ liệu (truyền tham số thông thường).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Tham số hóa kiểu (function template).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Tham số hóa xử lý (con trỏ hàm).</a:t>
            </a:r>
            <a:endParaRPr/>
          </a:p>
        </p:txBody>
      </p:sp>
      <p:sp>
        <p:nvSpPr>
          <p:cNvPr id="155" name="Google Shape;155;p1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Lập trình tổng quát</a:t>
            </a:r>
            <a:endParaRPr/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Tham số hóa dữ liệu: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Bài toán: tính tổng hai số nguyên 3 và 5.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Tổng quát 1: tính tổng hai số nguyên bất kỳ.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rgbClr val="FFCC00"/>
              </a:buClr>
              <a:buSzPts val="1400"/>
              <a:buNone/>
            </a:pPr>
            <a:r>
              <a:rPr lang="en-US" sz="2000">
                <a:solidFill>
                  <a:srgbClr val="FFFFFF"/>
                </a:solidFill>
              </a:rPr>
              <a:t>	</a:t>
            </a:r>
            <a:r>
              <a:rPr i="1" lang="en-US" sz="2000">
                <a:solidFill>
                  <a:srgbClr val="FFC000"/>
                </a:solidFill>
              </a:rPr>
              <a:t>// Giải pháp không tổng quát:</a:t>
            </a:r>
            <a:br>
              <a:rPr i="1" lang="en-US" sz="2000">
                <a:solidFill>
                  <a:srgbClr val="FFC000"/>
                </a:solidFill>
              </a:rPr>
            </a:br>
            <a:r>
              <a:rPr i="1" lang="en-US" sz="2000">
                <a:solidFill>
                  <a:srgbClr val="FFC000"/>
                </a:solidFill>
              </a:rPr>
              <a:t>// Không dùng tham số.</a:t>
            </a:r>
            <a:br>
              <a:rPr i="1" lang="en-US" sz="2000">
                <a:solidFill>
                  <a:srgbClr val="FFC000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int </a:t>
            </a:r>
            <a:r>
              <a:rPr b="1" lang="en-US" sz="2000">
                <a:solidFill>
                  <a:srgbClr val="FFC000"/>
                </a:solidFill>
              </a:rPr>
              <a:t>tinhToan</a:t>
            </a:r>
            <a:r>
              <a:rPr lang="en-US" sz="2000">
                <a:solidFill>
                  <a:srgbClr val="FFFFFF"/>
                </a:solidFill>
              </a:rPr>
              <a:t>( )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{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	return 3 + 5;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}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</p:txBody>
      </p:sp>
      <p:sp>
        <p:nvSpPr>
          <p:cNvPr id="163" name="Google Shape;163;p1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4648200" y="2590800"/>
            <a:ext cx="42672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1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	// Giải pháp tổng quát 1:</a:t>
            </a:r>
            <a:br>
              <a:rPr b="0" i="1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// Tham số hóa dữ liệu.</a:t>
            </a:r>
            <a:br>
              <a:rPr b="0" i="1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tinhToan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int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int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)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return x + y;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)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tinhToan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( 3, 5 );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tinhToan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( 4, 6 );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tinhToan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-2, 7 );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Lập trình tổng quát</a:t>
            </a:r>
            <a:endParaRPr/>
          </a:p>
        </p:txBody>
      </p:sp>
      <p:sp>
        <p:nvSpPr>
          <p:cNvPr id="171" name="Google Shape;171;p12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Tham số hóa kiểu: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Tổng quát 2: tính tổng hai số kiểu bất kỳ.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	🡺 Dùng Function Template.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>
                <a:solidFill>
                  <a:srgbClr val="FFC000"/>
                </a:solidFill>
              </a:rPr>
              <a:t>	// Giải pháp tổng quát 2:</a:t>
            </a:r>
            <a:br>
              <a:rPr i="1" lang="en-US" sz="2000">
                <a:solidFill>
                  <a:srgbClr val="FFC000"/>
                </a:solidFill>
              </a:rPr>
            </a:br>
            <a:r>
              <a:rPr i="1" lang="en-US" sz="2000">
                <a:solidFill>
                  <a:srgbClr val="FFC000"/>
                </a:solidFill>
              </a:rPr>
              <a:t>// Tham số hóa kiểu.</a:t>
            </a:r>
            <a:br>
              <a:rPr i="1" lang="en-US" sz="2000">
                <a:solidFill>
                  <a:srgbClr val="FFC000"/>
                </a:solidFill>
              </a:rPr>
            </a:br>
            <a:r>
              <a:rPr b="1" lang="en-US" sz="2000">
                <a:solidFill>
                  <a:srgbClr val="FFC000"/>
                </a:solidFill>
              </a:rPr>
              <a:t>template &lt;class T&gt;</a:t>
            </a:r>
            <a:br>
              <a:rPr i="1" lang="en-US" sz="2000">
                <a:solidFill>
                  <a:srgbClr val="FFC000"/>
                </a:solidFill>
              </a:rPr>
            </a:br>
            <a:r>
              <a:rPr b="1" lang="en-US" sz="2000">
                <a:solidFill>
                  <a:srgbClr val="FFC000"/>
                </a:solidFill>
              </a:rPr>
              <a:t>T</a:t>
            </a:r>
            <a:r>
              <a:rPr lang="en-US" sz="2000"/>
              <a:t>  </a:t>
            </a:r>
            <a:r>
              <a:rPr b="1" lang="en-US" sz="2000">
                <a:solidFill>
                  <a:srgbClr val="FFC000"/>
                </a:solidFill>
              </a:rPr>
              <a:t>tinhToan</a:t>
            </a:r>
            <a:r>
              <a:rPr lang="en-US" sz="2000"/>
              <a:t>( </a:t>
            </a:r>
            <a:r>
              <a:rPr b="1" lang="en-US" sz="2000">
                <a:solidFill>
                  <a:srgbClr val="FFC000"/>
                </a:solidFill>
              </a:rPr>
              <a:t>T</a:t>
            </a:r>
            <a:r>
              <a:rPr lang="en-US" sz="2000"/>
              <a:t>  x, </a:t>
            </a:r>
            <a:r>
              <a:rPr b="1" lang="en-US" sz="2000">
                <a:solidFill>
                  <a:srgbClr val="FFC000"/>
                </a:solidFill>
              </a:rPr>
              <a:t>T</a:t>
            </a:r>
            <a:r>
              <a:rPr lang="en-US" sz="2000"/>
              <a:t>  y )</a:t>
            </a:r>
            <a:br>
              <a:rPr lang="en-US" sz="2000"/>
            </a:br>
            <a:r>
              <a:rPr lang="en-US" sz="2000"/>
              <a:t>{</a:t>
            </a:r>
            <a:br>
              <a:rPr lang="en-US" sz="2000"/>
            </a:br>
            <a:r>
              <a:rPr lang="en-US" sz="2000"/>
              <a:t>	return x + y;</a:t>
            </a:r>
            <a:br>
              <a:rPr lang="en-US" sz="2000"/>
            </a:br>
            <a:r>
              <a:rPr lang="en-US" sz="2000"/>
              <a:t>}</a:t>
            </a:r>
            <a:endParaRPr/>
          </a:p>
        </p:txBody>
      </p:sp>
      <p:sp>
        <p:nvSpPr>
          <p:cNvPr id="172" name="Google Shape;172;p12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2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3886200" y="2590800"/>
            <a:ext cx="4876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)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x =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tinhToan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( 3, 5 );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double y =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tinhToan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( 4.2, 6.3 );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	  p1, p2;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PhanSo  p3 =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tinhToan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p1, p2 );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13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  <p:sp>
        <p:nvSpPr>
          <p:cNvPr id="182" name="Google Shape;182;p13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Lập trình tổng quát</a:t>
            </a:r>
            <a:endParaRPr/>
          </a:p>
        </p:txBody>
      </p:sp>
      <p:sp>
        <p:nvSpPr>
          <p:cNvPr id="183" name="Google Shape;183;p13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Đặc điểm của Function Template: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Tham số hóa kiểu dữ liệu.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“Khuôn hàm” tổng quát cho nhiều kiểu dữ liệu.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“Đúc” thành từng hàm với kiểu cụ thể khi gọi hàm.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Ghi chú: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Từ khóa </a:t>
            </a:r>
            <a:r>
              <a:rPr b="1" lang="en-US">
                <a:solidFill>
                  <a:schemeClr val="hlink"/>
                </a:solidFill>
              </a:rPr>
              <a:t>“class”</a:t>
            </a:r>
            <a:r>
              <a:rPr lang="en-US"/>
              <a:t> có thể thay bằng </a:t>
            </a:r>
            <a:r>
              <a:rPr b="1" lang="en-US">
                <a:solidFill>
                  <a:schemeClr val="hlink"/>
                </a:solidFill>
              </a:rPr>
              <a:t>“typename”</a:t>
            </a:r>
            <a:r>
              <a:rPr lang="en-US"/>
              <a:t>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Phần khai báo và cài đặt hàm đều phải có template.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Phần cài đặt hàm phải nằm cùng file: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Hoặc phần khai báo hàm.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Hoặc phần gọi sử dụng hàm.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Lập trình tổng quát</a:t>
            </a:r>
            <a:endParaRPr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Tham số hóa xử lý: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Tổng quát 3: tính toán bất kỳ giữa hai số nguyên.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lang="en-US"/>
              <a:t>	🡺 Dùng Con trỏ hàm.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>
                <a:solidFill>
                  <a:srgbClr val="FFC000"/>
                </a:solidFill>
              </a:rPr>
              <a:t>// Giải pháp tổng quát 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i="1" lang="en-US" sz="2000">
                <a:solidFill>
                  <a:srgbClr val="FFC000"/>
                </a:solidFill>
              </a:rPr>
              <a:t>// Tham số hóa xử lý.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1" lang="en-US" sz="2000">
                <a:solidFill>
                  <a:srgbClr val="FFC000"/>
                </a:solidFill>
              </a:rPr>
              <a:t>typedef int ( * PhepTinh )( int, int );</a:t>
            </a:r>
            <a:endParaRPr b="1" i="1" sz="2000">
              <a:solidFill>
                <a:srgbClr val="FFC000"/>
              </a:solidFill>
            </a:endParaRPr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int  </a:t>
            </a:r>
            <a:r>
              <a:rPr b="1" lang="en-US" sz="2000">
                <a:solidFill>
                  <a:srgbClr val="FFC000"/>
                </a:solidFill>
              </a:rPr>
              <a:t>tinhToan</a:t>
            </a:r>
            <a:r>
              <a:rPr lang="en-US" sz="2000"/>
              <a:t>( int  x, int  y, </a:t>
            </a:r>
            <a:r>
              <a:rPr b="1" lang="en-US" sz="2000">
                <a:solidFill>
                  <a:srgbClr val="FFC000"/>
                </a:solidFill>
              </a:rPr>
              <a:t>PhepTinh p</a:t>
            </a:r>
            <a:r>
              <a:rPr lang="en-US" sz="2000"/>
              <a:t> )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{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return </a:t>
            </a:r>
            <a:r>
              <a:rPr b="1" lang="en-US" sz="2000">
                <a:solidFill>
                  <a:srgbClr val="FFC000"/>
                </a:solidFill>
              </a:rPr>
              <a:t>p( x, y );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}</a:t>
            </a:r>
            <a:endParaRPr/>
          </a:p>
        </p:txBody>
      </p:sp>
      <p:sp>
        <p:nvSpPr>
          <p:cNvPr id="190" name="Google Shape;190;p14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1" name="Google Shape;191;p14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4648200" y="2590800"/>
            <a:ext cx="4495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cong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int x, int y ) {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return x + y;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nhan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int x, int y ) {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return x * y;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void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main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)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x =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tinhToan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( 3, 5,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cong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);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int x =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tinhToan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( 4, 6, </a:t>
            </a:r>
            <a:r>
              <a:rPr b="1" i="0" lang="en-US" sz="2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nhan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);</a:t>
            </a:r>
            <a:b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Lập trình tổng quát</a:t>
            </a:r>
            <a:endParaRPr/>
          </a:p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Cách sử dụng con trỏ hàm: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B1: tạo kiểu hàm, dùng </a:t>
            </a:r>
            <a:r>
              <a:rPr b="1" lang="en-US">
                <a:solidFill>
                  <a:srgbClr val="FFC000"/>
                </a:solidFill>
              </a:rPr>
              <a:t>typedef</a:t>
            </a:r>
            <a:r>
              <a:rPr lang="en-US"/>
              <a:t>.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1" lang="en-US" sz="1800">
                <a:solidFill>
                  <a:srgbClr val="FFC000"/>
                </a:solidFill>
              </a:rPr>
              <a:t>	typedef </a:t>
            </a:r>
            <a:r>
              <a:rPr lang="en-US" sz="1800"/>
              <a:t>int</a:t>
            </a:r>
            <a:r>
              <a:rPr b="1" lang="en-US" sz="1800">
                <a:solidFill>
                  <a:srgbClr val="FFC000"/>
                </a:solidFill>
              </a:rPr>
              <a:t> (* PhepTinh) ( </a:t>
            </a:r>
            <a:r>
              <a:rPr lang="en-US" sz="1800"/>
              <a:t>int, int</a:t>
            </a:r>
            <a:r>
              <a:rPr b="1" lang="en-US" sz="1800">
                <a:solidFill>
                  <a:srgbClr val="FFC000"/>
                </a:solidFill>
              </a:rPr>
              <a:t> );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B2: tạo hàm tổng quát có đối số là kiểu hàm đã tạo.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int tinh( int x, int y, </a:t>
            </a:r>
            <a:r>
              <a:rPr b="1" lang="en-US" sz="1800">
                <a:solidFill>
                  <a:srgbClr val="FFC000"/>
                </a:solidFill>
              </a:rPr>
              <a:t>PhepTinh p</a:t>
            </a:r>
            <a:r>
              <a:rPr lang="en-US" sz="1800"/>
              <a:t> ) {</a:t>
            </a:r>
            <a:endParaRPr/>
          </a:p>
          <a:p>
            <a:pPr indent="-228600" lvl="3" marL="16002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     return  </a:t>
            </a:r>
            <a:r>
              <a:rPr b="1" lang="en-US" sz="1800">
                <a:solidFill>
                  <a:srgbClr val="FFC000"/>
                </a:solidFill>
              </a:rPr>
              <a:t>p( x, y );</a:t>
            </a:r>
            <a:br>
              <a:rPr b="1" lang="en-US" sz="1800">
                <a:solidFill>
                  <a:srgbClr val="FFC000"/>
                </a:solidFill>
              </a:rPr>
            </a:br>
            <a:r>
              <a:rPr lang="en-US" sz="1800"/>
              <a:t>}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B3: tạo hàm xử lý cụ thể.</a:t>
            </a:r>
            <a:br>
              <a:rPr lang="en-US"/>
            </a:br>
            <a:r>
              <a:rPr lang="en-US"/>
              <a:t>      </a:t>
            </a: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 </a:t>
            </a:r>
            <a:r>
              <a:rPr b="1" lang="en-US" sz="180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cong</a:t>
            </a: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 int x, int y ) {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	 return x + y;</a:t>
            </a:r>
            <a:b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}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B4: gọi hàm tổng quát, truyền hàm xử lý cụ thể vào:</a:t>
            </a:r>
            <a:endParaRPr/>
          </a:p>
          <a:p>
            <a:pPr indent="-228600" lvl="2" marL="1143000" rtl="0" algn="l"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lang="en-US" sz="1800"/>
              <a:t>	        </a:t>
            </a:r>
            <a:r>
              <a:rPr b="1" lang="en-US" sz="1800">
                <a:solidFill>
                  <a:srgbClr val="FFC000"/>
                </a:solidFill>
              </a:rPr>
              <a:t>tinh</a:t>
            </a:r>
            <a:r>
              <a:rPr lang="en-US" sz="1800"/>
              <a:t>( 3, 5, </a:t>
            </a:r>
            <a:r>
              <a:rPr b="1" lang="en-US" sz="1800">
                <a:solidFill>
                  <a:srgbClr val="FFC000"/>
                </a:solidFill>
              </a:rPr>
              <a:t>cong</a:t>
            </a:r>
            <a:r>
              <a:rPr lang="en-US" sz="1800"/>
              <a:t> );</a:t>
            </a:r>
            <a:endParaRPr/>
          </a:p>
        </p:txBody>
      </p:sp>
      <p:sp>
        <p:nvSpPr>
          <p:cNvPr id="200" name="Google Shape;200;p15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1" name="Google Shape;201;p15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" name="Google Shape;208;p16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  <p:sp>
        <p:nvSpPr>
          <p:cNvPr id="209" name="Google Shape;209;p16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Lập trình tổng quát</a:t>
            </a:r>
            <a:endParaRPr/>
          </a:p>
        </p:txBody>
      </p:sp>
      <p:sp>
        <p:nvSpPr>
          <p:cNvPr id="210" name="Google Shape;210;p16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Đặc điểm của con trỏ hàm: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Tham số hóa xử lý.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Hàm làm đối số của hàm khác.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Hàm có xử lý tổng quát tùy xử lý truyền vào.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Xử lý cụ thể được quyết định khi gọi hàm.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Ghi chú: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Dùng con trỏ hàm trực tiếp, không dùng </a:t>
            </a:r>
            <a:r>
              <a:rPr b="1" lang="en-US">
                <a:solidFill>
                  <a:srgbClr val="FFC000"/>
                </a:solidFill>
              </a:rPr>
              <a:t>typedef</a:t>
            </a:r>
            <a:r>
              <a:rPr lang="en-US"/>
              <a:t>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	int  </a:t>
            </a:r>
            <a:r>
              <a:rPr b="1" lang="en-US" sz="2000">
                <a:solidFill>
                  <a:srgbClr val="FFC000"/>
                </a:solidFill>
              </a:rPr>
              <a:t>tinhToan</a:t>
            </a:r>
            <a:r>
              <a:rPr lang="en-US" sz="2000"/>
              <a:t>( int  x, int  y, </a:t>
            </a:r>
            <a:r>
              <a:rPr b="1" lang="en-US" sz="2000">
                <a:solidFill>
                  <a:srgbClr val="FFC000"/>
                </a:solidFill>
              </a:rPr>
              <a:t>int ( *p ) ( int, int )</a:t>
            </a:r>
            <a:r>
              <a:rPr lang="en-US" sz="2000"/>
              <a:t> );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Sử dụng Function Template phải dùng con trỏ hàm trực tiếp.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🡺 Tổng quát 4: tính toán bất kỳ giữa hai số kiểu bất kỳ.</a:t>
            </a:r>
            <a:br>
              <a:rPr lang="en-US" sz="2000"/>
            </a:b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</a:t>
            </a:r>
            <a:endParaRPr/>
          </a:p>
        </p:txBody>
      </p:sp>
      <p:sp>
        <p:nvSpPr>
          <p:cNvPr id="217" name="Google Shape;217;p17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Chuẩn và quy ước lập trình: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Áp đặt kỷ luật lên việc lập trình.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Tạo quy ước để phối hợp hiệu quả.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Quy ước đặt tên: có nghĩa, ngắn gọn.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Quy ước viết câu lệnh: rộng rãi, rõ ràng.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Quy ước viết chú thích: đầy đủ, dễ hiểu.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Nạp chồng hàm: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Nhiều hàm cùng tên, khác tham số.</a:t>
            </a:r>
            <a:endParaRPr/>
          </a:p>
        </p:txBody>
      </p:sp>
      <p:sp>
        <p:nvSpPr>
          <p:cNvPr id="218" name="Google Shape;218;p17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" name="Google Shape;219;p17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Tóm tắt</a:t>
            </a:r>
            <a:endParaRPr/>
          </a:p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Lập trình tổng quát: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Chương trình hoạt động trong nhiều ngữ cảnh.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Dùng phương pháp tham số hóa: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Tham số hóa dữ liệu (tham số thông thường).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Tham số hóa kiểu (function template).</a:t>
            </a:r>
            <a:endParaRPr/>
          </a:p>
          <a:p>
            <a:pPr indent="-228600" lvl="3" marL="1600200" rtl="0" algn="l">
              <a:spcBef>
                <a:spcPts val="400"/>
              </a:spcBef>
              <a:spcAft>
                <a:spcPts val="0"/>
              </a:spcAft>
              <a:buSzPts val="1400"/>
              <a:buChar char="⮚"/>
            </a:pPr>
            <a:r>
              <a:rPr lang="en-US"/>
              <a:t>Tham số hóa xử lý (con trỏ hàm).</a:t>
            </a:r>
            <a:endParaRPr/>
          </a:p>
        </p:txBody>
      </p:sp>
      <p:sp>
        <p:nvSpPr>
          <p:cNvPr id="227" name="Google Shape;227;p18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18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35" name="Google Shape;235;p19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1.1: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Viết chương trình cho phép thực hiện các thao tác trên kiểu </a:t>
            </a:r>
            <a:r>
              <a:rPr b="1" lang="en-US" sz="2000">
                <a:solidFill>
                  <a:schemeClr val="hlink"/>
                </a:solidFill>
              </a:rPr>
              <a:t>phân số</a:t>
            </a:r>
            <a:r>
              <a:rPr lang="en-US" sz="2000"/>
              <a:t>: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Nhập, xuất phân số.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Rút gọn, nghịch đảo phân số.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1400"/>
              <a:buChar char="■"/>
            </a:pPr>
            <a:r>
              <a:rPr lang="en-US" sz="2000"/>
              <a:t>Cộng, nhân, so sánh hai phân số.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t/>
            </a:r>
            <a:endParaRPr/>
          </a:p>
        </p:txBody>
      </p:sp>
      <p:sp>
        <p:nvSpPr>
          <p:cNvPr id="236" name="Google Shape;236;p19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19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44" name="Google Shape;244;p20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1.2: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Viết chương trình cho phép sắp xếp mảng </a:t>
            </a:r>
            <a:r>
              <a:rPr b="1" lang="en-US" sz="2000">
                <a:solidFill>
                  <a:srgbClr val="FFC000"/>
                </a:solidFill>
              </a:rPr>
              <a:t>phân số </a:t>
            </a:r>
            <a:r>
              <a:rPr lang="en-US" sz="2000"/>
              <a:t>theo thứ tự tăng/giảm/điều kiện bất kỳ.</a:t>
            </a:r>
            <a:endParaRPr sz="2000"/>
          </a:p>
        </p:txBody>
      </p:sp>
      <p:sp>
        <p:nvSpPr>
          <p:cNvPr id="245" name="Google Shape;245;p20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20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type="title"/>
          </p:nvPr>
        </p:nvSpPr>
        <p:spPr>
          <a:xfrm>
            <a:off x="304800" y="0"/>
            <a:ext cx="861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Bài tập</a:t>
            </a:r>
            <a:endParaRPr/>
          </a:p>
        </p:txBody>
      </p:sp>
      <p:sp>
        <p:nvSpPr>
          <p:cNvPr id="253" name="Google Shape;253;p21"/>
          <p:cNvSpPr txBox="1"/>
          <p:nvPr>
            <p:ph idx="1" type="body"/>
          </p:nvPr>
        </p:nvSpPr>
        <p:spPr>
          <a:xfrm>
            <a:off x="304800" y="11430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Bài tập 1.3: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lang="en-US" sz="2000"/>
              <a:t>	Mở rông bài 1.2, sắp xếp mảng </a:t>
            </a:r>
            <a:r>
              <a:rPr b="1" lang="en-US" sz="2000">
                <a:solidFill>
                  <a:srgbClr val="FFC000"/>
                </a:solidFill>
              </a:rPr>
              <a:t>phân số/số nguyên/kiểu bất kỳ.</a:t>
            </a:r>
            <a:endParaRPr sz="2000"/>
          </a:p>
        </p:txBody>
      </p:sp>
      <p:sp>
        <p:nvSpPr>
          <p:cNvPr id="254" name="Google Shape;254;p21"/>
          <p:cNvSpPr txBox="1"/>
          <p:nvPr>
            <p:ph idx="12" type="sldNum"/>
          </p:nvPr>
        </p:nvSpPr>
        <p:spPr>
          <a:xfrm>
            <a:off x="6781800" y="6477000"/>
            <a:ext cx="2133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21"/>
          <p:cNvSpPr txBox="1"/>
          <p:nvPr>
            <p:ph idx="11" type="ftr"/>
          </p:nvPr>
        </p:nvSpPr>
        <p:spPr>
          <a:xfrm>
            <a:off x="304800" y="6477000"/>
            <a:ext cx="6324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/>
              <a:t>Phương pháp lập trình hướng đối tượng – GV. Nguyễn Minh Huy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">
  <a:themeElements>
    <a:clrScheme name="Stream 1">
      <a:dk1>
        <a:srgbClr val="000514"/>
      </a:dk1>
      <a:lt1>
        <a:srgbClr val="FFFFFF"/>
      </a:lt1>
      <a:dk2>
        <a:srgbClr val="003399"/>
      </a:dk2>
      <a:lt2>
        <a:srgbClr val="E5E5FF"/>
      </a:lt2>
      <a:accent1>
        <a:srgbClr val="0099CC"/>
      </a:accent1>
      <a:accent2>
        <a:srgbClr val="A886E0"/>
      </a:accent2>
      <a:accent3>
        <a:srgbClr val="AAADCA"/>
      </a:accent3>
      <a:accent4>
        <a:srgbClr val="DADADA"/>
      </a:accent4>
      <a:accent5>
        <a:srgbClr val="AACAE2"/>
      </a:accent5>
      <a:accent6>
        <a:srgbClr val="9879CB"/>
      </a:accent6>
      <a:hlink>
        <a:srgbClr val="FFCC00"/>
      </a:hlink>
      <a:folHlink>
        <a:srgbClr val="FFFF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2005-11-21T10:16:26Z</dcterms:created>
  <dc:creator>Nguyen Minh Huy</dc:creator>
</cp:coreProperties>
</file>