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7302500" cy="9588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0">
          <p15:clr>
            <a:srgbClr val="000000"/>
          </p15:clr>
        </p15:guide>
        <p15:guide id="2" pos="2300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29" roundtripDataSignature="AMtx7mhz5wEbEpZudYM41AjnzJlS8HrP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16BB3D-EDAA-4D1B-A8E4-99FE45B39FBF}">
  <a:tblStyle styleId="{A416BB3D-EDAA-4D1B-A8E4-99FE45B39FB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6"/>
          </a:solidFill>
        </a:fill>
      </a:tcStyle>
    </a:wholeTbl>
    <a:band1H>
      <a:tcTxStyle/>
      <a:tcStyle>
        <a:fill>
          <a:solidFill>
            <a:srgbClr val="CADDEC"/>
          </a:solidFill>
        </a:fill>
      </a:tcStyle>
    </a:band1H>
    <a:band2H>
      <a:tcTxStyle/>
    </a:band2H>
    <a:band1V>
      <a:tcTxStyle/>
      <a:tcStyle>
        <a:fill>
          <a:solidFill>
            <a:srgbClr val="CADDE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066CC355-4A53-4B02-8B4D-09F0AD2FED5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0" orient="horz"/>
        <p:guide pos="230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36393" y="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4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" name="Google Shape;32;p24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3" name="Google Shape;33;p24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4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4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4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4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4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4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4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24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4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GV.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4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57" name="Google Shape;5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7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" name="Google Shape;11;p23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" name="Google Shape;12;p23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" name="Google Shape;13;p23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3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3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3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3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18;p23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3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23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3"/>
          <p:cNvGrpSpPr/>
          <p:nvPr/>
        </p:nvGrpSpPr>
        <p:grpSpPr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25" name="Google Shape;25;p23"/>
            <p:cNvSpPr/>
            <p:nvPr/>
          </p:nvSpPr>
          <p:spPr>
            <a:xfrm>
              <a:off x="5088" y="144"/>
              <a:ext cx="288" cy="336"/>
            </a:xfrm>
            <a:prstGeom prst="flowChartAlternateProcess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3"/>
            <p:cNvSpPr/>
            <p:nvPr/>
          </p:nvSpPr>
          <p:spPr>
            <a:xfrm>
              <a:off x="5185" y="48"/>
              <a:ext cx="385" cy="336"/>
            </a:xfrm>
            <a:prstGeom prst="flowChartAlternateProcess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3"/>
            <p:cNvSpPr/>
            <p:nvPr/>
          </p:nvSpPr>
          <p:spPr>
            <a:xfrm>
              <a:off x="5232" y="192"/>
              <a:ext cx="384" cy="336"/>
            </a:xfrm>
            <a:prstGeom prst="flowChartAlternateProcess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" name="Google Shape;28;p23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23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Tổng quan về lập trình hướng đối tượng</a:t>
            </a:r>
            <a:endParaRPr/>
          </a:p>
        </p:txBody>
      </p:sp>
      <p:sp>
        <p:nvSpPr>
          <p:cNvPr id="70" name="Google Shape;70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Đối tượng và lớp.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Sử dụng đối tượng trong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tập.</a:t>
            </a:r>
            <a:endParaRPr/>
          </a:p>
        </p:txBody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Đối tượng và lớp.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Sử dụng đối tượng trong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tập.</a:t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Đối tượng và lớp</a:t>
            </a:r>
            <a:endParaRPr/>
          </a:p>
        </p:txBody>
      </p:sp>
      <p:sp>
        <p:nvSpPr>
          <p:cNvPr id="95" name="Google Shape;95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Hướng thủ tục vs. Hướng đối tượng: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Bài toán: nấu món thịt kho trứng + rau muống xào.</a:t>
            </a:r>
            <a:endParaRPr/>
          </a:p>
        </p:txBody>
      </p:sp>
      <p:sp>
        <p:nvSpPr>
          <p:cNvPr id="96" name="Google Shape;96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graphicFrame>
        <p:nvGraphicFramePr>
          <p:cNvPr id="98" name="Google Shape;98;p4"/>
          <p:cNvGraphicFramePr/>
          <p:nvPr/>
        </p:nvGraphicFramePr>
        <p:xfrm>
          <a:off x="4572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{A416BB3D-EDAA-4D1B-A8E4-99FE45B39FBF}</a:tableStyleId>
              </a:tblPr>
              <a:tblGrid>
                <a:gridCol w="16002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Hành động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Lặt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Luộc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Ướp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Kho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Xào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Bóc</a:t>
                      </a:r>
                      <a:r>
                        <a:rPr lang="en-US" sz="1600"/>
                        <a:t> vỏ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9" name="Google Shape;99;p4"/>
          <p:cNvGraphicFramePr/>
          <p:nvPr/>
        </p:nvGraphicFramePr>
        <p:xfrm>
          <a:off x="4572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{A416BB3D-EDAA-4D1B-A8E4-99FE45B39FBF}</a:tableStyleId>
              </a:tblPr>
              <a:tblGrid>
                <a:gridCol w="16002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Nguyên</a:t>
                      </a:r>
                      <a:r>
                        <a:rPr lang="en-US" sz="1600"/>
                        <a:t> liệu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Thịt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Trứng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Rau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0" name="Google Shape;100;p4"/>
          <p:cNvGraphicFramePr/>
          <p:nvPr/>
        </p:nvGraphicFramePr>
        <p:xfrm>
          <a:off x="30480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{A416BB3D-EDAA-4D1B-A8E4-99FE45B39FBF}</a:tableStyleId>
              </a:tblPr>
              <a:tblGrid>
                <a:gridCol w="19050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Hướng</a:t>
                      </a:r>
                      <a:r>
                        <a:rPr lang="en-US" sz="1600"/>
                        <a:t> thủ tục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Ướp</a:t>
                      </a:r>
                      <a:r>
                        <a:rPr lang="en-US" sz="1600"/>
                        <a:t> ( Thịt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Luộc ( Trứng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Lặt</a:t>
                      </a:r>
                      <a:r>
                        <a:rPr lang="en-US" sz="1600"/>
                        <a:t> ( Rau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Bóc</a:t>
                      </a:r>
                      <a:r>
                        <a:rPr lang="en-US" sz="1600"/>
                        <a:t> vỏ</a:t>
                      </a:r>
                      <a:r>
                        <a:rPr lang="en-US" sz="1600"/>
                        <a:t> ( </a:t>
                      </a:r>
                      <a:r>
                        <a:rPr lang="en-US" sz="1600"/>
                        <a:t>Trứng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Kho ( Thịt, Trứng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Xào ( Rau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" name="Google Shape;101;p4"/>
          <p:cNvGraphicFramePr/>
          <p:nvPr/>
        </p:nvGraphicFramePr>
        <p:xfrm>
          <a:off x="62484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{A416BB3D-EDAA-4D1B-A8E4-99FE45B39FBF}</a:tableStyleId>
              </a:tblPr>
              <a:tblGrid>
                <a:gridCol w="19050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Hướng</a:t>
                      </a:r>
                      <a:r>
                        <a:rPr lang="en-US" sz="1600"/>
                        <a:t> đối tượng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Trứng.</a:t>
                      </a:r>
                      <a:r>
                        <a:rPr lang="en-US" sz="1600"/>
                        <a:t> Luộc(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Trứng. Bóc</a:t>
                      </a:r>
                      <a:r>
                        <a:rPr lang="en-US" sz="1600"/>
                        <a:t> vỏ(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Rau. Lặt(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Rau. Xào</a:t>
                      </a:r>
                      <a:r>
                        <a:rPr lang="en-US" sz="1600"/>
                        <a:t>(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Thịt. Ướp(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Thịt. Kho( Trứng</a:t>
                      </a:r>
                      <a:r>
                        <a:rPr lang="en-US" sz="1600"/>
                        <a:t> )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2" name="Google Shape;102;p4"/>
          <p:cNvSpPr/>
          <p:nvPr/>
        </p:nvSpPr>
        <p:spPr>
          <a:xfrm>
            <a:off x="2667000" y="4800600"/>
            <a:ext cx="2514600" cy="12954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Hướng thủ tục: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- Hành động làm gốc.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- Hàm  + Dữ liệu.</a:t>
            </a:r>
            <a:b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(Verb) + (Object)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562600" y="4800600"/>
            <a:ext cx="3124200" cy="1524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Hướng đối tượng: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- Dữ liệu làm gốc.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- Dữ liệu thực hiện hàm.</a:t>
            </a:r>
            <a:b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(Object)   does   (Verb)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🡪 Thay đổi tư duy lập trình</a:t>
            </a:r>
            <a:endParaRPr b="0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Đối tượng và lớp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Đối tượng là gì?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Chương trình là “cỗ máy” phức tạp.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Cấu thành từ các “chi tiết”.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Chi tiết cơ bản: hàm, biến dữ liệu.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Tổ chức hướng thủ tục: hàm + biến dữ liệu.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hlink"/>
                </a:solidFill>
              </a:rPr>
              <a:t>	🡺 Chưa đủ tạo chương trình tổng quát!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Tổ chức hướng đối tượng: biến dữ liệu “thực hiện” hàm.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rgbClr val="FFC000"/>
                </a:solidFill>
              </a:rPr>
              <a:t>	🡺 Cần có “chi tiết” mới.</a:t>
            </a:r>
            <a:endParaRPr b="1">
              <a:solidFill>
                <a:srgbClr val="FFC000"/>
              </a:solidFill>
            </a:endParaRPr>
          </a:p>
          <a:p>
            <a:pPr indent="-1397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397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chemeClr val="hlink"/>
              </a:solidFill>
            </a:endParaRPr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1855788"/>
            <a:ext cx="1600200" cy="1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2133600" y="4648200"/>
            <a:ext cx="5181600" cy="990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“Chi tiết” mới: Đối tượng!!</a:t>
            </a:r>
            <a:endParaRPr b="0" i="0" sz="2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Đối tượng và lớp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chất của đối tượng: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Cấu trúc dữ liệu mới.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Bao gồm cả dữ liệu và xử lý.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Thuộc tính (attribute): dữ liệu của đối tượng.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thức (method): xử lý của đối tượng.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pic>
        <p:nvPicPr>
          <p:cNvPr descr="http://sr.photos2.fotosearch.com/bthumb/CSP/CSP357/k3578058.jp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962400"/>
            <a:ext cx="1619250" cy="161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clker.com/cliparts/f/1/3/3/11949853451023690885box_juliane_krug_r.svg.med.png"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5471" y="3962400"/>
            <a:ext cx="1541329" cy="1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pSp>
        <p:nvGrpSpPr>
          <p:cNvPr id="126" name="Google Shape;126;p6"/>
          <p:cNvGrpSpPr/>
          <p:nvPr/>
        </p:nvGrpSpPr>
        <p:grpSpPr>
          <a:xfrm>
            <a:off x="5715000" y="3962400"/>
            <a:ext cx="2590800" cy="1676400"/>
            <a:chOff x="7010400" y="4038600"/>
            <a:chExt cx="2438400" cy="1524000"/>
          </a:xfrm>
        </p:grpSpPr>
        <p:sp>
          <p:nvSpPr>
            <p:cNvPr id="127" name="Google Shape;127;p6"/>
            <p:cNvSpPr/>
            <p:nvPr/>
          </p:nvSpPr>
          <p:spPr>
            <a:xfrm>
              <a:off x="7010400" y="4038600"/>
              <a:ext cx="2438400" cy="152400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182875" lIns="182875" spcFirstLastPara="1" rIns="182875" wrap="square" tIns="182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6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http://sr.photos2.fotosearch.com/bthumb/CSP/CSP357/k3578058.jpg" id="128" name="Google Shape;12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229600" y="4267200"/>
              <a:ext cx="1085850" cy="1085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://www.clker.com/cliparts/f/1/3/3/11949853451023690885box_juliane_krug_r.svg.med.png" id="129" name="Google Shape;12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62800" y="4267201"/>
              <a:ext cx="1103753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130" name="Google Shape;130;p6"/>
          <p:cNvSpPr/>
          <p:nvPr/>
        </p:nvSpPr>
        <p:spPr>
          <a:xfrm>
            <a:off x="914400" y="35814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352800" y="35814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Struct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324600" y="35814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Đối tượng và lớp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lớp: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Biến ~ kiểu.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Biến cấu trúc ~ kiểu cấu trúc.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Đối tượng ~ lớp: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Kiểu của đối tượng.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Bản mô tả đối tượng:</a:t>
            </a:r>
            <a:endParaRPr/>
          </a:p>
          <a:p>
            <a:pPr indent="-228600" lvl="4" marL="2057400" rtl="0" algn="l">
              <a:spcBef>
                <a:spcPts val="320"/>
              </a:spcBef>
              <a:spcAft>
                <a:spcPts val="0"/>
              </a:spcAft>
              <a:buSzPts val="1120"/>
              <a:buChar char="⮚"/>
            </a:pPr>
            <a:r>
              <a:rPr lang="en-US"/>
              <a:t>Thuộc tính (dữ liệu).</a:t>
            </a:r>
            <a:endParaRPr/>
          </a:p>
          <a:p>
            <a:pPr indent="-228600" lvl="4" marL="2057400" rtl="0" algn="l">
              <a:spcBef>
                <a:spcPts val="320"/>
              </a:spcBef>
              <a:spcAft>
                <a:spcPts val="0"/>
              </a:spcAft>
              <a:buSzPts val="1120"/>
              <a:buChar char="⮚"/>
            </a:pPr>
            <a:r>
              <a:rPr lang="en-US"/>
              <a:t>Phương thức (hàm xử lý).</a:t>
            </a:r>
            <a:endParaRPr/>
          </a:p>
        </p:txBody>
      </p:sp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2895600" y="4495800"/>
            <a:ext cx="3084078" cy="1828800"/>
            <a:chOff x="-188478" y="1905000"/>
            <a:chExt cx="3084078" cy="1828800"/>
          </a:xfrm>
        </p:grpSpPr>
        <p:pic>
          <p:nvPicPr>
            <p:cNvPr id="143" name="Google Shape;14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88478" y="2317089"/>
              <a:ext cx="874278" cy="1230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7"/>
            <p:cNvSpPr/>
            <p:nvPr/>
          </p:nvSpPr>
          <p:spPr>
            <a:xfrm>
              <a:off x="304800" y="1905000"/>
              <a:ext cx="2590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Person1: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Name: Peter.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Age: 25.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Hair Color: Brown.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Eat().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Work().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7"/>
          <p:cNvGrpSpPr/>
          <p:nvPr/>
        </p:nvGrpSpPr>
        <p:grpSpPr>
          <a:xfrm>
            <a:off x="6019800" y="4495800"/>
            <a:ext cx="3124200" cy="1828800"/>
            <a:chOff x="-228600" y="3962400"/>
            <a:chExt cx="3124200" cy="1828800"/>
          </a:xfrm>
        </p:grpSpPr>
        <p:pic>
          <p:nvPicPr>
            <p:cNvPr descr="j0301252" id="146" name="Google Shape;146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28600" y="4495800"/>
              <a:ext cx="1049430" cy="912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7"/>
            <p:cNvSpPr/>
            <p:nvPr/>
          </p:nvSpPr>
          <p:spPr>
            <a:xfrm>
              <a:off x="304800" y="3962400"/>
              <a:ext cx="2590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112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Person2: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Name: Thomas.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Age: 50.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Hair Color: White.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Eat( ).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Work( ).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7"/>
          <p:cNvGrpSpPr/>
          <p:nvPr/>
        </p:nvGrpSpPr>
        <p:grpSpPr>
          <a:xfrm>
            <a:off x="6096000" y="1828800"/>
            <a:ext cx="2537330" cy="1905000"/>
            <a:chOff x="6378070" y="2895600"/>
            <a:chExt cx="2537330" cy="1905000"/>
          </a:xfrm>
        </p:grpSpPr>
        <p:pic>
          <p:nvPicPr>
            <p:cNvPr id="149" name="Google Shape;149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8070" y="3200400"/>
              <a:ext cx="977527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7"/>
            <p:cNvSpPr/>
            <p:nvPr/>
          </p:nvSpPr>
          <p:spPr>
            <a:xfrm>
              <a:off x="6934200" y="2895600"/>
              <a:ext cx="1981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126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Person:</a:t>
              </a:r>
              <a:endParaRPr b="1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Name.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Age.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Hair Color.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Eat( ).</a:t>
              </a:r>
              <a:endParaRPr/>
            </a:p>
            <a:p>
              <a:pPr indent="-285750" lvl="1" marL="742950" marR="0" rtl="0" algn="l">
                <a:spcBef>
                  <a:spcPts val="320"/>
                </a:spcBef>
                <a:spcAft>
                  <a:spcPts val="0"/>
                </a:spcAft>
                <a:buClr>
                  <a:schemeClr val="accent2"/>
                </a:buClr>
                <a:buSzPts val="1120"/>
                <a:buFont typeface="Noto Sans Symbols"/>
                <a:buChar char="■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Work( ).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1" name="Google Shape;151;p7"/>
          <p:cNvCxnSpPr/>
          <p:nvPr/>
        </p:nvCxnSpPr>
        <p:spPr>
          <a:xfrm flipH="1">
            <a:off x="5334000" y="3810000"/>
            <a:ext cx="1143000" cy="685800"/>
          </a:xfrm>
          <a:prstGeom prst="straightConnector1">
            <a:avLst/>
          </a:prstGeom>
          <a:noFill/>
          <a:ln cap="flat" cmpd="sng" w="50800">
            <a:solidFill>
              <a:srgbClr val="00FF00"/>
            </a:solidFill>
            <a:prstDash val="dot"/>
            <a:round/>
            <a:headEnd len="med" w="med" type="none"/>
            <a:tailEnd len="lg" w="lg" type="stealth"/>
          </a:ln>
        </p:spPr>
      </p:cxnSp>
      <p:cxnSp>
        <p:nvCxnSpPr>
          <p:cNvPr id="152" name="Google Shape;152;p7"/>
          <p:cNvCxnSpPr/>
          <p:nvPr/>
        </p:nvCxnSpPr>
        <p:spPr>
          <a:xfrm>
            <a:off x="7010400" y="3733800"/>
            <a:ext cx="76200" cy="685800"/>
          </a:xfrm>
          <a:prstGeom prst="straightConnector1">
            <a:avLst/>
          </a:prstGeom>
          <a:noFill/>
          <a:ln cap="flat" cmpd="sng" w="50800">
            <a:solidFill>
              <a:srgbClr val="00FF00"/>
            </a:solidFill>
            <a:prstDash val="dot"/>
            <a:round/>
            <a:headEnd len="med" w="med" type="none"/>
            <a:tailEnd len="lg" w="lg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59" name="Google Shape;159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Đối tượng và lớp.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Sử dụng đối tượng trong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tập.</a:t>
            </a:r>
            <a:endParaRPr/>
          </a:p>
        </p:txBody>
      </p:sp>
      <p:sp>
        <p:nvSpPr>
          <p:cNvPr id="160" name="Google Shape;160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Sử dụng đối tượng trong C++</a:t>
            </a:r>
            <a:endParaRPr/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Cách sử dụng đối tượng: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Tương tự sử dụng biến cấu trúc.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bước sử dụng: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Khai báo lớp (file .h): tạo kiểu cho đối tượng.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</a:t>
            </a:r>
            <a:r>
              <a:rPr b="1" lang="en-US" sz="1800">
                <a:solidFill>
                  <a:srgbClr val="FFC000"/>
                </a:solidFill>
              </a:rPr>
              <a:t>class</a:t>
            </a:r>
            <a:r>
              <a:rPr lang="en-US" sz="1800"/>
              <a:t> &lt;Tên lớp&gt;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{</a:t>
            </a:r>
            <a:br>
              <a:rPr lang="en-US" sz="1800"/>
            </a:br>
            <a:r>
              <a:rPr i="1" lang="en-US" sz="1800"/>
              <a:t>		&lt;Khai báo thuộc tính&gt;;</a:t>
            </a:r>
            <a:br>
              <a:rPr i="1" lang="en-US" sz="1800"/>
            </a:br>
            <a:r>
              <a:rPr i="1" lang="en-US" sz="1800"/>
              <a:t>		</a:t>
            </a:r>
            <a:r>
              <a:rPr i="1" lang="en-US" sz="1800">
                <a:solidFill>
                  <a:srgbClr val="FFC000"/>
                </a:solidFill>
              </a:rPr>
              <a:t>&lt;Khai báo phương thức&gt;;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};</a:t>
            </a:r>
            <a:endParaRPr b="1">
              <a:solidFill>
                <a:srgbClr val="FFC000"/>
              </a:solidFill>
            </a:endParaRPr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Cài đặt lớp (file .cpp): cài đặt phương thức cho đối tượng.</a:t>
            </a:r>
            <a:endParaRPr/>
          </a:p>
          <a:p>
            <a:pPr indent="-228600" lvl="4" marL="2057400" rtl="0" algn="l">
              <a:spcBef>
                <a:spcPts val="320"/>
              </a:spcBef>
              <a:spcAft>
                <a:spcPts val="0"/>
              </a:spcAft>
              <a:buSzPts val="1120"/>
              <a:buChar char="⮚"/>
            </a:pPr>
            <a:r>
              <a:rPr lang="en-US"/>
              <a:t>Tương tự cài đặt hàm, kèm tên lớp và toán tử ::.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Sử dụng đối tượng từ lớp:</a:t>
            </a:r>
            <a:endParaRPr/>
          </a:p>
          <a:p>
            <a:pPr indent="-228600" lvl="4" marL="2057400" rtl="0" algn="l">
              <a:spcBef>
                <a:spcPts val="320"/>
              </a:spcBef>
              <a:spcAft>
                <a:spcPts val="0"/>
              </a:spcAft>
              <a:buSzPts val="1120"/>
              <a:buChar char="⮚"/>
            </a:pPr>
            <a:r>
              <a:rPr lang="en-US"/>
              <a:t>Khai báo biến có kiểu là lớp.</a:t>
            </a:r>
            <a:endParaRPr/>
          </a:p>
          <a:p>
            <a:pPr indent="-228600" lvl="4" marL="2057400" rtl="0" algn="l">
              <a:spcBef>
                <a:spcPts val="320"/>
              </a:spcBef>
              <a:spcAft>
                <a:spcPts val="0"/>
              </a:spcAft>
              <a:buSzPts val="1120"/>
              <a:buChar char="⮚"/>
            </a:pPr>
            <a:r>
              <a:rPr lang="en-US"/>
              <a:t>Truy xuất thành phần đối tượng: dùng dấu “.” hoặc “-&gt;” (con trỏ).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Sử dụng đối tượng trong C++</a:t>
            </a:r>
            <a:endParaRPr/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240"/>
              <a:buChar char="■"/>
            </a:pPr>
            <a:r>
              <a:rPr lang="en-US">
                <a:solidFill>
                  <a:srgbClr val="FFFFFF"/>
                </a:solidFill>
              </a:rPr>
              <a:t>Ví dụ: so sánh đối tượng và biến cấu trúc.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i="1" lang="en-US" sz="1800">
                <a:solidFill>
                  <a:srgbClr val="FFCC00"/>
                </a:solidFill>
              </a:rPr>
              <a:t>	//  Khai báo lớp, file PhanSo.h</a:t>
            </a:r>
            <a:endParaRPr i="1" sz="1800">
              <a:solidFill>
                <a:srgbClr val="FFCC00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class PhanSo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private: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int   m_tuSo;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int   m_mauSo;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public: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PhanSo cong(PhanSo p);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i="1" lang="en-US" sz="1800">
                <a:solidFill>
                  <a:srgbClr val="FFFFFF"/>
                </a:solidFill>
              </a:rPr>
              <a:t>	</a:t>
            </a:r>
            <a:r>
              <a:rPr i="1" lang="en-US" sz="1800">
                <a:solidFill>
                  <a:srgbClr val="FFCC00"/>
                </a:solidFill>
              </a:rPr>
              <a:t>//  Cài đặt lớp, file PhanSo.cpp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i="1" lang="en-US" sz="1800">
                <a:solidFill>
                  <a:srgbClr val="FFCC00"/>
                </a:solidFill>
              </a:rPr>
              <a:t>	</a:t>
            </a:r>
            <a:r>
              <a:rPr lang="en-US" sz="1800">
                <a:solidFill>
                  <a:srgbClr val="FFFFFF"/>
                </a:solidFill>
              </a:rPr>
              <a:t>PhanSo PhanSo::cong(PhanSo p)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// Cài đặt cộng phân số…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419600" y="1676400"/>
            <a:ext cx="4648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1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//  Khai báo kiểu cấu trúc, file PhanSo.h</a:t>
            </a:r>
            <a:endParaRPr b="0" i="1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1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PhanSo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int   m_tuSo;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int   m_mauSo;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PhanSo cong(PhanSo p1, PhanSo p2);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1" lang="en-US" sz="18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//  Cài đặt hàm cộng, file PhanSo.cpp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1" lang="en-US" sz="1800" u="none" cap="none" strike="noStrik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PhanSo cong(PhanSo p1, PhanSo p2)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// Cài đặt cộng phân số…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Sử dụng đối tượng trong C++</a:t>
            </a:r>
            <a:endParaRPr/>
          </a:p>
        </p:txBody>
      </p:sp>
      <p:sp>
        <p:nvSpPr>
          <p:cNvPr id="187" name="Google Shape;187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>
                <a:solidFill>
                  <a:srgbClr val="FFFFFF"/>
                </a:solidFill>
              </a:rPr>
              <a:t>Ví dụ: so sánh đối tượng và cấu trúc.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i="1" lang="en-US" sz="1800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rPr>
              <a:t>	//  Sử dụng đối tượng, file main.cpp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PhanSo   p1;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PhanSo   p2;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p1.cong( p2 );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4648200" y="1676400"/>
            <a:ext cx="4495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1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//  Sử dụng cấu trúc, file main.cpp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p1;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p2;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cong( p1, p2 );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97" name="Google Shape;197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Đối tượng và lớp.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Sử dụng đối tượng trong C++.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Tầm vực.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tập.</a:t>
            </a:r>
            <a:endParaRPr/>
          </a:p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Tầm vực</a:t>
            </a:r>
            <a:endParaRPr/>
          </a:p>
        </p:txBody>
      </p:sp>
      <p:sp>
        <p:nvSpPr>
          <p:cNvPr id="206" name="Google Shape;206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tầm vực: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Tầm ảnh hưởng, phạm vi hoạt động: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Biến.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Hàm.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Thành phần của cấu trúc.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Thành phần của đối tượng.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Tầm ảnh hưởng càng hẹp, truy xuất càng hạn chế.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Bảng phân loại tầm vực đối tượng: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graphicFrame>
        <p:nvGraphicFramePr>
          <p:cNvPr id="209" name="Google Shape;209;p13"/>
          <p:cNvGraphicFramePr/>
          <p:nvPr/>
        </p:nvGraphicFramePr>
        <p:xfrm>
          <a:off x="838200" y="472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{066CC355-4A53-4B02-8B4D-09F0AD2FED58}</a:tableStyleId>
              </a:tblPr>
              <a:tblGrid>
                <a:gridCol w="1524000"/>
                <a:gridCol w="2362200"/>
                <a:gridCol w="3657600"/>
              </a:tblGrid>
              <a:tr h="40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Tầm vực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Tầm ảnh hưởng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Phạm vi hoạt động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</a:tr>
              <a:tr h="39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Hẹp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Bên trong lớp.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Rộng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Bên trong lẫn bên ngoài lớp.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Vừa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Bên trong lớp và lớp kế thừa.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3"/>
          <p:cNvSpPr/>
          <p:nvPr/>
        </p:nvSpPr>
        <p:spPr>
          <a:xfrm>
            <a:off x="2819400" y="2133600"/>
            <a:ext cx="2286000" cy="304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Block khai báo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2819400" y="2514600"/>
            <a:ext cx="2286000" cy="304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Toàn chương trình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5105400" y="2895600"/>
            <a:ext cx="3276600" cy="304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Block khai báo biến cấu trúc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5105400" y="3276600"/>
            <a:ext cx="3276600" cy="304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Có thể điều chỉnh!!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Tầm vực</a:t>
            </a:r>
            <a:endParaRPr/>
          </a:p>
        </p:txBody>
      </p:sp>
      <p:sp>
        <p:nvSpPr>
          <p:cNvPr id="219" name="Google Shape;219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 hoạt động của các loại tầm vực.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A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lang="en-US" sz="1800"/>
              <a:t>{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private: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lang="en-US" sz="1800"/>
              <a:t>	int   x;	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public: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lang="en-US" sz="1800"/>
              <a:t>	int   y;</a:t>
            </a:r>
            <a:br>
              <a:rPr lang="en-US" sz="1800"/>
            </a:b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public:</a:t>
            </a:r>
            <a:br>
              <a:rPr lang="en-US" sz="1800"/>
            </a:br>
            <a:r>
              <a:rPr lang="en-US" sz="1800"/>
              <a:t>	int getX(  );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private:</a:t>
            </a:r>
            <a:br>
              <a:rPr lang="en-US" sz="1800"/>
            </a:br>
            <a:r>
              <a:rPr lang="en-US" sz="1800"/>
              <a:t>	void calculate( );</a:t>
            </a:r>
            <a:br>
              <a:rPr lang="en-US" sz="1800"/>
            </a:br>
            <a:r>
              <a:rPr lang="en-US" sz="1800"/>
              <a:t>};</a:t>
            </a:r>
            <a:endParaRPr sz="1800"/>
          </a:p>
        </p:txBody>
      </p:sp>
      <p:sp>
        <p:nvSpPr>
          <p:cNvPr id="220" name="Google Shape;220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4419600" y="1676400"/>
            <a:ext cx="4495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obj;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  x =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obj.x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	// Sai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obj.x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= 1;	// Sai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  y =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obj.y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	// Đúng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obj.y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= 2;	// Đúng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  t =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obj.getX( )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 // Đúng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obj.calculate( )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	  // Sai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Tầm vực</a:t>
            </a:r>
            <a:endParaRPr/>
          </a:p>
        </p:txBody>
      </p:sp>
      <p:sp>
        <p:nvSpPr>
          <p:cNvPr id="229" name="Google Shape;229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Dr. Guru khuyên: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tắc hộp đen: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Thuộc tính có tầm vực </a:t>
            </a:r>
            <a:r>
              <a:rPr b="1" lang="en-US">
                <a:solidFill>
                  <a:srgbClr val="FFC000"/>
                </a:solidFill>
              </a:rPr>
              <a:t>private</a:t>
            </a:r>
            <a:r>
              <a:rPr lang="en-US"/>
              <a:t> để hạn chế truy xuất.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thức có tầm vực </a:t>
            </a:r>
            <a:r>
              <a:rPr b="1" lang="en-US">
                <a:solidFill>
                  <a:srgbClr val="FFC000"/>
                </a:solidFill>
              </a:rPr>
              <a:t>public</a:t>
            </a:r>
            <a:r>
              <a:rPr lang="en-US"/>
              <a:t> để cung cấp tính năng.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class PhanSo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int   m_tu;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int   m_mau;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PhanSo cong( PhanSo p 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PhanSo rutGon( 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pic>
        <p:nvPicPr>
          <p:cNvPr id="232" name="Google Shape;2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0"/>
            <a:ext cx="2514600" cy="24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5"/>
          <p:cNvSpPr/>
          <p:nvPr/>
        </p:nvSpPr>
        <p:spPr>
          <a:xfrm>
            <a:off x="4191000" y="4038600"/>
            <a:ext cx="1371600" cy="990600"/>
          </a:xfrm>
          <a:prstGeom prst="ellipse">
            <a:avLst/>
          </a:prstGeom>
          <a:gradFill>
            <a:gsLst>
              <a:gs pos="0">
                <a:srgbClr val="B34700"/>
              </a:gs>
              <a:gs pos="50000">
                <a:srgbClr val="FF6600"/>
              </a:gs>
              <a:gs pos="100000">
                <a:srgbClr val="B347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3505200" y="3505200"/>
            <a:ext cx="2743200" cy="20574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4854" y="10800"/>
                </a:moveTo>
                <a:cubicBezTo>
                  <a:pt x="4854" y="14084"/>
                  <a:pt x="7516" y="16746"/>
                  <a:pt x="10800" y="16746"/>
                </a:cubicBezTo>
                <a:cubicBezTo>
                  <a:pt x="14084" y="16746"/>
                  <a:pt x="16746" y="14084"/>
                  <a:pt x="16746" y="10800"/>
                </a:cubicBezTo>
                <a:cubicBezTo>
                  <a:pt x="16746" y="7516"/>
                  <a:pt x="14084" y="4854"/>
                  <a:pt x="10800" y="4854"/>
                </a:cubicBezTo>
                <a:cubicBezTo>
                  <a:pt x="7516" y="4854"/>
                  <a:pt x="4854" y="7516"/>
                  <a:pt x="4854" y="10800"/>
                </a:cubicBezTo>
                <a:close/>
              </a:path>
            </a:pathLst>
          </a:custGeom>
          <a:gradFill>
            <a:gsLst>
              <a:gs pos="0">
                <a:srgbClr val="00B300"/>
              </a:gs>
              <a:gs pos="50000">
                <a:srgbClr val="00FF00"/>
              </a:gs>
              <a:gs pos="100000">
                <a:srgbClr val="00B3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4191000" y="4191000"/>
            <a:ext cx="14285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(Thuộc tính)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4038600" y="5029200"/>
            <a:ext cx="17075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Tính năng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(Phương thức)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Tầm vực</a:t>
            </a:r>
            <a:endParaRPr/>
          </a:p>
        </p:txBody>
      </p:sp>
      <p:sp>
        <p:nvSpPr>
          <p:cNvPr id="243" name="Google Shape;243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Toán tử :: (bốn chấm):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5A và 5B đều có học sinh tên Lê Phương.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Làm sao để phân biệt?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Trường hợp 1: đứng trong lớp.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Trường hợp 2: đứng ngoài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Toán tử ::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Dùng gọi tên thành phần của lớp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hlink"/>
                </a:solidFill>
              </a:rPr>
              <a:t>	từ bên ngoài.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&lt;Tên lớp&gt;</a:t>
            </a:r>
            <a:r>
              <a:rPr b="1" lang="en-US">
                <a:solidFill>
                  <a:srgbClr val="FFC000"/>
                </a:solidFill>
              </a:rPr>
              <a:t>::</a:t>
            </a:r>
            <a:r>
              <a:rPr lang="en-US"/>
              <a:t>&lt;Tên thành phần&gt;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6324600" y="4419600"/>
            <a:ext cx="2667000" cy="1828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Lớp 5B</a:t>
            </a:r>
            <a:endParaRPr/>
          </a:p>
        </p:txBody>
      </p:sp>
      <p:pic>
        <p:nvPicPr>
          <p:cNvPr id="247" name="Google Shape;2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0388" y="4724400"/>
            <a:ext cx="7239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/>
          <p:nvPr/>
        </p:nvSpPr>
        <p:spPr>
          <a:xfrm>
            <a:off x="6324600" y="2362200"/>
            <a:ext cx="2667000" cy="1828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Lớp 5A</a:t>
            </a:r>
            <a:endParaRPr/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2743200"/>
            <a:ext cx="892175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743200"/>
            <a:ext cx="1447800" cy="136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4803775"/>
            <a:ext cx="1447800" cy="13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Tầm vực</a:t>
            </a:r>
            <a:endParaRPr/>
          </a:p>
        </p:txBody>
      </p:sp>
      <p:sp>
        <p:nvSpPr>
          <p:cNvPr id="258" name="Google Shape;258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240"/>
              <a:buChar char="■"/>
            </a:pPr>
            <a:r>
              <a:rPr lang="en-US">
                <a:solidFill>
                  <a:srgbClr val="FFFFFF"/>
                </a:solidFill>
              </a:rPr>
              <a:t>Ví dụ: cài đặt phương thức trong/ngoài lớp.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class </a:t>
            </a:r>
            <a:r>
              <a:rPr b="1" lang="en-US" sz="1800">
                <a:solidFill>
                  <a:srgbClr val="FFC000"/>
                </a:solidFill>
              </a:rPr>
              <a:t>PhanSo</a:t>
            </a:r>
            <a:endParaRPr b="1" sz="1800">
              <a:solidFill>
                <a:srgbClr val="FFC000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	int   m_tu;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	int   m_mau;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	PhanSo </a:t>
            </a:r>
            <a:r>
              <a:rPr b="1" i="1" lang="en-US" sz="1800">
                <a:solidFill>
                  <a:srgbClr val="FFCC00"/>
                </a:solidFill>
              </a:rPr>
              <a:t>cong</a:t>
            </a:r>
            <a:r>
              <a:rPr lang="en-US" sz="1800">
                <a:solidFill>
                  <a:srgbClr val="FFFFFF"/>
                </a:solidFill>
              </a:rPr>
              <a:t>(PhanSo p)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	     // Cài đặt bên trong lớp.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	}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};</a:t>
            </a:r>
            <a:endParaRPr>
              <a:solidFill>
                <a:srgbClr val="FFFFFF"/>
              </a:solidFill>
            </a:endParaRPr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4648200" y="1676400"/>
            <a:ext cx="44196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PhanSo </a:t>
            </a:r>
            <a:r>
              <a:rPr b="1"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PhanSo::cong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(PhanSo p)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// Cài đặt bên ngoài lớp.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68" name="Google Shape;268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Đối tượng và lớp: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Đối tượng là một cấu trúc dữ liệu mới.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Đối tượng chứa dữ liệu lẫn xử lý.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là bản mô tả / kiểu của đối tượng.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Sử dụng đối tượng: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Khai báo lớp bằng từ khóa “class”.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Giống sử dụng cấu trúc.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Tầm ảnh hưởng, phạm vi hoạt động.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3 mức: public, private, protected.</a:t>
            </a:r>
            <a:endParaRPr/>
          </a:p>
        </p:txBody>
      </p:sp>
      <p:sp>
        <p:nvSpPr>
          <p:cNvPr id="269" name="Google Shape;269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77" name="Google Shape;277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2.1: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phân số</a:t>
            </a:r>
            <a:r>
              <a:rPr lang="en-US" sz="2000"/>
              <a:t> cho phép thực hiện các thao tác: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Nhập, xuất.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 tử số, mẫu số.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Gán giá trị cho tử số, mẫu số.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Nghịch đảo, rút gọn.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Cộng, nhân, so sánh với phân số khác.</a:t>
            </a:r>
            <a:endParaRPr/>
          </a:p>
        </p:txBody>
      </p:sp>
      <p:sp>
        <p:nvSpPr>
          <p:cNvPr id="278" name="Google Shape;278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86" name="Google Shape;286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2.2: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đơn thức</a:t>
            </a:r>
            <a:r>
              <a:rPr lang="en-US" sz="2000"/>
              <a:t> cho phép thực hiện các thao tác: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Nhập, xuất.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 hệ số, số mũ.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Gán giá trị cho hệ số, số mũ.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Tính giá trị, đạo hàm.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Cộng (cùng bậc), nhân, so sánh với đơn thức khác.</a:t>
            </a:r>
            <a:endParaRPr/>
          </a:p>
        </p:txBody>
      </p:sp>
      <p:sp>
        <p:nvSpPr>
          <p:cNvPr id="287" name="Google Shape;287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95" name="Google Shape;295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2.3: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Thông tin một học sinh bao gồm: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Họ tên.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Điểm văn, toán.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học sinh</a:t>
            </a:r>
            <a:r>
              <a:rPr lang="en-US" sz="2000"/>
              <a:t> cho phép thực hiện các thao tác: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Nhập, xuất.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 họ tên, điểm văn, toán.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Gán giá trị cho họ tên, điểm văn, điểm toán.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Tính điểm trung bình.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Xếp loại theo tiêu chí: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Char char="⮚"/>
            </a:pPr>
            <a:r>
              <a:rPr lang="en-US" sz="1800"/>
              <a:t>Giỏi (&gt;= 8.0), Khá (&gt;= 7.0).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Char char="⮚"/>
            </a:pPr>
            <a:r>
              <a:rPr lang="en-US" sz="1800"/>
              <a:t>Trung bình (&gt;= 5.0), Yếu (&lt; 5).</a:t>
            </a:r>
            <a:endParaRPr/>
          </a:p>
        </p:txBody>
      </p:sp>
      <p:sp>
        <p:nvSpPr>
          <p:cNvPr id="296" name="Google Shape;296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304" name="Google Shape;304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2.4: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mảng</a:t>
            </a:r>
            <a:r>
              <a:rPr lang="en-US" sz="2000"/>
              <a:t> số nguyên cho phép thực hiện các thao tác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Nhập, xuất mảng.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 kích thước mảng.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 phần tử tại vị trí nào đó.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Gán giá trị cho phần tử tại vị trí nào đó.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Tìm phần tử nào đó trong mảng.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Sắp xếp tăng, giảm.</a:t>
            </a:r>
            <a:endParaRPr sz="2000"/>
          </a:p>
          <a:p>
            <a:pPr indent="-33274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không dùng vector</a:t>
            </a:r>
            <a:endParaRPr sz="2000"/>
          </a:p>
        </p:txBody>
      </p:sp>
      <p:sp>
        <p:nvSpPr>
          <p:cNvPr id="305" name="Google Shape;305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- GV.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