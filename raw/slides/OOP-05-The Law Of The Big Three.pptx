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http://customooxmlschemas.google.com/">
      <go:slidesCustomData xmlns:go="http://customooxmlschemas.google.com/" r:id="rId26" roundtripDataSignature="AMtx7miAshSxHEgmypuRLLfmnzD7Vg3Z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1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14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22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2" name="Google Shape;32;p22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3" name="Google Shape;33;p22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2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2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2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2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2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2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" name="Google Shape;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26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22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22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2"/>
          <p:cNvSpPr/>
          <p:nvPr/>
        </p:nvSpPr>
        <p:spPr>
          <a:xfrm>
            <a:off x="6096000" y="3733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GV. Nguyễn Minh Huy</a:t>
            </a:r>
            <a:endParaRPr b="0" i="0" sz="2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2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000">
                <a:solidFill>
                  <a:srgbClr val="FF66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lipboard2" id="57" name="Google Shape;5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89788" y="4419600"/>
            <a:ext cx="1725612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54813" y="4176713"/>
            <a:ext cx="2160587" cy="214788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" name="Google Shape;11;p21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2" name="Google Shape;12;p21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3" name="Google Shape;13;p21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1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1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1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1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18;p21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1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p2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■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306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⮚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972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972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972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972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972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3" name="Google Shape;23;p21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1"/>
          <p:cNvGrpSpPr/>
          <p:nvPr/>
        </p:nvGrpSpPr>
        <p:grpSpPr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25" name="Google Shape;25;p21"/>
            <p:cNvSpPr/>
            <p:nvPr/>
          </p:nvSpPr>
          <p:spPr>
            <a:xfrm>
              <a:off x="5088" y="144"/>
              <a:ext cx="288" cy="336"/>
            </a:xfrm>
            <a:prstGeom prst="flowChartAlternateProcess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1"/>
            <p:cNvSpPr/>
            <p:nvPr/>
          </p:nvSpPr>
          <p:spPr>
            <a:xfrm>
              <a:off x="5185" y="48"/>
              <a:ext cx="385" cy="336"/>
            </a:xfrm>
            <a:prstGeom prst="flowChartAlternateProcess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1"/>
            <p:cNvSpPr/>
            <p:nvPr/>
          </p:nvSpPr>
          <p:spPr>
            <a:xfrm>
              <a:off x="5232" y="192"/>
              <a:ext cx="384" cy="336"/>
            </a:xfrm>
            <a:prstGeom prst="flowChartAlternateProcess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" name="Google Shape;28;p21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21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trỏ,</a:t>
            </a:r>
            <a:br>
              <a:rPr lang="en-US"/>
            </a:br>
            <a:r>
              <a:rPr lang="en-US"/>
              <a:t>Tính đóng gói</a:t>
            </a:r>
            <a:endParaRPr/>
          </a:p>
        </p:txBody>
      </p:sp>
      <p:sp>
        <p:nvSpPr>
          <p:cNvPr id="70" name="Google Shape;70;p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Vấn đề con trỏ.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Tính đóng gói.</a:t>
            </a:r>
            <a:endParaRPr/>
          </a:p>
        </p:txBody>
      </p:sp>
      <p:sp>
        <p:nvSpPr>
          <p:cNvPr id="79" name="Google Shape;79;p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Vấn đề con trỏ.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Tính đóng gói.</a:t>
            </a:r>
            <a:endParaRPr/>
          </a:p>
        </p:txBody>
      </p:sp>
      <p:sp>
        <p:nvSpPr>
          <p:cNvPr id="88" name="Google Shape;88;p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</a:t>
            </a:r>
            <a:endParaRPr/>
          </a:p>
        </p:txBody>
      </p:sp>
      <p:sp>
        <p:nvSpPr>
          <p:cNvPr id="95" name="Google Shape;95;p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Các phương thức mặc định trong lớp: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Được trình biên dịch cung cấp khi không khai báo.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Ba phương thức mặc định: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Phương thức hủy mặc định.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Phương thức khởi tạo sao chép mặc định.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Toán tử gán mặc định.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</a:t>
            </a:r>
            <a:r>
              <a:rPr b="1" lang="en-US" sz="1800">
                <a:solidFill>
                  <a:srgbClr val="FFC000"/>
                </a:solidFill>
              </a:rPr>
              <a:t>PhanSo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int  m_tu;</a:t>
            </a:r>
            <a:br>
              <a:rPr lang="en-US" sz="1800"/>
            </a:br>
            <a:r>
              <a:rPr lang="en-US" sz="1800"/>
              <a:t>	int  m_mau;</a:t>
            </a:r>
            <a:br>
              <a:rPr lang="en-US" sz="1800"/>
            </a:br>
            <a:r>
              <a:rPr lang="en-US" sz="1800"/>
              <a:t>public:</a:t>
            </a:r>
            <a:br>
              <a:rPr lang="en-US" sz="1800"/>
            </a:br>
            <a:r>
              <a:rPr lang="en-US" sz="1800"/>
              <a:t>	PhanSo( int  tu, int  mau );</a:t>
            </a:r>
            <a:br>
              <a:rPr lang="en-US" sz="1800"/>
            </a:br>
            <a:r>
              <a:rPr lang="en-US" sz="1800"/>
              <a:t>};</a:t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724400" y="3657600"/>
            <a:ext cx="40386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p1( 1, 3 );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// Mặc định có phương thức 	// khởi tạo sao chép.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PhanSo  p2( p1 );</a:t>
            </a:r>
            <a:b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// Mặc định có toán tử gán.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p1 = p2;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106" name="Google Shape;106;p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</a:t>
            </a:r>
            <a:endParaRPr/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 1: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class Array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private: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m_size;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*m_data;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public: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Array(int size);</a:t>
            </a:r>
            <a:endParaRPr b="1" sz="1800">
              <a:solidFill>
                <a:schemeClr val="hlink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};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Array::Array(int size)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m_size = size;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m_data = new int[m_size];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}</a:t>
            </a:r>
            <a:endParaRPr b="1" sz="1800">
              <a:solidFill>
                <a:schemeClr val="hlink"/>
              </a:solidFill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953000" y="16764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main()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Array   a1(5);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116" name="Google Shape;116;p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Vấn đề hủy mặc định: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Lớp có thuộc tính con trỏ (có cấp phát bộ nhớ).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Phương thức hủy mặc định không thu hồi bộ nhớ!!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1066800" y="2971800"/>
            <a:ext cx="2362200" cy="17526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a1: Array</a:t>
            </a:r>
            <a:endParaRPr/>
          </a:p>
          <a:p>
            <a:pPr indent="0" lvl="0" marL="0" marR="0" rtl="0" algn="ct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m_size</a:t>
            </a:r>
            <a:endParaRPr/>
          </a:p>
          <a:p>
            <a:pPr indent="-889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m_data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28600" y="5181600"/>
            <a:ext cx="8686800" cy="762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Phải cài đặt TƯỜNG MINH phương thức hủy để dọn dẹp!!</a:t>
            </a:r>
            <a:endParaRPr/>
          </a:p>
        </p:txBody>
      </p:sp>
      <p:grpSp>
        <p:nvGrpSpPr>
          <p:cNvPr id="120" name="Google Shape;120;p6"/>
          <p:cNvGrpSpPr/>
          <p:nvPr/>
        </p:nvGrpSpPr>
        <p:grpSpPr>
          <a:xfrm>
            <a:off x="3886200" y="4114800"/>
            <a:ext cx="1905000" cy="381000"/>
            <a:chOff x="2544" y="2256"/>
            <a:chExt cx="1200" cy="240"/>
          </a:xfrm>
        </p:grpSpPr>
        <p:sp>
          <p:nvSpPr>
            <p:cNvPr id="121" name="Google Shape;121;p6"/>
            <p:cNvSpPr/>
            <p:nvPr/>
          </p:nvSpPr>
          <p:spPr>
            <a:xfrm>
              <a:off x="254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278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302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326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350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126" name="Google Shape;126;p6"/>
          <p:cNvSpPr/>
          <p:nvPr/>
        </p:nvSpPr>
        <p:spPr>
          <a:xfrm>
            <a:off x="2514600" y="4114800"/>
            <a:ext cx="6858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257800" y="2971800"/>
            <a:ext cx="2819400" cy="914400"/>
          </a:xfrm>
          <a:prstGeom prst="wedgeRoundRectCallout">
            <a:avLst>
              <a:gd fmla="val -46282" name="adj1"/>
              <a:gd fmla="val 70833" name="adj2"/>
              <a:gd fmla="val 16667" name="adj3"/>
            </a:avLst>
          </a:prstGeom>
          <a:gradFill>
            <a:gsLst>
              <a:gs pos="0">
                <a:srgbClr val="A1A1B3"/>
              </a:gs>
              <a:gs pos="50000">
                <a:schemeClr val="lt2"/>
              </a:gs>
              <a:gs pos="100000">
                <a:srgbClr val="A1A1B3"/>
              </a:gs>
            </a:gsLst>
            <a:lin ang="27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dk1">
                <a:alpha val="49803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Rò rỉ bộ nhớ!!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2819400" y="3657600"/>
            <a:ext cx="3810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129" name="Google Shape;129;p6"/>
          <p:cNvCxnSpPr/>
          <p:nvPr/>
        </p:nvCxnSpPr>
        <p:spPr>
          <a:xfrm>
            <a:off x="3200400" y="4343400"/>
            <a:ext cx="685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137" name="Google Shape;137;p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 1: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class Array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private: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m_size;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*m_data;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public: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Array(int size);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b="1" lang="en-US" sz="1800">
                <a:solidFill>
                  <a:schemeClr val="hlink"/>
                </a:solidFill>
              </a:rPr>
              <a:t>		~Array();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};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b="1" lang="en-US" sz="1800">
                <a:solidFill>
                  <a:schemeClr val="hlink"/>
                </a:solidFill>
              </a:rPr>
              <a:t>	Array::~Array()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b="1" lang="en-US" sz="1800">
                <a:solidFill>
                  <a:schemeClr val="hlink"/>
                </a:solidFill>
              </a:rPr>
              <a:t>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b="1" lang="en-US" sz="1800">
                <a:solidFill>
                  <a:schemeClr val="hlink"/>
                </a:solidFill>
              </a:rPr>
              <a:t>		delete []m_data;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b="1" lang="en-US" sz="1800">
                <a:solidFill>
                  <a:schemeClr val="hlink"/>
                </a:solidFill>
              </a:rPr>
              <a:t>	}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953000" y="16764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main()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Array   a1(5);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147" name="Google Shape;147;p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</a:t>
            </a:r>
            <a:endParaRPr/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 2: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class Array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private: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m_size;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*m_data;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public: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Array(int size);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~Array();</a:t>
            </a:r>
            <a:endParaRPr b="1" sz="1800">
              <a:solidFill>
                <a:schemeClr val="hlink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};</a:t>
            </a:r>
            <a:endParaRPr b="1" sz="1800">
              <a:solidFill>
                <a:schemeClr val="hlink"/>
              </a:solidFill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953000" y="16764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main()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Array   a1(5);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Array   a2(a1);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157" name="Google Shape;157;p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</a:t>
            </a:r>
            <a:endParaRPr/>
          </a:p>
        </p:txBody>
      </p:sp>
      <p:sp>
        <p:nvSpPr>
          <p:cNvPr id="158" name="Google Shape;158;p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Vấn đề sao chép mặc định: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Phương thức khởi tạo sao chép mặc định sao chép giá trị từng thuộc tính!!</a:t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762000" y="3505200"/>
            <a:ext cx="2362200" cy="17526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a1: Array</a:t>
            </a:r>
            <a:endParaRPr/>
          </a:p>
          <a:p>
            <a:pPr indent="0" lvl="0" marL="0" marR="0" rtl="0" algn="ct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m_size</a:t>
            </a:r>
            <a:endParaRPr/>
          </a:p>
          <a:p>
            <a:pPr indent="-889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m_data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76200" y="5562600"/>
            <a:ext cx="8991600" cy="762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Phải cài đặt TƯỜNG MINH phương thức khởi tạo sao chép!!</a:t>
            </a:r>
            <a:endParaRPr b="1" i="0" sz="2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9"/>
          <p:cNvGrpSpPr/>
          <p:nvPr/>
        </p:nvGrpSpPr>
        <p:grpSpPr>
          <a:xfrm>
            <a:off x="3581400" y="4648200"/>
            <a:ext cx="1905000" cy="381000"/>
            <a:chOff x="2544" y="2256"/>
            <a:chExt cx="1200" cy="240"/>
          </a:xfrm>
        </p:grpSpPr>
        <p:sp>
          <p:nvSpPr>
            <p:cNvPr id="162" name="Google Shape;162;p9"/>
            <p:cNvSpPr/>
            <p:nvPr/>
          </p:nvSpPr>
          <p:spPr>
            <a:xfrm>
              <a:off x="254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278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302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326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350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167" name="Google Shape;167;p9"/>
          <p:cNvSpPr/>
          <p:nvPr/>
        </p:nvSpPr>
        <p:spPr>
          <a:xfrm>
            <a:off x="2209800" y="4648200"/>
            <a:ext cx="6858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2514600" y="4191000"/>
            <a:ext cx="3810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169" name="Google Shape;169;p9"/>
          <p:cNvCxnSpPr/>
          <p:nvPr/>
        </p:nvCxnSpPr>
        <p:spPr>
          <a:xfrm>
            <a:off x="2895600" y="4876800"/>
            <a:ext cx="685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0" name="Google Shape;170;p9"/>
          <p:cNvSpPr/>
          <p:nvPr/>
        </p:nvSpPr>
        <p:spPr>
          <a:xfrm>
            <a:off x="5943600" y="3505200"/>
            <a:ext cx="2362200" cy="17526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a2: Array</a:t>
            </a:r>
            <a:endParaRPr/>
          </a:p>
          <a:p>
            <a:pPr indent="0" lvl="0" marL="0" marR="0" rtl="0" algn="ct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m_size</a:t>
            </a:r>
            <a:endParaRPr/>
          </a:p>
          <a:p>
            <a:pPr indent="-889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m_data</a:t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2209800" y="4648200"/>
            <a:ext cx="6858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2514600" y="4191000"/>
            <a:ext cx="3810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173" name="Google Shape;173;p9"/>
          <p:cNvCxnSpPr/>
          <p:nvPr/>
        </p:nvCxnSpPr>
        <p:spPr>
          <a:xfrm>
            <a:off x="7772400" y="5029200"/>
            <a:ext cx="0" cy="38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74" name="Google Shape;174;p9"/>
          <p:cNvCxnSpPr/>
          <p:nvPr/>
        </p:nvCxnSpPr>
        <p:spPr>
          <a:xfrm rot="10800000">
            <a:off x="3810000" y="5410200"/>
            <a:ext cx="3962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9"/>
          <p:cNvCxnSpPr/>
          <p:nvPr/>
        </p:nvCxnSpPr>
        <p:spPr>
          <a:xfrm rot="10800000">
            <a:off x="3810000" y="5029200"/>
            <a:ext cx="0" cy="38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9"/>
          <p:cNvSpPr/>
          <p:nvPr/>
        </p:nvSpPr>
        <p:spPr>
          <a:xfrm>
            <a:off x="1752600" y="2590800"/>
            <a:ext cx="2438400" cy="838200"/>
          </a:xfrm>
          <a:prstGeom prst="wedgeRoundRectCallout">
            <a:avLst>
              <a:gd fmla="val 49218" name="adj1"/>
              <a:gd fmla="val 179343" name="adj2"/>
              <a:gd fmla="val 16667" name="adj3"/>
            </a:avLst>
          </a:prstGeom>
          <a:gradFill>
            <a:gsLst>
              <a:gs pos="0">
                <a:srgbClr val="A1A1B3"/>
              </a:gs>
              <a:gs pos="50000">
                <a:schemeClr val="lt2"/>
              </a:gs>
              <a:gs pos="100000">
                <a:srgbClr val="A1A1B3"/>
              </a:gs>
            </a:gsLst>
            <a:lin ang="27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dk1">
                <a:alpha val="49803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Dùng chung bộ nhớ!!</a:t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4876800" y="2590800"/>
            <a:ext cx="2438400" cy="838200"/>
          </a:xfrm>
          <a:prstGeom prst="wedgeRoundRectCallout">
            <a:avLst>
              <a:gd fmla="val -48894" name="adj1"/>
              <a:gd fmla="val 184551" name="adj2"/>
              <a:gd fmla="val 16667" name="adj3"/>
            </a:avLst>
          </a:prstGeom>
          <a:gradFill>
            <a:gsLst>
              <a:gs pos="0">
                <a:srgbClr val="A1A1B3"/>
              </a:gs>
              <a:gs pos="50000">
                <a:schemeClr val="lt2"/>
              </a:gs>
              <a:gs pos="100000">
                <a:srgbClr val="A1A1B3"/>
              </a:gs>
            </a:gsLst>
            <a:lin ang="27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dk1">
                <a:alpha val="49803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Mất bộ nhớ!!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1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185" name="Google Shape;185;p1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</a:t>
            </a:r>
            <a:endParaRPr/>
          </a:p>
        </p:txBody>
      </p:sp>
      <p:sp>
        <p:nvSpPr>
          <p:cNvPr id="186" name="Google Shape;186;p1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 2: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class Array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private: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m_size;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*m_data;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public: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Array(int size);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b="1" lang="en-US" sz="1800">
                <a:solidFill>
                  <a:schemeClr val="hlink"/>
                </a:solidFill>
              </a:rPr>
              <a:t>		Array(const Array &amp;a);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~Array();</a:t>
            </a:r>
            <a:endParaRPr b="1" sz="1800">
              <a:solidFill>
                <a:schemeClr val="hlink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};</a:t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4953000" y="4038600"/>
            <a:ext cx="4038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main()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Array   a1(5);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Array   a2(a1);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4953000" y="1676400"/>
            <a:ext cx="4038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Array::Array(const Array &amp;a)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m_size = a.m_size;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m_data = new int[m_size];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for (int i = 0; i &lt; m_size; i++)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m_data[ i ] = a.m_data[ i ];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1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196" name="Google Shape;196;p1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</a:t>
            </a:r>
            <a:endParaRPr/>
          </a:p>
        </p:txBody>
      </p:sp>
      <p:sp>
        <p:nvSpPr>
          <p:cNvPr id="197" name="Google Shape;197;p1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 3: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class Array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private: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m_size;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*m_data;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public: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Array(int size);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Array(const Array &amp;a);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~Array();</a:t>
            </a:r>
            <a:endParaRPr b="1" sz="1800">
              <a:solidFill>
                <a:schemeClr val="hlink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};</a:t>
            </a:r>
            <a:endParaRPr b="1" sz="1800">
              <a:solidFill>
                <a:schemeClr val="hlink"/>
              </a:solidFill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953000" y="16764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main()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Array   a1(5);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Array   a2(6);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a2 = a1;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1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206" name="Google Shape;206;p1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</a:t>
            </a:r>
            <a:endParaRPr/>
          </a:p>
        </p:txBody>
      </p:sp>
      <p:sp>
        <p:nvSpPr>
          <p:cNvPr id="207" name="Google Shape;207;p1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Vấn đề gán mặc định: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Toán tử gán mặc định sao chép giá trị từng thuộc tính!!</a:t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762000" y="3505200"/>
            <a:ext cx="2362200" cy="17526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a1: Array</a:t>
            </a:r>
            <a:endParaRPr/>
          </a:p>
          <a:p>
            <a:pPr indent="0" lvl="0" marL="0" marR="0" rtl="0" algn="ct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m_size</a:t>
            </a:r>
            <a:endParaRPr/>
          </a:p>
          <a:p>
            <a:pPr indent="-889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m_data</a:t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1600200" y="5562600"/>
            <a:ext cx="6019800" cy="762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Phải cài đặt TƯỜNG MINH toán tử gán!!</a:t>
            </a:r>
            <a:endParaRPr/>
          </a:p>
        </p:txBody>
      </p:sp>
      <p:grpSp>
        <p:nvGrpSpPr>
          <p:cNvPr id="210" name="Google Shape;210;p12"/>
          <p:cNvGrpSpPr/>
          <p:nvPr/>
        </p:nvGrpSpPr>
        <p:grpSpPr>
          <a:xfrm>
            <a:off x="3581400" y="4648200"/>
            <a:ext cx="1905000" cy="381000"/>
            <a:chOff x="2544" y="2256"/>
            <a:chExt cx="1200" cy="240"/>
          </a:xfrm>
        </p:grpSpPr>
        <p:sp>
          <p:nvSpPr>
            <p:cNvPr id="211" name="Google Shape;211;p12"/>
            <p:cNvSpPr/>
            <p:nvPr/>
          </p:nvSpPr>
          <p:spPr>
            <a:xfrm>
              <a:off x="254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278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302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214" name="Google Shape;214;p12"/>
            <p:cNvSpPr/>
            <p:nvPr/>
          </p:nvSpPr>
          <p:spPr>
            <a:xfrm>
              <a:off x="326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215" name="Google Shape;215;p12"/>
            <p:cNvSpPr/>
            <p:nvPr/>
          </p:nvSpPr>
          <p:spPr>
            <a:xfrm>
              <a:off x="3504" y="2256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216" name="Google Shape;216;p12"/>
          <p:cNvSpPr/>
          <p:nvPr/>
        </p:nvSpPr>
        <p:spPr>
          <a:xfrm>
            <a:off x="2209800" y="4648200"/>
            <a:ext cx="6858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2514600" y="4191000"/>
            <a:ext cx="3810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218" name="Google Shape;218;p12"/>
          <p:cNvCxnSpPr/>
          <p:nvPr/>
        </p:nvCxnSpPr>
        <p:spPr>
          <a:xfrm>
            <a:off x="2895600" y="4876800"/>
            <a:ext cx="685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9" name="Google Shape;219;p12"/>
          <p:cNvSpPr/>
          <p:nvPr/>
        </p:nvSpPr>
        <p:spPr>
          <a:xfrm>
            <a:off x="5943600" y="3505200"/>
            <a:ext cx="2362200" cy="17526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a2: Array</a:t>
            </a:r>
            <a:endParaRPr/>
          </a:p>
          <a:p>
            <a:pPr indent="0" lvl="0" marL="0" marR="0" rtl="0" algn="ct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8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m_size</a:t>
            </a:r>
            <a:endParaRPr/>
          </a:p>
          <a:p>
            <a:pPr indent="-8890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m_data</a:t>
            </a:r>
            <a:endParaRPr/>
          </a:p>
        </p:txBody>
      </p:sp>
      <p:cxnSp>
        <p:nvCxnSpPr>
          <p:cNvPr id="220" name="Google Shape;220;p12"/>
          <p:cNvCxnSpPr/>
          <p:nvPr/>
        </p:nvCxnSpPr>
        <p:spPr>
          <a:xfrm rot="10800000">
            <a:off x="3581400" y="3886200"/>
            <a:ext cx="3962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2"/>
          <p:cNvCxnSpPr/>
          <p:nvPr/>
        </p:nvCxnSpPr>
        <p:spPr>
          <a:xfrm>
            <a:off x="3581400" y="3886200"/>
            <a:ext cx="0" cy="152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12"/>
          <p:cNvSpPr/>
          <p:nvPr/>
        </p:nvSpPr>
        <p:spPr>
          <a:xfrm>
            <a:off x="7391400" y="4648200"/>
            <a:ext cx="6858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405</a:t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7696200" y="4191000"/>
            <a:ext cx="3810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grpSp>
        <p:nvGrpSpPr>
          <p:cNvPr id="224" name="Google Shape;224;p12"/>
          <p:cNvGrpSpPr/>
          <p:nvPr/>
        </p:nvGrpSpPr>
        <p:grpSpPr>
          <a:xfrm>
            <a:off x="3352800" y="4038600"/>
            <a:ext cx="2286000" cy="381000"/>
            <a:chOff x="2112" y="2208"/>
            <a:chExt cx="1440" cy="240"/>
          </a:xfrm>
        </p:grpSpPr>
        <p:sp>
          <p:nvSpPr>
            <p:cNvPr id="225" name="Google Shape;225;p12"/>
            <p:cNvSpPr/>
            <p:nvPr/>
          </p:nvSpPr>
          <p:spPr>
            <a:xfrm>
              <a:off x="2112" y="2208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2352" y="2208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2592" y="2208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2832" y="2208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3072" y="2208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3312" y="2208"/>
              <a:ext cx="240" cy="240"/>
            </a:xfrm>
            <a:prstGeom prst="roundRect">
              <a:avLst>
                <a:gd fmla="val 7093" name="adj"/>
              </a:avLst>
            </a:prstGeom>
            <a:solidFill>
              <a:srgbClr val="F5E5FF"/>
            </a:solidFill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chemeClr val="dk1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cxnSp>
        <p:nvCxnSpPr>
          <p:cNvPr id="231" name="Google Shape;231;p12"/>
          <p:cNvCxnSpPr/>
          <p:nvPr/>
        </p:nvCxnSpPr>
        <p:spPr>
          <a:xfrm rot="10800000">
            <a:off x="7543800" y="3886200"/>
            <a:ext cx="0" cy="76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2" name="Google Shape;232;p12"/>
          <p:cNvSpPr/>
          <p:nvPr/>
        </p:nvSpPr>
        <p:spPr>
          <a:xfrm>
            <a:off x="2209800" y="4648200"/>
            <a:ext cx="6858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2514600" y="4191000"/>
            <a:ext cx="381000" cy="3810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234" name="Google Shape;234;p12"/>
          <p:cNvCxnSpPr/>
          <p:nvPr/>
        </p:nvCxnSpPr>
        <p:spPr>
          <a:xfrm>
            <a:off x="7772400" y="5029200"/>
            <a:ext cx="0" cy="38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35" name="Google Shape;235;p12"/>
          <p:cNvCxnSpPr/>
          <p:nvPr/>
        </p:nvCxnSpPr>
        <p:spPr>
          <a:xfrm rot="10800000">
            <a:off x="3810000" y="5410200"/>
            <a:ext cx="3962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12"/>
          <p:cNvCxnSpPr/>
          <p:nvPr/>
        </p:nvCxnSpPr>
        <p:spPr>
          <a:xfrm rot="10800000">
            <a:off x="3810000" y="5029200"/>
            <a:ext cx="0" cy="381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12"/>
          <p:cNvSpPr/>
          <p:nvPr/>
        </p:nvSpPr>
        <p:spPr>
          <a:xfrm>
            <a:off x="3276600" y="2590800"/>
            <a:ext cx="2438400" cy="838200"/>
          </a:xfrm>
          <a:prstGeom prst="wedgeRoundRectCallout">
            <a:avLst>
              <a:gd fmla="val -130" name="adj1"/>
              <a:gd fmla="val 117014" name="adj2"/>
              <a:gd fmla="val 16667" name="adj3"/>
            </a:avLst>
          </a:prstGeom>
          <a:gradFill>
            <a:gsLst>
              <a:gs pos="0">
                <a:srgbClr val="A1A1B3"/>
              </a:gs>
              <a:gs pos="50000">
                <a:schemeClr val="lt2"/>
              </a:gs>
              <a:gs pos="100000">
                <a:srgbClr val="A1A1B3"/>
              </a:gs>
            </a:gsLst>
            <a:lin ang="27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dk1">
                <a:alpha val="49803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Rò rỉ bộ nhớ!!</a:t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762000" y="2590800"/>
            <a:ext cx="2438400" cy="838200"/>
          </a:xfrm>
          <a:prstGeom prst="wedgeRoundRectCallout">
            <a:avLst>
              <a:gd fmla="val 80079" name="adj1"/>
              <a:gd fmla="val 182815" name="adj2"/>
              <a:gd fmla="val 16667" name="adj3"/>
            </a:avLst>
          </a:prstGeom>
          <a:gradFill>
            <a:gsLst>
              <a:gs pos="0">
                <a:srgbClr val="A1A1B3"/>
              </a:gs>
              <a:gs pos="50000">
                <a:schemeClr val="lt2"/>
              </a:gs>
              <a:gs pos="100000">
                <a:srgbClr val="A1A1B3"/>
              </a:gs>
            </a:gsLst>
            <a:lin ang="27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dk1">
                <a:alpha val="49803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Dùng chung bộ nhớ!!</a:t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5867400" y="2590800"/>
            <a:ext cx="2438400" cy="838200"/>
          </a:xfrm>
          <a:prstGeom prst="wedgeRoundRectCallout">
            <a:avLst>
              <a:gd fmla="val -79819" name="adj1"/>
              <a:gd fmla="val 183333" name="adj2"/>
              <a:gd fmla="val 16667" name="adj3"/>
            </a:avLst>
          </a:prstGeom>
          <a:gradFill>
            <a:gsLst>
              <a:gs pos="0">
                <a:srgbClr val="A1A1B3"/>
              </a:gs>
              <a:gs pos="50000">
                <a:schemeClr val="lt2"/>
              </a:gs>
              <a:gs pos="100000">
                <a:srgbClr val="A1A1B3"/>
              </a:gs>
            </a:gsLst>
            <a:lin ang="27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dk1">
                <a:alpha val="49803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Mất bộ nhớ!!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1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247" name="Google Shape;247;p1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</a:t>
            </a:r>
            <a:endParaRPr/>
          </a:p>
        </p:txBody>
      </p:sp>
      <p:sp>
        <p:nvSpPr>
          <p:cNvPr id="248" name="Google Shape;248;p1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 2: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class Array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private: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m_size;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int	*m_data;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public: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Array(int size);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Array(const Array &amp;a);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~Array();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b="1" lang="en-US" sz="1800">
                <a:solidFill>
                  <a:schemeClr val="hlink"/>
                </a:solidFill>
              </a:rPr>
              <a:t>		Array &amp; operator =(const Array &amp;a);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};</a:t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6629400" y="4038600"/>
            <a:ext cx="2286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main()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Array   a1(5);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Array   a2(6);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a2 = a1;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…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4267200" y="1676400"/>
            <a:ext cx="48006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Array &amp; Array::operator =(const Array &amp;a)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delete []m_data;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m_size = a.m_size;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m_data = new int[m_size];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for (int i = 0; i &lt; m_size; i++)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m_data[ i ] = a.m_data[ i ];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return *this;</a:t>
            </a:r>
            <a:endParaRPr b="1" i="0" sz="16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1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258" name="Google Shape;258;p1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Vấn đề con trỏ</a:t>
            </a:r>
            <a:endParaRPr/>
          </a:p>
        </p:txBody>
      </p:sp>
      <p:sp>
        <p:nvSpPr>
          <p:cNvPr id="259" name="Google Shape;259;p1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Dr. Guru khuyên: </a:t>
            </a:r>
            <a:r>
              <a:rPr b="1" lang="en-US">
                <a:solidFill>
                  <a:schemeClr val="hlink"/>
                </a:solidFill>
              </a:rPr>
              <a:t>luật “ba ông lớn”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Lớp có thuộc tính con trỏ (có cấp phát bộ nhớ),</a:t>
            </a:r>
            <a:br>
              <a:rPr lang="en-US"/>
            </a:br>
            <a:r>
              <a:rPr lang="en-US"/>
              <a:t>🡺 Phải cài đặt TƯỜNG MINH: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Phương thức hủy: thu hồi bộ nhớ.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Phương thức khởi tạo sao chép: sao chép bộ nhớ.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Toán tử gán: hủy bộ nhớ cũ, sao chép bộ nhớ mới.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class HocSinh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private: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	char	*m_hoTen;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public: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b="1" lang="en-US" sz="1800">
                <a:solidFill>
                  <a:schemeClr val="hlink"/>
                </a:solidFill>
              </a:rPr>
              <a:t>		HocSinh(const HocSinh &amp;h);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b="1" lang="en-US" sz="1800">
                <a:solidFill>
                  <a:schemeClr val="hlink"/>
                </a:solidFill>
              </a:rPr>
              <a:t>		~HocSinh();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b="1" lang="en-US" sz="1800">
                <a:solidFill>
                  <a:schemeClr val="hlink"/>
                </a:solidFill>
              </a:rPr>
              <a:t>		HocSinh &amp; operator =(const HocSinh &amp;h);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rPr lang="en-US" sz="1800"/>
              <a:t>	};</a:t>
            </a:r>
            <a:endParaRPr/>
          </a:p>
        </p:txBody>
      </p:sp>
      <p:pic>
        <p:nvPicPr>
          <p:cNvPr id="260" name="Google Shape;2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810000"/>
            <a:ext cx="2514600" cy="24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267" name="Google Shape;267;p1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Vấn đề con trỏ.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Tính đóng gói.</a:t>
            </a:r>
            <a:endParaRPr b="1">
              <a:solidFill>
                <a:srgbClr val="FFC000"/>
              </a:solidFill>
            </a:endParaRPr>
          </a:p>
        </p:txBody>
      </p:sp>
      <p:sp>
        <p:nvSpPr>
          <p:cNvPr id="268" name="Google Shape;268;p1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1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Tính đóng gói</a:t>
            </a:r>
            <a:endParaRPr/>
          </a:p>
        </p:txBody>
      </p:sp>
      <p:sp>
        <p:nvSpPr>
          <p:cNvPr id="275" name="Google Shape;275;p1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Quy tắc hộp đen (rule of blackbox):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Thuộc tính: </a:t>
            </a:r>
            <a:r>
              <a:rPr b="1" lang="en-US">
                <a:solidFill>
                  <a:srgbClr val="FFC000"/>
                </a:solidFill>
              </a:rPr>
              <a:t>private</a:t>
            </a:r>
            <a:r>
              <a:rPr lang="en-US"/>
              <a:t> để hạn chế truy xuất.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Phương thức: </a:t>
            </a:r>
            <a:r>
              <a:rPr b="1" lang="en-US">
                <a:solidFill>
                  <a:srgbClr val="FFC000"/>
                </a:solidFill>
              </a:rPr>
              <a:t>public</a:t>
            </a:r>
            <a:r>
              <a:rPr lang="en-US"/>
              <a:t> để cung cấp tính năng.</a:t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</a:t>
            </a:r>
            <a:br>
              <a:rPr lang="en-US" sz="1800"/>
            </a:br>
            <a:r>
              <a:rPr lang="en-US" sz="2000"/>
              <a:t>class HocSinh</a:t>
            </a:r>
            <a:br>
              <a:rPr lang="en-US" sz="2000"/>
            </a:br>
            <a:r>
              <a:rPr lang="en-US" sz="2000"/>
              <a:t>{</a:t>
            </a:r>
            <a:br>
              <a:rPr lang="en-US" sz="2000"/>
            </a:br>
            <a:r>
              <a:rPr b="1" lang="en-US" sz="2000">
                <a:solidFill>
                  <a:srgbClr val="FFC000"/>
                </a:solidFill>
              </a:rPr>
              <a:t>private:</a:t>
            </a:r>
            <a:br>
              <a:rPr lang="en-US" sz="2000"/>
            </a:br>
            <a:r>
              <a:rPr lang="en-US" sz="2000"/>
              <a:t>	char*	m_hoTen;</a:t>
            </a:r>
            <a:br>
              <a:rPr lang="en-US" sz="2000"/>
            </a:br>
            <a:r>
              <a:rPr lang="en-US" sz="2000"/>
              <a:t>	float	m_diemVan;</a:t>
            </a:r>
            <a:br>
              <a:rPr lang="en-US" sz="2000"/>
            </a:br>
            <a:r>
              <a:rPr lang="en-US" sz="2000"/>
              <a:t>	float	m_diemToan;</a:t>
            </a:r>
            <a:br>
              <a:rPr lang="en-US" sz="2000"/>
            </a:br>
            <a:r>
              <a:rPr lang="en-US" sz="2000"/>
              <a:t>};</a:t>
            </a:r>
            <a:endParaRPr sz="1800"/>
          </a:p>
        </p:txBody>
      </p:sp>
      <p:sp>
        <p:nvSpPr>
          <p:cNvPr id="276" name="Google Shape;276;p1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1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6019800" y="3697069"/>
            <a:ext cx="1371600" cy="990600"/>
          </a:xfrm>
          <a:prstGeom prst="ellipse">
            <a:avLst/>
          </a:prstGeom>
          <a:gradFill>
            <a:gsLst>
              <a:gs pos="0">
                <a:srgbClr val="B34700"/>
              </a:gs>
              <a:gs pos="50000">
                <a:srgbClr val="FF6600"/>
              </a:gs>
              <a:gs pos="100000">
                <a:srgbClr val="B34700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5334000" y="3163669"/>
            <a:ext cx="2743200" cy="20574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4854" y="10800"/>
                </a:moveTo>
                <a:cubicBezTo>
                  <a:pt x="4854" y="14084"/>
                  <a:pt x="7516" y="16746"/>
                  <a:pt x="10800" y="16746"/>
                </a:cubicBezTo>
                <a:cubicBezTo>
                  <a:pt x="14084" y="16746"/>
                  <a:pt x="16746" y="14084"/>
                  <a:pt x="16746" y="10800"/>
                </a:cubicBezTo>
                <a:cubicBezTo>
                  <a:pt x="16746" y="7516"/>
                  <a:pt x="14084" y="4854"/>
                  <a:pt x="10800" y="4854"/>
                </a:cubicBezTo>
                <a:cubicBezTo>
                  <a:pt x="7516" y="4854"/>
                  <a:pt x="4854" y="7516"/>
                  <a:pt x="4854" y="10800"/>
                </a:cubicBezTo>
                <a:close/>
              </a:path>
            </a:pathLst>
          </a:custGeom>
          <a:gradFill>
            <a:gsLst>
              <a:gs pos="0">
                <a:srgbClr val="00B300"/>
              </a:gs>
              <a:gs pos="50000">
                <a:srgbClr val="00FF00"/>
              </a:gs>
              <a:gs pos="100000">
                <a:srgbClr val="00B300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6019800" y="3849469"/>
            <a:ext cx="142859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Dữ liệu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(Thuộc tính)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5867400" y="4687669"/>
            <a:ext cx="17075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Tính năng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(Phương thức)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Tính đóng gói</a:t>
            </a:r>
            <a:endParaRPr/>
          </a:p>
        </p:txBody>
      </p:sp>
      <p:sp>
        <p:nvSpPr>
          <p:cNvPr id="287" name="Google Shape;287;p1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Quy tắc hộp đen vs. Nhu cầu truy xuất: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Có nhu cầu truy xuất thuộc tính đối tượng?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Phương án 1: private 🡪 public.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Phương án 2: phương thức truy xuất.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/>
              <a:t>	🡺 Cả 2 đều vi phạm quy tắc hộp đen!!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</a:t>
            </a:r>
            <a:br>
              <a:rPr lang="en-US" sz="1800"/>
            </a:br>
            <a:r>
              <a:rPr lang="en-US" sz="1800"/>
              <a:t>class HocSinh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b="1" lang="en-US" sz="1800">
                <a:solidFill>
                  <a:srgbClr val="FFC000"/>
                </a:solidFill>
              </a:rPr>
              <a:t>public:</a:t>
            </a:r>
            <a:br>
              <a:rPr lang="en-US" sz="1800"/>
            </a:br>
            <a:r>
              <a:rPr lang="en-US" sz="1800"/>
              <a:t>	char*	m_hoTen;</a:t>
            </a:r>
            <a:br>
              <a:rPr lang="en-US" sz="1800"/>
            </a:br>
            <a:r>
              <a:rPr lang="en-US" sz="1800"/>
              <a:t>	float	m_diemVan;</a:t>
            </a:r>
            <a:br>
              <a:rPr lang="en-US" sz="1800"/>
            </a:br>
            <a:r>
              <a:rPr lang="en-US" sz="1800"/>
              <a:t>	float	m_diemToan;</a:t>
            </a:r>
            <a:br>
              <a:rPr lang="en-US" sz="1800"/>
            </a:br>
            <a:r>
              <a:rPr lang="en-US" sz="1800"/>
              <a:t>};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88" name="Google Shape;288;p1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9" name="Google Shape;289;p1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4724400" y="3505200"/>
            <a:ext cx="441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 HocSinh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private: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char*	m_hoTen;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float	m_diemVan;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float	m_diemToan;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public:</a:t>
            </a:r>
            <a:b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float	layDiemVan();</a:t>
            </a:r>
            <a:b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float	layDiemToan();</a:t>
            </a:r>
            <a:br>
              <a:rPr b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Tính đóng gói</a:t>
            </a:r>
            <a:endParaRPr/>
          </a:p>
        </p:txBody>
      </p:sp>
      <p:sp>
        <p:nvSpPr>
          <p:cNvPr id="296" name="Google Shape;296;p1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Làm sao tuân thủ quy tắc hộp đen?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Cần xử lý gì thì đưa cho đối tượng thực hiện.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HocSinh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char*	m_hoTen;</a:t>
            </a:r>
            <a:br>
              <a:rPr lang="en-US" sz="1800"/>
            </a:br>
            <a:r>
              <a:rPr lang="en-US" sz="1800"/>
              <a:t>	float	m_diemVan;</a:t>
            </a:r>
            <a:br>
              <a:rPr lang="en-US" sz="1800"/>
            </a:br>
            <a:r>
              <a:rPr lang="en-US" sz="1800"/>
              <a:t>	float	m_diemToan;</a:t>
            </a:r>
            <a:br>
              <a:rPr lang="en-US" sz="1800"/>
            </a:br>
            <a:r>
              <a:rPr lang="en-US" sz="1800"/>
              <a:t>public: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b="1" lang="en-US" sz="1800">
                <a:solidFill>
                  <a:schemeClr val="hlink"/>
                </a:solidFill>
              </a:rPr>
              <a:t>	float tinhDTB();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b="1" lang="en-US" sz="1800">
                <a:solidFill>
                  <a:schemeClr val="hlink"/>
                </a:solidFill>
              </a:rPr>
              <a:t>	int xepLoai();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};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97" name="Google Shape;297;p1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1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299" name="Google Shape;299;p18"/>
          <p:cNvSpPr/>
          <p:nvPr/>
        </p:nvSpPr>
        <p:spPr>
          <a:xfrm>
            <a:off x="4572000" y="2461846"/>
            <a:ext cx="441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HocSinh  hs;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// Cần tính điểm trung bình??</a:t>
            </a:r>
            <a:b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// Trang bị cho học sinh tính.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float  dtb = hs.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tinhDTB()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// Cần xếp loại??</a:t>
            </a:r>
            <a:b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// Trang bị cho cho học sinh xếp.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 loai = hs.</a:t>
            </a:r>
            <a:r>
              <a:rPr b="1" i="0" lang="en-US" sz="18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xepLoai()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Tính đóng gói</a:t>
            </a:r>
            <a:endParaRPr/>
          </a:p>
        </p:txBody>
      </p:sp>
      <p:sp>
        <p:nvSpPr>
          <p:cNvPr id="305" name="Google Shape;305;p1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Dr. Guru khuyên: quy tắc </a:t>
            </a:r>
            <a:r>
              <a:rPr b="1" lang="en-US">
                <a:solidFill>
                  <a:srgbClr val="FFC000"/>
                </a:solidFill>
              </a:rPr>
              <a:t>“Tell, Don’t Ask”</a:t>
            </a:r>
            <a:r>
              <a:rPr lang="en-US"/>
              <a:t>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Thông tin đối tượng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>
                <a:solidFill>
                  <a:schemeClr val="hlink"/>
                </a:solidFill>
              </a:rPr>
              <a:t>	🡺 Không thể truy xuất từ bên ngoài.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Đối tượng nắm giữ thông tin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>
                <a:solidFill>
                  <a:schemeClr val="hlink"/>
                </a:solidFill>
              </a:rPr>
              <a:t>	🡺 Chịu trách nhiệm xử lý thông tin.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“Đừng hỏi tôi thông tin”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>
                <a:solidFill>
                  <a:schemeClr val="hlink"/>
                </a:solidFill>
              </a:rPr>
              <a:t>	🡺 “Hãy nhờ tôi làm giùm!!”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Đã giao thông tin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lang="en-US">
                <a:solidFill>
                  <a:schemeClr val="hlink"/>
                </a:solidFill>
              </a:rPr>
              <a:t>	</a:t>
            </a:r>
            <a:r>
              <a:rPr lang="en-US">
                <a:solidFill>
                  <a:schemeClr val="hlink"/>
                </a:solidFill>
              </a:rPr>
              <a:t>🡺 Giao luôn xử lý thông tin.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306" name="Google Shape;306;p1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1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pic>
        <p:nvPicPr>
          <p:cNvPr id="308" name="Google Shape;3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810000"/>
            <a:ext cx="2514600" cy="24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Tính đóng gói</a:t>
            </a:r>
            <a:endParaRPr/>
          </a:p>
        </p:txBody>
      </p:sp>
      <p:sp>
        <p:nvSpPr>
          <p:cNvPr id="314" name="Google Shape;314;p2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Luyện tập: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i="1" lang="en-US" sz="1800">
                <a:solidFill>
                  <a:srgbClr val="FFC000"/>
                </a:solidFill>
              </a:rPr>
              <a:t>	// Tính trọng tâm tam giác??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solidFill>
                  <a:srgbClr val="FFC000"/>
                </a:solidFill>
              </a:rPr>
              <a:t>	</a:t>
            </a:r>
            <a:r>
              <a:rPr lang="en-US" sz="1800"/>
              <a:t>class </a:t>
            </a:r>
            <a:r>
              <a:rPr b="1" lang="en-US" sz="1800">
                <a:solidFill>
                  <a:srgbClr val="FFC000"/>
                </a:solidFill>
              </a:rPr>
              <a:t>Diem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float	m_X;</a:t>
            </a:r>
            <a:br>
              <a:rPr lang="en-US" sz="1800"/>
            </a:br>
            <a:r>
              <a:rPr lang="en-US" sz="1800"/>
              <a:t>	float	m_Y;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};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</a:t>
            </a:r>
            <a:r>
              <a:rPr b="1" lang="en-US" sz="1800">
                <a:solidFill>
                  <a:srgbClr val="FFC000"/>
                </a:solidFill>
              </a:rPr>
              <a:t>TamGiac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Diem	m_A;</a:t>
            </a:r>
            <a:br>
              <a:rPr lang="en-US" sz="1800"/>
            </a:br>
            <a:r>
              <a:rPr lang="en-US" sz="1800"/>
              <a:t>	Diem	m_B;</a:t>
            </a:r>
            <a:br>
              <a:rPr lang="en-US" sz="1800"/>
            </a:br>
            <a:r>
              <a:rPr lang="en-US" sz="1800"/>
              <a:t>	Diem	m_C;</a:t>
            </a:r>
            <a:br>
              <a:rPr lang="en-US" sz="1800"/>
            </a:br>
            <a:r>
              <a:rPr lang="en-US" sz="1800"/>
              <a:t>};</a:t>
            </a:r>
            <a:endParaRPr/>
          </a:p>
        </p:txBody>
      </p:sp>
      <p:sp>
        <p:nvSpPr>
          <p:cNvPr id="315" name="Google Shape;315;p2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p2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4419600" y="1676400"/>
            <a:ext cx="4648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i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//  Xuất danh sách học sinh giỏi??</a:t>
            </a:r>
            <a:br>
              <a:rPr i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// (ĐTB &gt;= 8.0)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i="1" lang="en-US" sz="18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b="1" lang="en-US" sz="18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HocSinh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private: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char	*m_hoTen;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float	m_diemVan;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float	m_diemToan;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class </a:t>
            </a:r>
            <a:r>
              <a:rPr b="1" lang="en-US" sz="18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BangDiem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private: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vector&lt;HocSinh&gt;   m_danhSach;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8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2005-11-21T10:16:26Z</dcterms:created>
  <dc:creator>Nguyen Minh Huy</dc:creator>
</cp:coreProperties>
</file>