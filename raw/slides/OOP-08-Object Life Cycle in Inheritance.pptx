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4" r:id="rId15"/>
    <p:sldId id="273" r:id="rId16"/>
    <p:sldId id="259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2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1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1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3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839FD-8C21-4643-8770-E9E7B8B5C651}" type="slidenum">
              <a:rPr lang="en-US"/>
              <a:pPr/>
              <a:t>2</a:t>
            </a:fld>
            <a:endParaRPr lang="en-US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10BFB0-5CA8-42F4-AE3D-6EF9B7115556}" type="slidenum">
              <a:rPr lang="en-US"/>
              <a:pPr/>
              <a:t>3</a:t>
            </a:fld>
            <a:endParaRPr lang="en-US"/>
          </a:p>
        </p:txBody>
      </p:sp>
      <p:sp>
        <p:nvSpPr>
          <p:cNvPr id="32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DF3C4D-F3A5-40C4-9060-346710C54471}" type="slidenum">
              <a:rPr lang="en-US"/>
              <a:pPr/>
              <a:t>4</a:t>
            </a:fld>
            <a:endParaRPr lang="en-US"/>
          </a:p>
        </p:txBody>
      </p:sp>
      <p:sp>
        <p:nvSpPr>
          <p:cNvPr id="317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845521-0FE7-471B-A22C-27C952C58CCD}" type="slidenum">
              <a:rPr lang="en-US"/>
              <a:pPr/>
              <a:t>5</a:t>
            </a:fld>
            <a:endParaRPr lang="en-US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EA9C4A-CCA7-411F-8D85-E5EF6B28764A}" type="slidenum">
              <a:rPr lang="en-US"/>
              <a:pPr/>
              <a:t>6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0DBA9D-B750-40FB-BBB0-A0BFD663B032}" type="slidenum">
              <a:rPr lang="en-US"/>
              <a:pPr/>
              <a:t>7</a:t>
            </a:fld>
            <a:endParaRPr lang="en-US"/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811B58-655B-42E2-89B1-B7D399450640}" type="slidenum">
              <a:rPr lang="en-US"/>
              <a:pPr/>
              <a:t>8</a:t>
            </a:fld>
            <a:endParaRPr lang="en-US"/>
          </a:p>
        </p:txBody>
      </p:sp>
      <p:sp>
        <p:nvSpPr>
          <p:cNvPr id="327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88F58-1380-4C0F-954B-0481D696D743}" type="slidenum">
              <a:rPr lang="en-US"/>
              <a:pPr/>
              <a:t>9</a:t>
            </a:fld>
            <a:endParaRPr lang="en-US"/>
          </a:p>
        </p:txBody>
      </p:sp>
      <p:sp>
        <p:nvSpPr>
          <p:cNvPr id="34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52BEDE-DC52-4B8C-A935-F8366FAE5AA2}" type="slidenum">
              <a:rPr lang="en-US"/>
              <a:pPr/>
              <a:t>10</a:t>
            </a:fld>
            <a:endParaRPr lang="en-US"/>
          </a:p>
        </p:txBody>
      </p:sp>
      <p:sp>
        <p:nvSpPr>
          <p:cNvPr id="32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F2246F-547C-4647-90AE-B09BD047CB0A}" type="slidenum">
              <a:rPr lang="en-US"/>
              <a:pPr/>
              <a:t>11</a:t>
            </a:fld>
            <a:endParaRPr lang="en-US"/>
          </a:p>
        </p:txBody>
      </p:sp>
      <p:sp>
        <p:nvSpPr>
          <p:cNvPr id="32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A20AA7-F662-44DC-81A5-E00142DF8FA6}" type="slidenum">
              <a:rPr lang="en-US"/>
              <a:pPr/>
              <a:t>12</a:t>
            </a:fld>
            <a:endParaRPr lang="en-US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8C21F2-56C7-4228-AABF-BAC655E009F4}" type="slidenum">
              <a:rPr lang="en-US"/>
              <a:pPr/>
              <a:t>13</a:t>
            </a:fld>
            <a:endParaRPr lang="en-US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GV.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2"/>
            <a:r>
              <a:rPr lang="en-US" smtClean="0"/>
              <a:t>Second level</a:t>
            </a:r>
          </a:p>
          <a:p>
            <a:pPr lvl="3"/>
            <a:r>
              <a:rPr lang="en-US" smtClean="0"/>
              <a:t>Third level</a:t>
            </a:r>
          </a:p>
          <a:p>
            <a:pPr lvl="4"/>
            <a:r>
              <a:rPr lang="en-US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đời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F963C-EC4D-4415-BE26-492E8A11832D}" type="slidenum">
              <a:rPr lang="en-US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140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</a:t>
            </a:r>
          </a:p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</a:t>
            </a:r>
          </a:p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smtClean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6C5922-D428-4157-9E0D-42323CD6A986}" type="slidenum">
              <a:rPr lang="en-US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24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hlink"/>
                </a:solidFill>
              </a:rPr>
              <a:t>Khởi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tạo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trong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kế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thừa</a:t>
            </a:r>
            <a:r>
              <a:rPr lang="en-US" b="1" dirty="0">
                <a:solidFill>
                  <a:schemeClr val="hlink"/>
                </a:solidFill>
              </a:rPr>
              <a:t>.</a:t>
            </a:r>
          </a:p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</a:t>
            </a:r>
          </a:p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smtClean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5C551C-F6F2-4FEB-88CC-85D76C3535EE}" type="slidenum">
              <a:rPr lang="en-US"/>
              <a:pPr/>
              <a:t>4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16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</p:txBody>
      </p:sp>
      <p:pic>
        <p:nvPicPr>
          <p:cNvPr id="316421" name="Picture 5" descr="house_clipart_1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3824288"/>
            <a:ext cx="1665288" cy="1752600"/>
          </a:xfrm>
          <a:prstGeom prst="rect">
            <a:avLst/>
          </a:prstGeom>
          <a:noFill/>
        </p:spPr>
      </p:pic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381000" y="5653088"/>
            <a:ext cx="208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/>
              <a:t>Xây móng đến mái</a:t>
            </a:r>
          </a:p>
        </p:txBody>
      </p:sp>
      <p:sp>
        <p:nvSpPr>
          <p:cNvPr id="316423" name="AutoShape 7"/>
          <p:cNvSpPr>
            <a:spLocks noChangeArrowheads="1"/>
          </p:cNvSpPr>
          <p:nvPr/>
        </p:nvSpPr>
        <p:spPr bwMode="auto">
          <a:xfrm>
            <a:off x="3505200" y="5257800"/>
            <a:ext cx="1225550" cy="319088"/>
          </a:xfrm>
          <a:prstGeom prst="parallelogram">
            <a:avLst>
              <a:gd name="adj" fmla="val 96020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6424" name="Rectangle 8"/>
          <p:cNvSpPr>
            <a:spLocks noChangeArrowheads="1"/>
          </p:cNvSpPr>
          <p:nvPr/>
        </p:nvSpPr>
        <p:spPr bwMode="auto">
          <a:xfrm>
            <a:off x="3657600" y="4724400"/>
            <a:ext cx="996950" cy="395288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6425" name="Rectangle 9"/>
          <p:cNvSpPr>
            <a:spLocks noChangeArrowheads="1"/>
          </p:cNvSpPr>
          <p:nvPr/>
        </p:nvSpPr>
        <p:spPr bwMode="auto">
          <a:xfrm>
            <a:off x="3810000" y="3948113"/>
            <a:ext cx="692150" cy="623887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6426" name="Text Box 10"/>
          <p:cNvSpPr txBox="1">
            <a:spLocks noChangeArrowheads="1"/>
          </p:cNvSpPr>
          <p:nvPr/>
        </p:nvSpPr>
        <p:spPr bwMode="auto">
          <a:xfrm>
            <a:off x="2819400" y="5653088"/>
            <a:ext cx="2673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/>
              <a:t>Định nghĩa thấp đến cao</a:t>
            </a:r>
          </a:p>
        </p:txBody>
      </p:sp>
      <p:sp>
        <p:nvSpPr>
          <p:cNvPr id="316427" name="Rectangle 1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móng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mái</a:t>
            </a:r>
            <a:r>
              <a:rPr lang="en-US" dirty="0"/>
              <a:t>.</a:t>
            </a:r>
          </a:p>
          <a:p>
            <a:pPr lvl="2"/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pPr lvl="2"/>
            <a:r>
              <a:rPr lang="en-US" dirty="0" err="1">
                <a:sym typeface="Wingdings" pitchFamily="2" charset="2"/>
              </a:rPr>
              <a:t>Đối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tượng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kế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thừa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được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tạo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lập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từ</a:t>
            </a:r>
            <a:r>
              <a:rPr lang="en-US" dirty="0" smtClean="0">
                <a:sym typeface="Wingdings" pitchFamily="2" charset="2"/>
              </a:rPr>
              <a:t> “</a:t>
            </a:r>
            <a:r>
              <a:rPr lang="en-US" dirty="0" err="1" smtClean="0">
                <a:sym typeface="Wingdings" pitchFamily="2" charset="2"/>
              </a:rPr>
              <a:t>lõi</a:t>
            </a:r>
            <a:r>
              <a:rPr lang="en-US" dirty="0" smtClean="0">
                <a:sym typeface="Wingdings" pitchFamily="2" charset="2"/>
              </a:rPr>
              <a:t>” </a:t>
            </a:r>
            <a:r>
              <a:rPr lang="en-US" dirty="0" err="1" smtClean="0">
                <a:sym typeface="Wingdings" pitchFamily="2" charset="2"/>
              </a:rPr>
              <a:t>đến</a:t>
            </a:r>
            <a:r>
              <a:rPr lang="en-US" dirty="0" smtClean="0">
                <a:sym typeface="Wingdings" pitchFamily="2" charset="2"/>
              </a:rPr>
              <a:t> “</a:t>
            </a:r>
            <a:r>
              <a:rPr lang="en-US" dirty="0" err="1" smtClean="0">
                <a:sym typeface="Wingdings" pitchFamily="2" charset="2"/>
              </a:rPr>
              <a:t>vỏ</a:t>
            </a:r>
            <a:r>
              <a:rPr lang="en-US" dirty="0" smtClean="0">
                <a:sym typeface="Wingdings" pitchFamily="2" charset="2"/>
              </a:rPr>
              <a:t>”.</a:t>
            </a:r>
          </a:p>
          <a:p>
            <a:pPr lvl="2">
              <a:buNone/>
            </a:pP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	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Thành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phần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cơ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sở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được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tạo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trước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</a:endParaRPr>
          </a:p>
        </p:txBody>
      </p:sp>
      <p:sp>
        <p:nvSpPr>
          <p:cNvPr id="316431" name="AutoShape 15"/>
          <p:cNvSpPr>
            <a:spLocks noChangeArrowheads="1"/>
          </p:cNvSpPr>
          <p:nvPr/>
        </p:nvSpPr>
        <p:spPr bwMode="auto">
          <a:xfrm>
            <a:off x="6019800" y="3810000"/>
            <a:ext cx="2590800" cy="1828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800" b="1">
                <a:solidFill>
                  <a:srgbClr val="0000FF"/>
                </a:solidFill>
              </a:rPr>
              <a:t>Đối tượng kế thừa</a:t>
            </a:r>
            <a:endParaRPr lang="en-US" sz="200" b="1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0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>
                <a:solidFill>
                  <a:srgbClr val="0000FF"/>
                </a:solidFill>
              </a:rPr>
              <a:t>Thành phần mới</a:t>
            </a:r>
          </a:p>
        </p:txBody>
      </p:sp>
      <p:sp>
        <p:nvSpPr>
          <p:cNvPr id="316432" name="AutoShape 16"/>
          <p:cNvSpPr>
            <a:spLocks noChangeArrowheads="1"/>
          </p:cNvSpPr>
          <p:nvPr/>
        </p:nvSpPr>
        <p:spPr bwMode="auto">
          <a:xfrm>
            <a:off x="6248400" y="4267200"/>
            <a:ext cx="2133600" cy="914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800" b="1">
                <a:solidFill>
                  <a:srgbClr val="FF0000"/>
                </a:solidFill>
              </a:rPr>
              <a:t>Đối tượng cơ sở</a:t>
            </a:r>
            <a:endParaRPr lang="en-US" sz="200" b="1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900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>
                <a:solidFill>
                  <a:srgbClr val="FF0000"/>
                </a:solidFill>
              </a:rPr>
              <a:t>Thành phần cơ sở</a:t>
            </a:r>
          </a:p>
        </p:txBody>
      </p:sp>
      <p:sp>
        <p:nvSpPr>
          <p:cNvPr id="316433" name="Text Box 17"/>
          <p:cNvSpPr txBox="1">
            <a:spLocks noChangeArrowheads="1"/>
          </p:cNvSpPr>
          <p:nvPr/>
        </p:nvSpPr>
        <p:spPr bwMode="auto">
          <a:xfrm>
            <a:off x="6191250" y="5653088"/>
            <a:ext cx="2266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/>
              <a:t>Tạo lập từ lõi đến vỏ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6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6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6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6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6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6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2" grpId="0"/>
      <p:bldP spid="316423" grpId="0" animBg="1"/>
      <p:bldP spid="316424" grpId="0" animBg="1"/>
      <p:bldP spid="316425" grpId="0" animBg="1"/>
      <p:bldP spid="316426" grpId="0"/>
      <p:bldP spid="316431" grpId="0" animBg="1"/>
      <p:bldP spid="316432" grpId="0" animBg="1"/>
      <p:bldP spid="3164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CBF66-A5A3-4352-818F-3E9361C56614}" type="slidenum">
              <a:rPr lang="en-US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2856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ở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:</a:t>
            </a:r>
          </a:p>
          <a:p>
            <a:pPr lvl="2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.</a:t>
            </a:r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	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Khởi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tạo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phần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lõi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cơ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sở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</a:endParaRPr>
          </a:p>
          <a:p>
            <a:pPr lvl="2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.</a:t>
            </a:r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	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Khởi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tạo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phần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vỏ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mới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</a:endParaRPr>
          </a:p>
          <a:p>
            <a:pPr lvl="2"/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lựa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 smtClean="0"/>
              <a:t>.</a:t>
            </a:r>
          </a:p>
          <a:p>
            <a:pPr lvl="2">
              <a:buNone/>
            </a:pPr>
            <a:r>
              <a:rPr lang="en-US" b="1" dirty="0" smtClean="0">
                <a:solidFill>
                  <a:srgbClr val="FFC000"/>
                </a:solidFill>
              </a:rPr>
              <a:t>	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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Chỉ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định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phương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thức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khởi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tạo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lớp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cơ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sở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.</a:t>
            </a:r>
          </a:p>
          <a:p>
            <a:pPr lvl="2">
              <a:buNone/>
            </a:pP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	 </a:t>
            </a: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Kh</a:t>
            </a:r>
            <a:r>
              <a:rPr lang="en-US" b="1" dirty="0" err="1" smtClean="0">
                <a:solidFill>
                  <a:srgbClr val="FFC000"/>
                </a:solidFill>
              </a:rPr>
              <a:t>ông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chỉ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định</a:t>
            </a:r>
            <a:r>
              <a:rPr lang="en-US" b="1" dirty="0" smtClean="0">
                <a:solidFill>
                  <a:srgbClr val="FFC000"/>
                </a:solidFill>
              </a:rPr>
              <a:t>: </a:t>
            </a:r>
            <a:r>
              <a:rPr lang="en-US" b="1" dirty="0" err="1" smtClean="0">
                <a:solidFill>
                  <a:srgbClr val="FFC000"/>
                </a:solidFill>
              </a:rPr>
              <a:t>khởi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tạo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mặc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định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được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gọi</a:t>
            </a:r>
            <a:r>
              <a:rPr lang="en-US" b="1" dirty="0">
                <a:solidFill>
                  <a:srgbClr val="FFC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5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62A2DD-F743-485A-BB0E-DCEAE2EE3416}" type="slidenum">
              <a:rPr lang="en-US"/>
              <a:pPr/>
              <a:t>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271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sz="1800" dirty="0"/>
              <a:t>	class </a:t>
            </a:r>
            <a:r>
              <a:rPr lang="en-US" sz="1800" b="1" dirty="0" err="1" smtClean="0">
                <a:solidFill>
                  <a:srgbClr val="FFC000"/>
                </a:solidFill>
              </a:rPr>
              <a:t>GiaoVien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private:</a:t>
            </a:r>
            <a:br>
              <a:rPr lang="en-US" sz="1800" dirty="0" smtClean="0"/>
            </a:br>
            <a:r>
              <a:rPr lang="en-US" sz="1800" dirty="0" smtClean="0"/>
              <a:t>	char</a:t>
            </a:r>
            <a:r>
              <a:rPr lang="en-US" sz="1800" dirty="0"/>
              <a:t>	*</a:t>
            </a:r>
            <a:r>
              <a:rPr lang="en-US" sz="1800" dirty="0" err="1" smtClean="0"/>
              <a:t>m_hoTen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float</a:t>
            </a:r>
            <a:r>
              <a:rPr lang="en-US" sz="1800" dirty="0"/>
              <a:t>	</a:t>
            </a:r>
            <a:r>
              <a:rPr lang="en-US" sz="1800" dirty="0" err="1" smtClean="0"/>
              <a:t>m_mucLuong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/>
              <a:t>	</a:t>
            </a:r>
            <a:r>
              <a:rPr lang="en-US" sz="1800" dirty="0" err="1" smtClean="0"/>
              <a:t>m_ngayNghi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public: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GiaoVien</a:t>
            </a:r>
            <a:r>
              <a:rPr lang="en-US" sz="1800" b="1" dirty="0" smtClean="0">
                <a:solidFill>
                  <a:srgbClr val="FFC000"/>
                </a:solidFill>
              </a:rPr>
              <a:t>();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GiaoVien</a:t>
            </a:r>
            <a:r>
              <a:rPr lang="en-US" sz="1800" b="1" dirty="0" smtClean="0">
                <a:solidFill>
                  <a:srgbClr val="FFC000"/>
                </a:solidFill>
              </a:rPr>
              <a:t>(char  *</a:t>
            </a:r>
            <a:r>
              <a:rPr lang="en-US" sz="1800" b="1" dirty="0" err="1" smtClean="0">
                <a:solidFill>
                  <a:srgbClr val="FFC000"/>
                </a:solidFill>
              </a:rPr>
              <a:t>hoTen</a:t>
            </a:r>
            <a:r>
              <a:rPr lang="en-US" sz="1800" b="1" dirty="0" smtClean="0">
                <a:solidFill>
                  <a:srgbClr val="FFC000"/>
                </a:solidFill>
              </a:rPr>
              <a:t>,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	float  </a:t>
            </a:r>
            <a:r>
              <a:rPr lang="en-US" sz="1800" b="1" dirty="0" err="1" smtClean="0">
                <a:solidFill>
                  <a:srgbClr val="FFC000"/>
                </a:solidFill>
              </a:rPr>
              <a:t>mucLuong</a:t>
            </a:r>
            <a:r>
              <a:rPr lang="en-US" sz="1800" b="1" dirty="0" smtClean="0">
                <a:solidFill>
                  <a:srgbClr val="FFC000"/>
                </a:solidFill>
              </a:rPr>
              <a:t>,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	</a:t>
            </a:r>
            <a:r>
              <a:rPr lang="en-US" sz="1800" b="1" dirty="0" err="1" smtClean="0">
                <a:solidFill>
                  <a:srgbClr val="FFC000"/>
                </a:solidFill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</a:rPr>
              <a:t>  </a:t>
            </a:r>
            <a:r>
              <a:rPr lang="en-US" sz="1800" b="1" dirty="0" err="1" smtClean="0">
                <a:solidFill>
                  <a:srgbClr val="FFC000"/>
                </a:solidFill>
              </a:rPr>
              <a:t>ngayNghi</a:t>
            </a:r>
            <a:r>
              <a:rPr lang="en-US" sz="1800" b="1" dirty="0" smtClean="0">
                <a:solidFill>
                  <a:srgbClr val="FFC000"/>
                </a:solidFill>
              </a:rPr>
              <a:t>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};</a:t>
            </a:r>
            <a:endParaRPr lang="en-US" sz="1800" dirty="0"/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4648200" y="1752600"/>
            <a:ext cx="419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class </a:t>
            </a:r>
            <a:r>
              <a:rPr lang="en-US"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GVCN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: public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GiaoVien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private: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char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*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m_lopCN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public: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GVCN();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GVCN(char  *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lopCN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GVCN(char  *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hoTen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	float 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mucLuong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ngayNghi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	char  *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lopCN</a:t>
            </a:r>
            <a:r>
              <a:rPr lang="en-US" sz="1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);</a:t>
            </a:r>
          </a:p>
          <a:p>
            <a:pPr marL="342900" indent="-342900">
              <a:lnSpc>
                <a:spcPct val="9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58900-2263-4D50-AF22-B8352818D771}" type="slidenum">
              <a:rPr lang="en-US"/>
              <a:pPr/>
              <a:t>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45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sz="1800" dirty="0"/>
              <a:t>	GVCN::GVCN(char </a:t>
            </a:r>
            <a:r>
              <a:rPr lang="en-US" sz="1800" dirty="0" smtClean="0"/>
              <a:t> *</a:t>
            </a:r>
            <a:r>
              <a:rPr lang="en-US" sz="1800" dirty="0" err="1" smtClean="0"/>
              <a:t>lopCN</a:t>
            </a:r>
            <a:r>
              <a:rPr lang="en-US" sz="1800" dirty="0"/>
              <a:t>) </a:t>
            </a:r>
            <a:r>
              <a:rPr lang="en-US" sz="1800" b="1" i="1" dirty="0">
                <a:solidFill>
                  <a:schemeClr val="hlink"/>
                </a:solidFill>
              </a:rPr>
              <a:t>: </a:t>
            </a:r>
            <a:r>
              <a:rPr lang="en-US" sz="1800" b="1" i="1" dirty="0" err="1">
                <a:solidFill>
                  <a:schemeClr val="hlink"/>
                </a:solidFill>
              </a:rPr>
              <a:t>GiaoVien</a:t>
            </a:r>
            <a:r>
              <a:rPr lang="en-US" sz="1800" b="1" i="1" dirty="0">
                <a:solidFill>
                  <a:schemeClr val="hlink"/>
                </a:solidFill>
              </a:rPr>
              <a:t>(“Minh”, 500000, 0</a:t>
            </a:r>
            <a:r>
              <a:rPr lang="en-US" sz="1800" b="1" i="1" dirty="0" smtClean="0">
                <a:solidFill>
                  <a:schemeClr val="hlink"/>
                </a:solidFill>
              </a:rPr>
              <a:t>)</a:t>
            </a:r>
            <a:br>
              <a:rPr lang="en-US" sz="1800" b="1" i="1" dirty="0" smtClean="0">
                <a:solidFill>
                  <a:schemeClr val="hlink"/>
                </a:solidFill>
              </a:rPr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m_lopCN</a:t>
            </a:r>
            <a:r>
              <a:rPr lang="en-US" sz="1800" dirty="0" smtClean="0"/>
              <a:t> </a:t>
            </a:r>
            <a:r>
              <a:rPr lang="en-US" sz="1800" dirty="0"/>
              <a:t>= new </a:t>
            </a:r>
            <a:r>
              <a:rPr lang="en-US" sz="1800" dirty="0" smtClean="0"/>
              <a:t>char[</a:t>
            </a:r>
            <a:r>
              <a:rPr lang="en-US" sz="1800" dirty="0" err="1" smtClean="0"/>
              <a:t>strlen</a:t>
            </a:r>
            <a:r>
              <a:rPr lang="en-US" sz="1800" dirty="0" smtClean="0"/>
              <a:t>(</a:t>
            </a:r>
            <a:r>
              <a:rPr lang="en-US" sz="1800" dirty="0" err="1" smtClean="0"/>
              <a:t>lopCN</a:t>
            </a:r>
            <a:r>
              <a:rPr lang="en-US" sz="1800" dirty="0"/>
              <a:t>) + 1</a:t>
            </a:r>
            <a:r>
              <a:rPr lang="en-US" sz="1800" dirty="0" smtClean="0"/>
              <a:t>];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strcpy</a:t>
            </a:r>
            <a:r>
              <a:rPr lang="en-US" sz="1800" dirty="0" smtClean="0"/>
              <a:t>(</a:t>
            </a:r>
            <a:r>
              <a:rPr lang="en-US" sz="1800" dirty="0" err="1" smtClean="0"/>
              <a:t>m_lopCN</a:t>
            </a:r>
            <a:r>
              <a:rPr lang="en-US" sz="1800" dirty="0"/>
              <a:t>, </a:t>
            </a:r>
            <a:r>
              <a:rPr lang="en-US" sz="1800" dirty="0" err="1" smtClean="0"/>
              <a:t>lopCN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smtClean="0"/>
              <a:t>GVCN</a:t>
            </a:r>
            <a:r>
              <a:rPr lang="en-US" sz="1800" dirty="0"/>
              <a:t>::GVCN(char </a:t>
            </a:r>
            <a:r>
              <a:rPr lang="en-US" sz="1800" dirty="0" smtClean="0"/>
              <a:t> *</a:t>
            </a:r>
            <a:r>
              <a:rPr lang="en-US" sz="1800" dirty="0" err="1" smtClean="0"/>
              <a:t>hoTen</a:t>
            </a:r>
            <a:r>
              <a:rPr lang="en-US" sz="1800" dirty="0"/>
              <a:t>, float </a:t>
            </a:r>
            <a:r>
              <a:rPr lang="en-US" sz="1800" dirty="0" smtClean="0"/>
              <a:t> </a:t>
            </a:r>
            <a:r>
              <a:rPr lang="en-US" sz="1800" dirty="0" err="1" smtClean="0"/>
              <a:t>mucLuong</a:t>
            </a:r>
            <a:r>
              <a:rPr lang="en-US" sz="1800" dirty="0"/>
              <a:t>,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smtClean="0"/>
              <a:t> </a:t>
            </a:r>
            <a:r>
              <a:rPr lang="en-US" sz="1800" dirty="0" err="1" smtClean="0"/>
              <a:t>ngayNghi</a:t>
            </a:r>
            <a:r>
              <a:rPr lang="en-US" sz="1800" dirty="0" smtClean="0"/>
              <a:t>, char  *</a:t>
            </a:r>
            <a:r>
              <a:rPr lang="en-US" sz="1800" dirty="0" err="1" smtClean="0"/>
              <a:t>lopCN</a:t>
            </a:r>
            <a:r>
              <a:rPr lang="en-US" sz="1800" dirty="0" smtClean="0"/>
              <a:t>)</a:t>
            </a:r>
            <a:r>
              <a:rPr lang="en-US" sz="1800" b="1" i="1" dirty="0" smtClean="0">
                <a:solidFill>
                  <a:schemeClr val="hlink"/>
                </a:solidFill>
              </a:rPr>
              <a:t>	</a:t>
            </a:r>
            <a:br>
              <a:rPr lang="en-US" sz="1800" b="1" i="1" dirty="0" smtClean="0">
                <a:solidFill>
                  <a:schemeClr val="hlink"/>
                </a:solidFill>
              </a:rPr>
            </a:br>
            <a:r>
              <a:rPr lang="en-US" sz="1800" b="1" i="1" dirty="0" smtClean="0">
                <a:solidFill>
                  <a:schemeClr val="hlink"/>
                </a:solidFill>
              </a:rPr>
              <a:t>			: </a:t>
            </a:r>
            <a:r>
              <a:rPr lang="en-US" sz="1800" b="1" i="1" dirty="0" err="1" smtClean="0">
                <a:solidFill>
                  <a:schemeClr val="hlink"/>
                </a:solidFill>
              </a:rPr>
              <a:t>GiaoVien</a:t>
            </a:r>
            <a:r>
              <a:rPr lang="en-US" sz="1800" b="1" i="1" dirty="0" smtClean="0">
                <a:solidFill>
                  <a:schemeClr val="hlink"/>
                </a:solidFill>
              </a:rPr>
              <a:t>(</a:t>
            </a:r>
            <a:r>
              <a:rPr lang="en-US" sz="1800" b="1" i="1" dirty="0" err="1" smtClean="0">
                <a:solidFill>
                  <a:schemeClr val="hlink"/>
                </a:solidFill>
              </a:rPr>
              <a:t>hoTen</a:t>
            </a:r>
            <a:r>
              <a:rPr lang="en-US" sz="1800" b="1" i="1" dirty="0">
                <a:solidFill>
                  <a:schemeClr val="hlink"/>
                </a:solidFill>
              </a:rPr>
              <a:t>, </a:t>
            </a:r>
            <a:r>
              <a:rPr lang="en-US" sz="1800" b="1" i="1" dirty="0" err="1" smtClean="0">
                <a:solidFill>
                  <a:schemeClr val="hlink"/>
                </a:solidFill>
              </a:rPr>
              <a:t>mucLuong</a:t>
            </a:r>
            <a:r>
              <a:rPr lang="en-US" sz="1800" b="1" i="1" dirty="0">
                <a:solidFill>
                  <a:schemeClr val="hlink"/>
                </a:solidFill>
              </a:rPr>
              <a:t>, </a:t>
            </a:r>
            <a:r>
              <a:rPr lang="en-US" sz="1800" b="1" i="1" dirty="0" err="1" smtClean="0">
                <a:solidFill>
                  <a:schemeClr val="hlink"/>
                </a:solidFill>
              </a:rPr>
              <a:t>ngayNghi</a:t>
            </a:r>
            <a:r>
              <a:rPr lang="en-US" sz="1800" b="1" i="1" dirty="0" smtClean="0">
                <a:solidFill>
                  <a:schemeClr val="hlink"/>
                </a:solidFill>
              </a:rPr>
              <a:t>)</a:t>
            </a:r>
            <a:br>
              <a:rPr lang="en-US" sz="1800" b="1" i="1" dirty="0" smtClean="0">
                <a:solidFill>
                  <a:schemeClr val="hlink"/>
                </a:solidFill>
              </a:rPr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m_lopCN</a:t>
            </a:r>
            <a:r>
              <a:rPr lang="en-US" sz="1800" dirty="0" smtClean="0"/>
              <a:t> </a:t>
            </a:r>
            <a:r>
              <a:rPr lang="en-US" sz="1800" dirty="0"/>
              <a:t>= new </a:t>
            </a:r>
            <a:r>
              <a:rPr lang="en-US" sz="1800" dirty="0" smtClean="0"/>
              <a:t>char[</a:t>
            </a:r>
            <a:r>
              <a:rPr lang="en-US" sz="1800" dirty="0" err="1" smtClean="0"/>
              <a:t>strlen</a:t>
            </a:r>
            <a:r>
              <a:rPr lang="en-US" sz="1800" dirty="0" smtClean="0"/>
              <a:t>(</a:t>
            </a:r>
            <a:r>
              <a:rPr lang="en-US" sz="1800" dirty="0" err="1" smtClean="0"/>
              <a:t>lopCN</a:t>
            </a:r>
            <a:r>
              <a:rPr lang="en-US" sz="1800" dirty="0"/>
              <a:t>) + 1</a:t>
            </a:r>
            <a:r>
              <a:rPr lang="en-US" sz="1800" dirty="0" smtClean="0"/>
              <a:t>];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strcpy</a:t>
            </a:r>
            <a:r>
              <a:rPr lang="en-US" sz="1800" dirty="0" smtClean="0"/>
              <a:t>(</a:t>
            </a:r>
            <a:r>
              <a:rPr lang="en-US" sz="1800" dirty="0" err="1" smtClean="0"/>
              <a:t>m_lopCN</a:t>
            </a:r>
            <a:r>
              <a:rPr lang="en-US" sz="1800" dirty="0"/>
              <a:t>, </a:t>
            </a:r>
            <a:r>
              <a:rPr lang="en-US" sz="1800" dirty="0" err="1" smtClean="0"/>
              <a:t>lopCN</a:t>
            </a:r>
            <a:r>
              <a:rPr lang="en-US" sz="1800" dirty="0" smtClean="0"/>
              <a:t>);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smtClean="0"/>
              <a:t>GVCN</a:t>
            </a:r>
            <a:r>
              <a:rPr lang="en-US" sz="1800" dirty="0"/>
              <a:t>::GVCN</a:t>
            </a:r>
            <a:r>
              <a:rPr lang="en-US" sz="1800" dirty="0" smtClean="0"/>
              <a:t>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45092" name="AutoShape 4"/>
          <p:cNvSpPr>
            <a:spLocks noChangeArrowheads="1"/>
          </p:cNvSpPr>
          <p:nvPr/>
        </p:nvSpPr>
        <p:spPr bwMode="auto">
          <a:xfrm>
            <a:off x="3124200" y="4724400"/>
            <a:ext cx="3810000" cy="762000"/>
          </a:xfrm>
          <a:prstGeom prst="wedgeRoundRectCallout">
            <a:avLst>
              <a:gd name="adj1" fmla="val -67875"/>
              <a:gd name="adj2" fmla="val -24375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1">
                <a:solidFill>
                  <a:srgbClr val="0000FF"/>
                </a:solidFill>
              </a:rPr>
              <a:t>GiaoVien() được gọi trước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1046E-21A2-40BA-A742-9F0987D2EF59}" type="slidenum">
              <a:rPr lang="en-US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26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.</a:t>
            </a:r>
          </a:p>
          <a:p>
            <a:r>
              <a:rPr lang="en-US" b="1" dirty="0" err="1" smtClean="0">
                <a:solidFill>
                  <a:schemeClr val="hlink"/>
                </a:solidFill>
              </a:rPr>
              <a:t>Hủy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trong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kế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thừa</a:t>
            </a:r>
            <a:r>
              <a:rPr lang="en-US" b="1" dirty="0">
                <a:solidFill>
                  <a:schemeClr val="hlink"/>
                </a:solidFill>
              </a:rPr>
              <a:t>.</a:t>
            </a:r>
          </a:p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smtClean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618C4-E006-4629-AAB6-ACDAF982F766}" type="slidenum">
              <a:rPr lang="en-US"/>
              <a:pPr/>
              <a:t>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47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.</a:t>
            </a:r>
          </a:p>
          <a:p>
            <a:pPr lvl="2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.</a:t>
            </a:r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	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Hủy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phần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vỏ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bên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ngoài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  <a:sym typeface="Wingdings" pitchFamily="2" charset="2"/>
            </a:endParaRPr>
          </a:p>
          <a:p>
            <a:pPr lvl="2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.</a:t>
            </a:r>
          </a:p>
          <a:p>
            <a:pPr lvl="2"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Hủy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phần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lõi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cơ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sở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  <a:sym typeface="Wingdings" pitchFamily="2" charset="2"/>
            </a:endParaRPr>
          </a:p>
          <a:p>
            <a:pPr lvl="2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hủy</a:t>
            </a:r>
            <a:endParaRPr lang="en-US" dirty="0"/>
          </a:p>
          <a:p>
            <a:pPr lvl="2">
              <a:buFont typeface="Wingdings" pitchFamily="2" charset="2"/>
              <a:buNone/>
            </a:pPr>
            <a:r>
              <a:rPr lang="en-US" b="1" dirty="0">
                <a:solidFill>
                  <a:schemeClr val="hlink"/>
                </a:solidFill>
              </a:rPr>
              <a:t>	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Lớp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kế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thừa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không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cần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/>
            </a:r>
            <a:b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</a:b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chỉ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định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cách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hủy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lớp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  <a:sym typeface="Wingdings" pitchFamily="2" charset="2"/>
              </a:rPr>
              <a:t>cơ</a:t>
            </a:r>
            <a:r>
              <a:rPr lang="en-US" b="1" dirty="0" smtClean="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b="1" dirty="0" err="1">
                <a:solidFill>
                  <a:schemeClr val="hlink"/>
                </a:solidFill>
                <a:sym typeface="Wingdings" pitchFamily="2" charset="2"/>
              </a:rPr>
              <a:t>sở</a:t>
            </a:r>
            <a:r>
              <a:rPr lang="en-US" b="1" dirty="0">
                <a:solidFill>
                  <a:schemeClr val="hlink"/>
                </a:solidFill>
                <a:sym typeface="Wingdings" pitchFamily="2" charset="2"/>
              </a:rPr>
              <a:t>.</a:t>
            </a:r>
            <a:endParaRPr lang="en-US" b="1" dirty="0">
              <a:solidFill>
                <a:schemeClr val="hlink"/>
              </a:solidFill>
            </a:endParaRPr>
          </a:p>
        </p:txBody>
      </p:sp>
      <p:sp>
        <p:nvSpPr>
          <p:cNvPr id="347140" name="AutoShape 4"/>
          <p:cNvSpPr>
            <a:spLocks noChangeArrowheads="1"/>
          </p:cNvSpPr>
          <p:nvPr/>
        </p:nvSpPr>
        <p:spPr bwMode="auto">
          <a:xfrm>
            <a:off x="6096000" y="4038600"/>
            <a:ext cx="2590800" cy="18288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800" b="1">
                <a:solidFill>
                  <a:srgbClr val="0000FF"/>
                </a:solidFill>
              </a:rPr>
              <a:t>Đối tượng kế thừa</a:t>
            </a:r>
            <a:endParaRPr lang="en-US" sz="200" b="1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6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1000">
              <a:solidFill>
                <a:srgbClr val="0000FF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>
                <a:solidFill>
                  <a:srgbClr val="0000FF"/>
                </a:solidFill>
              </a:rPr>
              <a:t>Thành phần mới</a:t>
            </a:r>
          </a:p>
        </p:txBody>
      </p:sp>
      <p:sp>
        <p:nvSpPr>
          <p:cNvPr id="347141" name="AutoShape 5"/>
          <p:cNvSpPr>
            <a:spLocks noChangeArrowheads="1"/>
          </p:cNvSpPr>
          <p:nvPr/>
        </p:nvSpPr>
        <p:spPr bwMode="auto">
          <a:xfrm>
            <a:off x="6324600" y="4495800"/>
            <a:ext cx="2133600" cy="9144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800" b="1">
                <a:solidFill>
                  <a:srgbClr val="FF0000"/>
                </a:solidFill>
              </a:rPr>
              <a:t>Đối tượng cơ sở</a:t>
            </a:r>
            <a:endParaRPr lang="en-US" sz="200" b="1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endParaRPr lang="en-US" sz="900">
              <a:solidFill>
                <a:srgbClr val="FF0000"/>
              </a:solidFill>
            </a:endParaRPr>
          </a:p>
          <a:p>
            <a:pPr defTabSz="457200">
              <a:buClr>
                <a:schemeClr val="bg2"/>
              </a:buClr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>
                <a:solidFill>
                  <a:srgbClr val="FF0000"/>
                </a:solidFill>
              </a:rPr>
              <a:t>Thành phần cơ sở</a:t>
            </a:r>
          </a:p>
        </p:txBody>
      </p:sp>
      <p:sp>
        <p:nvSpPr>
          <p:cNvPr id="347142" name="Text Box 6"/>
          <p:cNvSpPr txBox="1">
            <a:spLocks noChangeArrowheads="1"/>
          </p:cNvSpPr>
          <p:nvPr/>
        </p:nvSpPr>
        <p:spPr bwMode="auto">
          <a:xfrm>
            <a:off x="6400800" y="5881688"/>
            <a:ext cx="191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1800"/>
              <a:t>Hủy từ vỏ đến lõi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7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7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7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7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47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7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47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0" grpId="0" animBg="1"/>
      <p:bldP spid="347141" grpId="0" animBg="1"/>
      <p:bldP spid="3471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C343B-F6C3-4FAB-B7EF-A7708FA575BD}" type="slidenum">
              <a:rPr lang="en-US"/>
              <a:pPr/>
              <a:t>10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225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sz="1800" dirty="0"/>
              <a:t>	</a:t>
            </a:r>
            <a:r>
              <a:rPr lang="en-US" sz="1800" dirty="0" err="1"/>
              <a:t>GiaoVien</a:t>
            </a:r>
            <a:r>
              <a:rPr lang="en-US" sz="1800" dirty="0"/>
              <a:t>::~</a:t>
            </a:r>
            <a:r>
              <a:rPr lang="en-US" sz="1800" dirty="0" err="1"/>
              <a:t>GiaoVien</a:t>
            </a:r>
            <a:r>
              <a:rPr lang="en-US" sz="1800" dirty="0" smtClean="0"/>
              <a:t>()</a:t>
            </a:r>
            <a:r>
              <a:rPr lang="en-US" sz="1800" b="1" i="1" dirty="0" smtClean="0">
                <a:solidFill>
                  <a:schemeClr val="hlink"/>
                </a:solidFill>
              </a:rPr>
              <a:t/>
            </a:r>
            <a:br>
              <a:rPr lang="en-US" sz="1800" b="1" i="1" dirty="0" smtClean="0">
                <a:solidFill>
                  <a:schemeClr val="hlink"/>
                </a:solidFill>
              </a:rPr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delete </a:t>
            </a:r>
            <a:r>
              <a:rPr lang="en-US" sz="1800" dirty="0" err="1" smtClean="0"/>
              <a:t>m_hoTen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GVCN</a:t>
            </a:r>
            <a:r>
              <a:rPr lang="en-US" sz="1800" dirty="0"/>
              <a:t>::~GVCN</a:t>
            </a:r>
            <a:r>
              <a:rPr lang="en-US" sz="1800" dirty="0" smtClean="0"/>
              <a:t>()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delete </a:t>
            </a:r>
            <a:r>
              <a:rPr lang="en-US" sz="1800" dirty="0" err="1" smtClean="0"/>
              <a:t>m_lopCN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322564" name="AutoShape 4"/>
          <p:cNvSpPr>
            <a:spLocks noChangeArrowheads="1"/>
          </p:cNvSpPr>
          <p:nvPr/>
        </p:nvSpPr>
        <p:spPr bwMode="auto">
          <a:xfrm>
            <a:off x="4038600" y="3048000"/>
            <a:ext cx="3429000" cy="762000"/>
          </a:xfrm>
          <a:prstGeom prst="wedgeRoundRectCallout">
            <a:avLst>
              <a:gd name="adj1" fmla="val -69861"/>
              <a:gd name="adj2" fmla="val -24375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1">
                <a:solidFill>
                  <a:srgbClr val="0000FF"/>
                </a:solidFill>
              </a:rPr>
              <a:t>~GVCN() được gọi trước</a:t>
            </a:r>
          </a:p>
        </p:txBody>
      </p:sp>
      <p:sp>
        <p:nvSpPr>
          <p:cNvPr id="322565" name="AutoShape 5"/>
          <p:cNvSpPr>
            <a:spLocks noChangeArrowheads="1"/>
          </p:cNvSpPr>
          <p:nvPr/>
        </p:nvSpPr>
        <p:spPr bwMode="auto">
          <a:xfrm>
            <a:off x="4038600" y="1676400"/>
            <a:ext cx="3429000" cy="762000"/>
          </a:xfrm>
          <a:prstGeom prst="wedgeRoundRectCallout">
            <a:avLst>
              <a:gd name="adj1" fmla="val -69861"/>
              <a:gd name="adj2" fmla="val -24375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1" dirty="0" smtClean="0">
                <a:solidFill>
                  <a:srgbClr val="0000FF"/>
                </a:solidFill>
              </a:rPr>
              <a:t>~</a:t>
            </a:r>
            <a:r>
              <a:rPr lang="en-US" sz="2000" b="1" dirty="0" err="1" smtClean="0">
                <a:solidFill>
                  <a:srgbClr val="0000FF"/>
                </a:solidFill>
              </a:rPr>
              <a:t>GiaoVien</a:t>
            </a:r>
            <a:r>
              <a:rPr lang="en-US" sz="2000" b="1" dirty="0">
                <a:solidFill>
                  <a:srgbClr val="0000FF"/>
                </a:solidFill>
              </a:rPr>
              <a:t>() </a:t>
            </a:r>
            <a:r>
              <a:rPr lang="en-US" sz="2000" b="1" dirty="0" err="1">
                <a:solidFill>
                  <a:srgbClr val="0000FF"/>
                </a:solidFill>
              </a:rPr>
              <a:t>được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gọi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r>
              <a:rPr lang="en-US" sz="2000" b="1" dirty="0" err="1">
                <a:solidFill>
                  <a:srgbClr val="0000FF"/>
                </a:solidFill>
              </a:rPr>
              <a:t>sau</a:t>
            </a:r>
            <a:endParaRPr lang="en-US" sz="20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 animBg="1"/>
      <p:bldP spid="3225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5C839-1A23-42E0-A773-2C0ACCC2D8C9}" type="slidenum">
              <a:rPr lang="en-US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287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</a:t>
            </a:r>
          </a:p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</a:t>
            </a:r>
          </a:p>
          <a:p>
            <a:r>
              <a:rPr lang="en-US" b="1" dirty="0" err="1" smtClean="0">
                <a:solidFill>
                  <a:schemeClr val="hlink"/>
                </a:solidFill>
              </a:rPr>
              <a:t>Vấn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đề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smtClean="0">
                <a:solidFill>
                  <a:schemeClr val="hlink"/>
                </a:solidFill>
              </a:rPr>
              <a:t>con </a:t>
            </a:r>
            <a:r>
              <a:rPr lang="en-US" b="1" dirty="0" err="1">
                <a:solidFill>
                  <a:schemeClr val="hlink"/>
                </a:solidFill>
              </a:rPr>
              <a:t>trỏ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trong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kế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thừa</a:t>
            </a:r>
            <a:r>
              <a:rPr lang="en-US" b="1" dirty="0" smtClean="0">
                <a:solidFill>
                  <a:schemeClr val="hlink"/>
                </a:solidFill>
              </a:rPr>
              <a:t>.</a:t>
            </a:r>
            <a:endParaRPr lang="en-US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FC7F3A-7C4C-45AB-AAB7-D6BE07B382EB}" type="slidenum">
              <a:rPr lang="en-US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“</a:t>
            </a:r>
            <a:r>
              <a:rPr lang="en-US" b="1" dirty="0" err="1" smtClean="0">
                <a:solidFill>
                  <a:srgbClr val="FFC000"/>
                </a:solidFill>
              </a:rPr>
              <a:t>ba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ông</a:t>
            </a:r>
            <a:r>
              <a:rPr lang="en-US" b="1" dirty="0" smtClean="0">
                <a:solidFill>
                  <a:srgbClr val="FFC000"/>
                </a:solidFill>
              </a:rPr>
              <a:t> </a:t>
            </a:r>
            <a:r>
              <a:rPr lang="en-US" b="1" dirty="0" err="1" smtClean="0">
                <a:solidFill>
                  <a:srgbClr val="FFC000"/>
                </a:solidFill>
              </a:rPr>
              <a:t>lớn</a:t>
            </a:r>
            <a:r>
              <a:rPr lang="en-US" b="1" dirty="0" smtClean="0">
                <a:solidFill>
                  <a:srgbClr val="FFC000"/>
                </a:solidFill>
              </a:rPr>
              <a:t>”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(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):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minh </a:t>
            </a:r>
            <a:r>
              <a:rPr lang="en-US" b="1" dirty="0">
                <a:solidFill>
                  <a:srgbClr val="FFC000"/>
                </a:solidFill>
              </a:rPr>
              <a:t>“</a:t>
            </a:r>
            <a:r>
              <a:rPr lang="en-US" b="1" dirty="0" err="1">
                <a:solidFill>
                  <a:srgbClr val="FFC000"/>
                </a:solidFill>
              </a:rPr>
              <a:t>ba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ông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 err="1">
                <a:solidFill>
                  <a:srgbClr val="FFC000"/>
                </a:solidFill>
              </a:rPr>
              <a:t>lớn</a:t>
            </a:r>
            <a:r>
              <a:rPr lang="en-US" b="1" dirty="0">
                <a:solidFill>
                  <a:srgbClr val="FFC000"/>
                </a:solidFill>
              </a:rPr>
              <a:t>”</a:t>
            </a:r>
            <a:r>
              <a:rPr lang="en-US" dirty="0"/>
              <a:t>:</a:t>
            </a:r>
          </a:p>
          <a:p>
            <a:pPr lvl="3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hủy</a:t>
            </a:r>
            <a:r>
              <a:rPr lang="en-US" dirty="0" smtClean="0"/>
              <a:t>.</a:t>
            </a:r>
            <a:endParaRPr lang="en-US" dirty="0"/>
          </a:p>
          <a:p>
            <a:pPr lvl="3"/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.</a:t>
            </a:r>
            <a:endParaRPr lang="en-US" dirty="0"/>
          </a:p>
          <a:p>
            <a:pPr lvl="3"/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.</a:t>
            </a:r>
          </a:p>
          <a:p>
            <a:pPr lvl="2"/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?</a:t>
            </a:r>
          </a:p>
        </p:txBody>
      </p:sp>
      <p:sp>
        <p:nvSpPr>
          <p:cNvPr id="283652" name="Rectangle 4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/>
              <a:t>đề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3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D724-B59E-4122-A802-89DA6C1647BF}" type="slidenum">
              <a:rPr lang="en-US"/>
              <a:pPr/>
              <a:t>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3532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Dr. Guru </a:t>
            </a:r>
            <a:r>
              <a:rPr lang="en-US" dirty="0" err="1"/>
              <a:t>khuyên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b="1" dirty="0">
                <a:solidFill>
                  <a:schemeClr val="hlink"/>
                </a:solidFill>
              </a:rPr>
              <a:t>	(</a:t>
            </a:r>
            <a:r>
              <a:rPr lang="en-US" b="1" dirty="0" err="1">
                <a:solidFill>
                  <a:schemeClr val="hlink"/>
                </a:solidFill>
              </a:rPr>
              <a:t>Luật</a:t>
            </a:r>
            <a:r>
              <a:rPr lang="en-US" b="1" dirty="0">
                <a:solidFill>
                  <a:schemeClr val="hlink"/>
                </a:solidFill>
              </a:rPr>
              <a:t> “</a:t>
            </a:r>
            <a:r>
              <a:rPr lang="en-US" b="1" dirty="0" err="1">
                <a:solidFill>
                  <a:schemeClr val="hlink"/>
                </a:solidFill>
              </a:rPr>
              <a:t>ba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ông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lớn</a:t>
            </a:r>
            <a:r>
              <a:rPr lang="en-US" b="1" dirty="0">
                <a:solidFill>
                  <a:schemeClr val="hlink"/>
                </a:solidFill>
              </a:rPr>
              <a:t>” </a:t>
            </a:r>
            <a:r>
              <a:rPr lang="en-US" b="1" dirty="0" err="1">
                <a:solidFill>
                  <a:schemeClr val="hlink"/>
                </a:solidFill>
              </a:rPr>
              <a:t>trong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kế</a:t>
            </a:r>
            <a:r>
              <a:rPr lang="en-US" b="1" dirty="0">
                <a:solidFill>
                  <a:schemeClr val="hlink"/>
                </a:solidFill>
              </a:rPr>
              <a:t> </a:t>
            </a:r>
            <a:r>
              <a:rPr lang="en-US" b="1" dirty="0" err="1">
                <a:solidFill>
                  <a:schemeClr val="hlink"/>
                </a:solidFill>
              </a:rPr>
              <a:t>thừa</a:t>
            </a:r>
            <a:r>
              <a:rPr lang="en-US" b="1" dirty="0">
                <a:solidFill>
                  <a:schemeClr val="hlink"/>
                </a:solidFill>
              </a:rPr>
              <a:t>)</a:t>
            </a:r>
          </a:p>
          <a:p>
            <a:pPr lvl="2"/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(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):</a:t>
            </a:r>
          </a:p>
          <a:p>
            <a:pPr lvl="3"/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“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ông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”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.</a:t>
            </a:r>
            <a:endParaRPr lang="en-US" dirty="0"/>
          </a:p>
          <a:p>
            <a:pPr lvl="3"/>
            <a:r>
              <a:rPr lang="en-US" b="1" dirty="0" smtClean="0">
                <a:solidFill>
                  <a:schemeClr val="hlink"/>
                </a:solidFill>
              </a:rPr>
              <a:t>“</a:t>
            </a:r>
            <a:r>
              <a:rPr lang="en-US" b="1" dirty="0" err="1" smtClean="0">
                <a:solidFill>
                  <a:schemeClr val="hlink"/>
                </a:solidFill>
              </a:rPr>
              <a:t>Ông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lớn</a:t>
            </a:r>
            <a:r>
              <a:rPr lang="en-US" b="1" dirty="0" smtClean="0">
                <a:solidFill>
                  <a:schemeClr val="hlink"/>
                </a:solidFill>
              </a:rPr>
              <a:t>” </a:t>
            </a:r>
            <a:r>
              <a:rPr lang="en-US" b="1" dirty="0" err="1" smtClean="0">
                <a:solidFill>
                  <a:schemeClr val="hlink"/>
                </a:solidFill>
              </a:rPr>
              <a:t>lớp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kế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thừa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kích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hoạt</a:t>
            </a:r>
            <a:r>
              <a:rPr lang="en-US" b="1" dirty="0" smtClean="0">
                <a:solidFill>
                  <a:schemeClr val="hlink"/>
                </a:solidFill>
              </a:rPr>
              <a:t> “</a:t>
            </a:r>
            <a:r>
              <a:rPr lang="en-US" b="1" dirty="0" err="1" smtClean="0">
                <a:solidFill>
                  <a:schemeClr val="hlink"/>
                </a:solidFill>
              </a:rPr>
              <a:t>ông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lớn</a:t>
            </a:r>
            <a:r>
              <a:rPr lang="en-US" b="1" dirty="0" smtClean="0">
                <a:solidFill>
                  <a:schemeClr val="hlink"/>
                </a:solidFill>
              </a:rPr>
              <a:t>” </a:t>
            </a:r>
            <a:r>
              <a:rPr lang="en-US" b="1" dirty="0" err="1" smtClean="0">
                <a:solidFill>
                  <a:schemeClr val="hlink"/>
                </a:solidFill>
              </a:rPr>
              <a:t>lớp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cơ</a:t>
            </a:r>
            <a:r>
              <a:rPr lang="en-US" b="1" dirty="0" smtClean="0">
                <a:solidFill>
                  <a:schemeClr val="hlink"/>
                </a:solidFill>
              </a:rPr>
              <a:t> </a:t>
            </a:r>
            <a:r>
              <a:rPr lang="en-US" b="1" dirty="0" err="1" smtClean="0">
                <a:solidFill>
                  <a:schemeClr val="hlink"/>
                </a:solidFill>
              </a:rPr>
              <a:t>sở</a:t>
            </a:r>
            <a:r>
              <a:rPr lang="en-US" b="1" dirty="0" smtClean="0">
                <a:solidFill>
                  <a:schemeClr val="hlink"/>
                </a:solidFill>
              </a:rPr>
              <a:t>.</a:t>
            </a:r>
          </a:p>
        </p:txBody>
      </p:sp>
      <p:pic>
        <p:nvPicPr>
          <p:cNvPr id="35328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00800" y="3810000"/>
            <a:ext cx="2514600" cy="2498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3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sz="1800" dirty="0" smtClean="0"/>
              <a:t>	class A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public:</a:t>
            </a:r>
            <a:br>
              <a:rPr lang="en-US" sz="1800" dirty="0" smtClean="0"/>
            </a:br>
            <a:r>
              <a:rPr lang="en-US" sz="1800" dirty="0" smtClean="0"/>
              <a:t>	A(const A &amp;a);</a:t>
            </a:r>
            <a:br>
              <a:rPr lang="en-US" sz="1800" dirty="0" smtClean="0"/>
            </a:br>
            <a:r>
              <a:rPr lang="en-US" sz="1800" dirty="0" smtClean="0"/>
              <a:t>	A&amp; operator =(const A &amp;a);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virtual</a:t>
            </a:r>
            <a:r>
              <a:rPr lang="en-US" sz="1800" dirty="0" smtClean="0"/>
              <a:t> ~A();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dirty="0" smtClean="0"/>
              <a:t>	class </a:t>
            </a:r>
            <a:r>
              <a:rPr lang="en-US" sz="1800" b="1" dirty="0" smtClean="0">
                <a:solidFill>
                  <a:srgbClr val="FFC000"/>
                </a:solidFill>
              </a:rPr>
              <a:t>B</a:t>
            </a:r>
            <a:r>
              <a:rPr lang="en-US" sz="1800" dirty="0" smtClean="0"/>
              <a:t>: public </a:t>
            </a:r>
            <a:r>
              <a:rPr lang="en-US" sz="1800" b="1" dirty="0" smtClean="0">
                <a:solidFill>
                  <a:srgbClr val="FFC000"/>
                </a:solidFill>
              </a:rPr>
              <a:t>A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public: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b="1" dirty="0" smtClean="0">
                <a:solidFill>
                  <a:srgbClr val="FFC000"/>
                </a:solidFill>
              </a:rPr>
              <a:t>B(const B &amp;b);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B&amp; operator =(const B &amp;b);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b="1" dirty="0" smtClean="0">
                <a:solidFill>
                  <a:srgbClr val="FFC000"/>
                </a:solidFill>
              </a:rPr>
              <a:t>	~B();</a:t>
            </a:r>
            <a:br>
              <a:rPr lang="en-US" sz="1800" b="1" dirty="0" smtClean="0">
                <a:solidFill>
                  <a:srgbClr val="FFC000"/>
                </a:solidFill>
              </a:rPr>
            </a:br>
            <a:r>
              <a:rPr lang="en-US" sz="1800" dirty="0" smtClean="0"/>
              <a:t>};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76800" y="1712025"/>
            <a:ext cx="419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B::B(const B &amp;b)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A(b)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//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Cài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đặt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khởi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tạo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sao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chép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B.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B&amp; operator =(const B &amp;b)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A::operator =(b);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//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Cài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đặt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toán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tử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B.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~B()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Tự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động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gọi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~A().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//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Cài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đặt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hủy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B.</a:t>
            </a:r>
            <a:b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133600" y="1752600"/>
            <a:ext cx="2743200" cy="533400"/>
          </a:xfrm>
          <a:prstGeom prst="wedgeRoundRectCallout">
            <a:avLst>
              <a:gd name="adj1" fmla="val -42938"/>
              <a:gd name="adj2" fmla="val 96504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“</a:t>
            </a:r>
            <a:r>
              <a:rPr lang="en-US" sz="1800" b="1" dirty="0" err="1" smtClean="0">
                <a:solidFill>
                  <a:srgbClr val="0000FF"/>
                </a:solidFill>
              </a:rPr>
              <a:t>Ông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lớn</a:t>
            </a:r>
            <a:r>
              <a:rPr lang="en-US" sz="1800" b="1" dirty="0" smtClean="0">
                <a:solidFill>
                  <a:srgbClr val="0000FF"/>
                </a:solidFill>
              </a:rPr>
              <a:t>” </a:t>
            </a:r>
            <a:r>
              <a:rPr lang="en-US" sz="1800" b="1" dirty="0" err="1" smtClean="0">
                <a:solidFill>
                  <a:srgbClr val="0000FF"/>
                </a:solidFill>
              </a:rPr>
              <a:t>lớp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cơ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sở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2209800" y="5410200"/>
            <a:ext cx="2743200" cy="533400"/>
          </a:xfrm>
          <a:prstGeom prst="wedgeRoundRectCallout">
            <a:avLst>
              <a:gd name="adj1" fmla="val -41656"/>
              <a:gd name="adj2" fmla="val -94705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“</a:t>
            </a:r>
            <a:r>
              <a:rPr lang="en-US" sz="1800" b="1" dirty="0" err="1" smtClean="0">
                <a:solidFill>
                  <a:srgbClr val="0000FF"/>
                </a:solidFill>
              </a:rPr>
              <a:t>Ông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lớn</a:t>
            </a:r>
            <a:r>
              <a:rPr lang="en-US" sz="1800" b="1" dirty="0" smtClean="0">
                <a:solidFill>
                  <a:srgbClr val="0000FF"/>
                </a:solidFill>
              </a:rPr>
              <a:t>” </a:t>
            </a:r>
            <a:r>
              <a:rPr lang="en-US" sz="1800" b="1" dirty="0" err="1" smtClean="0">
                <a:solidFill>
                  <a:srgbClr val="0000FF"/>
                </a:solidFill>
              </a:rPr>
              <a:t>lớp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kế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thừa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181600" y="990600"/>
            <a:ext cx="3733800" cy="533400"/>
          </a:xfrm>
          <a:prstGeom prst="wedgeRoundRectCallout">
            <a:avLst>
              <a:gd name="adj1" fmla="val 4105"/>
              <a:gd name="adj2" fmla="val 87713"/>
              <a:gd name="adj3" fmla="val 166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5000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1" dirty="0" err="1" smtClean="0">
                <a:solidFill>
                  <a:srgbClr val="0000FF"/>
                </a:solidFill>
              </a:rPr>
              <a:t>Kích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hoạt</a:t>
            </a:r>
            <a:r>
              <a:rPr lang="en-US" sz="1800" b="1" dirty="0" smtClean="0">
                <a:solidFill>
                  <a:srgbClr val="0000FF"/>
                </a:solidFill>
              </a:rPr>
              <a:t> “</a:t>
            </a:r>
            <a:r>
              <a:rPr lang="en-US" sz="1800" b="1" dirty="0" err="1" smtClean="0">
                <a:solidFill>
                  <a:srgbClr val="0000FF"/>
                </a:solidFill>
              </a:rPr>
              <a:t>ông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lớn</a:t>
            </a:r>
            <a:r>
              <a:rPr lang="en-US" sz="1800" b="1" dirty="0" smtClean="0">
                <a:solidFill>
                  <a:srgbClr val="0000FF"/>
                </a:solidFill>
              </a:rPr>
              <a:t>” </a:t>
            </a:r>
            <a:r>
              <a:rPr lang="en-US" sz="1800" b="1" dirty="0" err="1" smtClean="0">
                <a:solidFill>
                  <a:srgbClr val="0000FF"/>
                </a:solidFill>
              </a:rPr>
              <a:t>lớp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cơ</a:t>
            </a:r>
            <a:r>
              <a:rPr lang="en-US" sz="1800" b="1" dirty="0" smtClean="0">
                <a:solidFill>
                  <a:srgbClr val="0000FF"/>
                </a:solidFill>
              </a:rPr>
              <a:t> </a:t>
            </a:r>
            <a:r>
              <a:rPr lang="en-US" sz="1800" b="1" dirty="0" err="1" smtClean="0">
                <a:solidFill>
                  <a:srgbClr val="0000FF"/>
                </a:solidFill>
              </a:rPr>
              <a:t>sở</a:t>
            </a:r>
            <a:endParaRPr lang="en-US" sz="1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Tóm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lõi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vỏ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lõi</a:t>
            </a:r>
            <a:r>
              <a:rPr lang="en-US" dirty="0" smtClean="0"/>
              <a:t>: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vỏ</a:t>
            </a:r>
            <a:r>
              <a:rPr lang="en-US" dirty="0" smtClean="0"/>
              <a:t>: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,</a:t>
            </a:r>
          </a:p>
          <a:p>
            <a:pPr lvl="2"/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vỏ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lõi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lõi</a:t>
            </a:r>
            <a:r>
              <a:rPr lang="en-US" dirty="0" smtClean="0"/>
              <a:t>: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.</a:t>
            </a:r>
          </a:p>
          <a:p>
            <a:pPr lvl="2"/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vỏ</a:t>
            </a:r>
            <a:r>
              <a:rPr lang="en-US" dirty="0" smtClean="0"/>
              <a:t>: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hủy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Luật</a:t>
            </a:r>
            <a:r>
              <a:rPr lang="en-US" dirty="0" smtClean="0"/>
              <a:t> “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ông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”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8.1:</a:t>
            </a:r>
          </a:p>
          <a:p>
            <a:pPr>
              <a:buNone/>
            </a:pPr>
            <a:r>
              <a:rPr lang="en-US" sz="1800" dirty="0" smtClean="0"/>
              <a:t>	class A</a:t>
            </a:r>
            <a:br>
              <a:rPr lang="en-US" sz="1800" dirty="0" smtClean="0"/>
            </a:br>
            <a:r>
              <a:rPr lang="en-US" sz="1800" dirty="0" smtClean="0"/>
              <a:t>{ public:</a:t>
            </a:r>
            <a:br>
              <a:rPr lang="en-US" sz="1800" dirty="0" smtClean="0"/>
            </a:br>
            <a:r>
              <a:rPr lang="en-US" sz="1800" dirty="0" smtClean="0"/>
              <a:t>	A(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iX</a:t>
            </a:r>
            <a:r>
              <a:rPr lang="en-US" sz="1800" dirty="0" smtClean="0"/>
              <a:t> ) {   }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dirty="0" smtClean="0"/>
              <a:t>	class B: public A</a:t>
            </a:r>
            <a:br>
              <a:rPr lang="en-US" sz="1800" dirty="0" smtClean="0"/>
            </a:br>
            <a:r>
              <a:rPr lang="en-US" sz="1800" dirty="0" smtClean="0"/>
              <a:t>{ public:</a:t>
            </a:r>
            <a:br>
              <a:rPr lang="en-US" sz="1800" dirty="0" smtClean="0"/>
            </a:br>
            <a:r>
              <a:rPr lang="en-US" sz="1800" dirty="0" smtClean="0"/>
              <a:t>	B( ) {   } </a:t>
            </a:r>
            <a:br>
              <a:rPr lang="en-US" sz="1800" dirty="0" smtClean="0"/>
            </a:br>
            <a:r>
              <a:rPr lang="en-US" sz="1800" dirty="0" smtClean="0"/>
              <a:t>	B(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iX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iY</a:t>
            </a:r>
            <a:r>
              <a:rPr lang="en-US" sz="1800" dirty="0" smtClean="0"/>
              <a:t> ): A( </a:t>
            </a:r>
            <a:r>
              <a:rPr lang="en-US" sz="1800" dirty="0" err="1" smtClean="0"/>
              <a:t>iX</a:t>
            </a:r>
            <a:r>
              <a:rPr lang="en-US" sz="1800" dirty="0" smtClean="0"/>
              <a:t> ) { }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dirty="0" smtClean="0"/>
              <a:t>	class C: public B</a:t>
            </a:r>
            <a:br>
              <a:rPr lang="en-US" sz="1800" dirty="0" smtClean="0"/>
            </a:br>
            <a:r>
              <a:rPr lang="en-US" sz="1800" dirty="0" smtClean="0"/>
              <a:t>{ public:</a:t>
            </a:r>
            <a:br>
              <a:rPr lang="en-US" sz="1800" dirty="0" smtClean="0"/>
            </a:br>
            <a:r>
              <a:rPr lang="en-US" sz="1800" dirty="0" smtClean="0"/>
              <a:t>	C( ) {   }</a:t>
            </a:r>
            <a:br>
              <a:rPr lang="en-US" sz="1800" dirty="0" smtClean="0"/>
            </a:br>
            <a:r>
              <a:rPr lang="en-US" sz="1800" dirty="0" smtClean="0"/>
              <a:t>	C(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iZ</a:t>
            </a:r>
            <a:r>
              <a:rPr lang="en-US" sz="1800" dirty="0" smtClean="0"/>
              <a:t> ) {   }</a:t>
            </a:r>
            <a:br>
              <a:rPr lang="en-US" sz="1800" dirty="0" smtClean="0"/>
            </a:br>
            <a:r>
              <a:rPr lang="en-US" sz="1800" dirty="0" smtClean="0"/>
              <a:t>	C(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iX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iY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iZ</a:t>
            </a:r>
            <a:r>
              <a:rPr lang="en-US" sz="1800" dirty="0" smtClean="0"/>
              <a:t> ): B( </a:t>
            </a:r>
            <a:r>
              <a:rPr lang="en-US" sz="1800" dirty="0" err="1" smtClean="0"/>
              <a:t>iX</a:t>
            </a:r>
            <a:r>
              <a:rPr lang="en-US" sz="1800" dirty="0" smtClean="0"/>
              <a:t>, </a:t>
            </a:r>
            <a:r>
              <a:rPr lang="en-US" sz="1800" dirty="0" err="1" smtClean="0"/>
              <a:t>iY</a:t>
            </a:r>
            <a:r>
              <a:rPr lang="en-US" sz="1800" dirty="0" smtClean="0"/>
              <a:t> ) {   }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00600" y="1676400"/>
            <a:ext cx="4038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Cho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biết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thứ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tự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gọi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khởi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tạo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với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a) void main() {   C  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obj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( 1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 2, 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3 );   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b) void main() {   C  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obj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( 4 );           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c) void main() {   C  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obj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     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8.2: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quyết</a:t>
            </a:r>
            <a:r>
              <a:rPr lang="en-US" sz="2000" dirty="0" smtClean="0"/>
              <a:t> </a:t>
            </a:r>
            <a:r>
              <a:rPr lang="en-US" sz="2000" dirty="0" err="1" smtClean="0"/>
              <a:t>ba</a:t>
            </a:r>
            <a:r>
              <a:rPr lang="en-US" sz="2000" dirty="0" smtClean="0"/>
              <a:t> </a:t>
            </a:r>
            <a:r>
              <a:rPr lang="en-US" sz="2000" dirty="0" err="1" smtClean="0"/>
              <a:t>vấn</a:t>
            </a:r>
            <a:r>
              <a:rPr lang="en-US" sz="2000" dirty="0" smtClean="0"/>
              <a:t> </a:t>
            </a:r>
            <a:r>
              <a:rPr lang="en-US" sz="2000" dirty="0" err="1" smtClean="0"/>
              <a:t>đề</a:t>
            </a:r>
            <a:r>
              <a:rPr lang="en-US" sz="2000" dirty="0" smtClean="0"/>
              <a:t> con </a:t>
            </a:r>
            <a:r>
              <a:rPr lang="en-US" sz="2000" dirty="0" err="1" smtClean="0"/>
              <a:t>trỏ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GiaoVien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GVCN.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8.3:</a:t>
            </a:r>
          </a:p>
          <a:p>
            <a:pPr>
              <a:buNone/>
            </a:pPr>
            <a:r>
              <a:rPr lang="en-US" sz="1800" dirty="0" smtClean="0"/>
              <a:t>	class X {   };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class Y: public X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public:</a:t>
            </a:r>
            <a:br>
              <a:rPr lang="en-US" sz="1800" dirty="0" smtClean="0"/>
            </a:br>
            <a:r>
              <a:rPr lang="en-US" sz="1800" dirty="0" smtClean="0"/>
              <a:t>	Y(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) {   }</a:t>
            </a:r>
            <a:br>
              <a:rPr lang="en-US" sz="1800" dirty="0" smtClean="0"/>
            </a:br>
            <a:r>
              <a:rPr lang="en-US" sz="1800" dirty="0" smtClean="0"/>
              <a:t>};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class Z: public Y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public:</a:t>
            </a:r>
            <a:br>
              <a:rPr lang="en-US" sz="1800" dirty="0" smtClean="0"/>
            </a:br>
            <a:r>
              <a:rPr lang="en-US" sz="1800" dirty="0" smtClean="0"/>
              <a:t>	Z(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): Y( </a:t>
            </a:r>
            <a:r>
              <a:rPr lang="en-US" sz="1800" dirty="0" err="1" smtClean="0"/>
              <a:t>i</a:t>
            </a:r>
            <a:r>
              <a:rPr lang="en-US" sz="1800" dirty="0" smtClean="0"/>
              <a:t>++ ) {   }</a:t>
            </a:r>
            <a:br>
              <a:rPr lang="en-US" sz="1800" dirty="0" smtClean="0"/>
            </a:br>
            <a:r>
              <a:rPr lang="en-US" sz="1800" dirty="0" smtClean="0"/>
              <a:t>};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95800" y="1676400"/>
            <a:ext cx="3733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Cho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biết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thứ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tự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gọi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khởi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tạo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với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a) void main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)   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  Z   </a:t>
            </a:r>
            <a:r>
              <a:rPr lang="en-US" sz="18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obj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( 5 );   </a:t>
            </a: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b) void main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)   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Y   obj1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( 6 );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Y   obj2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obj1 );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c) void main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)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</a:t>
            </a: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Z   obj1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( 7 );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Z   obj2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obj1 );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60400" indent="-6604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8.4: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Hãy</a:t>
            </a:r>
            <a:r>
              <a:rPr lang="en-US" sz="2000" dirty="0" smtClean="0"/>
              <a:t> </a:t>
            </a:r>
            <a:r>
              <a:rPr lang="en-US" sz="2000" dirty="0" err="1" smtClean="0"/>
              <a:t>vẽ</a:t>
            </a:r>
            <a:r>
              <a:rPr lang="en-US" sz="2000" dirty="0" smtClean="0"/>
              <a:t> </a:t>
            </a:r>
            <a:r>
              <a:rPr lang="en-US" sz="2000" dirty="0" err="1" smtClean="0"/>
              <a:t>cây</a:t>
            </a:r>
            <a:r>
              <a:rPr lang="en-US" sz="2000" dirty="0" smtClean="0"/>
              <a:t> </a:t>
            </a:r>
            <a:r>
              <a:rPr lang="en-US" sz="2000" dirty="0" err="1" smtClean="0"/>
              <a:t>kế</a:t>
            </a:r>
            <a:r>
              <a:rPr lang="en-US" sz="2000" dirty="0" smtClean="0"/>
              <a:t> </a:t>
            </a:r>
            <a:r>
              <a:rPr lang="en-US" sz="2000" dirty="0" err="1" smtClean="0"/>
              <a:t>thừa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những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đối</a:t>
            </a:r>
            <a:r>
              <a:rPr lang="en-US" sz="2000" dirty="0" smtClean="0"/>
              <a:t> </a:t>
            </a:r>
            <a:r>
              <a:rPr lang="en-US" sz="2000" dirty="0" err="1" smtClean="0"/>
              <a:t>tượng</a:t>
            </a:r>
            <a:r>
              <a:rPr lang="en-US" sz="2000" dirty="0" smtClean="0"/>
              <a:t> </a:t>
            </a:r>
            <a:r>
              <a:rPr lang="en-US" sz="2000" dirty="0" err="1" smtClean="0"/>
              <a:t>hình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(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phát</a:t>
            </a:r>
            <a:r>
              <a:rPr lang="en-US" sz="2000" dirty="0" smtClean="0"/>
              <a:t> </a:t>
            </a:r>
            <a:r>
              <a:rPr lang="en-US" sz="2000" dirty="0" err="1" smtClean="0"/>
              <a:t>sinh</a:t>
            </a:r>
            <a:r>
              <a:rPr lang="en-US" sz="2000" dirty="0" smtClean="0"/>
              <a:t> </a:t>
            </a:r>
            <a:r>
              <a:rPr lang="en-US" sz="2000" dirty="0" err="1" smtClean="0"/>
              <a:t>những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 </a:t>
            </a:r>
            <a:r>
              <a:rPr lang="en-US" sz="2000" dirty="0" err="1" smtClean="0"/>
              <a:t>sở</a:t>
            </a:r>
            <a:r>
              <a:rPr lang="en-US" sz="2000" dirty="0" smtClean="0"/>
              <a:t> </a:t>
            </a:r>
            <a:r>
              <a:rPr lang="en-US" sz="2000" dirty="0" err="1" smtClean="0"/>
              <a:t>cần</a:t>
            </a:r>
            <a:r>
              <a:rPr lang="en-US" sz="2000" dirty="0" smtClean="0"/>
              <a:t> </a:t>
            </a:r>
            <a:r>
              <a:rPr lang="en-US" sz="2000" dirty="0" err="1" smtClean="0"/>
              <a:t>thiết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tái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dụng</a:t>
            </a:r>
            <a:r>
              <a:rPr lang="en-US" sz="2000" dirty="0" smtClean="0"/>
              <a:t> </a:t>
            </a:r>
            <a:r>
              <a:rPr lang="en-US" sz="2000" dirty="0" err="1" smtClean="0"/>
              <a:t>hiệu</a:t>
            </a:r>
            <a:r>
              <a:rPr lang="en-US" sz="2000" dirty="0" smtClean="0"/>
              <a:t> </a:t>
            </a:r>
            <a:r>
              <a:rPr lang="en-US" sz="2000" dirty="0" err="1" smtClean="0"/>
              <a:t>quả</a:t>
            </a:r>
            <a:r>
              <a:rPr lang="en-US" sz="2000" dirty="0" smtClean="0"/>
              <a:t>)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Vuông</a:t>
            </a:r>
            <a:r>
              <a:rPr lang="en-US" sz="2000" dirty="0" smtClean="0"/>
              <a:t>.			- Tam </a:t>
            </a:r>
            <a:r>
              <a:rPr lang="en-US" sz="2000" dirty="0" err="1" smtClean="0"/>
              <a:t>giác</a:t>
            </a:r>
            <a:r>
              <a:rPr lang="en-US" sz="2000" dirty="0" smtClean="0"/>
              <a:t> </a:t>
            </a:r>
            <a:r>
              <a:rPr lang="en-US" sz="2000" dirty="0" err="1" smtClean="0"/>
              <a:t>vuông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Tròn</a:t>
            </a:r>
            <a:r>
              <a:rPr lang="en-US" sz="2000" dirty="0" smtClean="0"/>
              <a:t>.				- Tam </a:t>
            </a:r>
            <a:r>
              <a:rPr lang="en-US" sz="2000" dirty="0" err="1" smtClean="0"/>
              <a:t>giác</a:t>
            </a:r>
            <a:r>
              <a:rPr lang="en-US" sz="2000" dirty="0" smtClean="0"/>
              <a:t> </a:t>
            </a:r>
            <a:r>
              <a:rPr lang="en-US" sz="2000" dirty="0" err="1" smtClean="0"/>
              <a:t>cân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Ellipse.			- Tam </a:t>
            </a:r>
            <a:r>
              <a:rPr lang="en-US" sz="2000" dirty="0" err="1" smtClean="0"/>
              <a:t>giác</a:t>
            </a:r>
            <a:r>
              <a:rPr lang="en-US" sz="2000" dirty="0" smtClean="0"/>
              <a:t> </a:t>
            </a:r>
            <a:r>
              <a:rPr lang="en-US" sz="2000" dirty="0" err="1" smtClean="0"/>
              <a:t>vuông</a:t>
            </a:r>
            <a:r>
              <a:rPr lang="en-US" sz="2000" dirty="0" smtClean="0"/>
              <a:t> </a:t>
            </a:r>
            <a:r>
              <a:rPr lang="en-US" sz="2000" dirty="0" err="1" smtClean="0"/>
              <a:t>cân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Chữ</a:t>
            </a:r>
            <a:r>
              <a:rPr lang="en-US" sz="2000" dirty="0" smtClean="0"/>
              <a:t> </a:t>
            </a:r>
            <a:r>
              <a:rPr lang="en-US" sz="2000" dirty="0" err="1" smtClean="0"/>
              <a:t>nhật</a:t>
            </a:r>
            <a:r>
              <a:rPr lang="en-US" sz="2000" dirty="0" smtClean="0"/>
              <a:t>.			- Tam </a:t>
            </a:r>
            <a:r>
              <a:rPr lang="en-US" sz="2000" dirty="0" err="1" smtClean="0"/>
              <a:t>giác</a:t>
            </a:r>
            <a:r>
              <a:rPr lang="en-US" sz="2000" dirty="0" smtClean="0"/>
              <a:t> </a:t>
            </a:r>
            <a:r>
              <a:rPr lang="en-US" sz="2000" dirty="0" err="1" smtClean="0"/>
              <a:t>đều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Thoi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Bình</a:t>
            </a:r>
            <a:r>
              <a:rPr lang="en-US" sz="2000" dirty="0" smtClean="0"/>
              <a:t> </a:t>
            </a:r>
            <a:r>
              <a:rPr lang="en-US" sz="2000" dirty="0" err="1" smtClean="0"/>
              <a:t>hành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Thang</a:t>
            </a:r>
            <a:r>
              <a:rPr lang="en-US" sz="2000" dirty="0" smtClean="0"/>
              <a:t> </a:t>
            </a:r>
            <a:r>
              <a:rPr lang="en-US" sz="2000" dirty="0" err="1" smtClean="0"/>
              <a:t>vuông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Thang</a:t>
            </a:r>
            <a:r>
              <a:rPr lang="en-US" sz="2000" dirty="0" smtClean="0"/>
              <a:t> </a:t>
            </a:r>
            <a:r>
              <a:rPr lang="en-US" sz="2000" dirty="0" err="1" smtClean="0"/>
              <a:t>cân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8.5: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rạp</a:t>
            </a:r>
            <a:r>
              <a:rPr lang="en-US" sz="2000" dirty="0" smtClean="0"/>
              <a:t> </a:t>
            </a:r>
            <a:r>
              <a:rPr lang="en-US" sz="2000" dirty="0" err="1" smtClean="0"/>
              <a:t>chiếu</a:t>
            </a:r>
            <a:r>
              <a:rPr lang="en-US" sz="2000" dirty="0" smtClean="0"/>
              <a:t> </a:t>
            </a:r>
            <a:r>
              <a:rPr lang="en-US" sz="2000" dirty="0" err="1" smtClean="0"/>
              <a:t>phim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M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, </a:t>
            </a:r>
            <a:r>
              <a:rPr lang="en-US" sz="2000" dirty="0" err="1" smtClean="0"/>
              <a:t>mỗi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N </a:t>
            </a:r>
            <a:r>
              <a:rPr lang="en-US" sz="2000" dirty="0" err="1" smtClean="0"/>
              <a:t>ghế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theo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ngồi</a:t>
            </a:r>
            <a:r>
              <a:rPr lang="en-US" sz="2000" dirty="0" smtClean="0"/>
              <a:t> </a:t>
            </a:r>
            <a:r>
              <a:rPr lang="en-US" sz="2000" dirty="0" err="1" smtClean="0"/>
              <a:t>sao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càng</a:t>
            </a:r>
            <a:r>
              <a:rPr lang="en-US" sz="2000" dirty="0" smtClean="0"/>
              <a:t> </a:t>
            </a:r>
            <a:r>
              <a:rPr lang="en-US" sz="2000" dirty="0" err="1" smtClean="0"/>
              <a:t>xa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trung</a:t>
            </a:r>
            <a:r>
              <a:rPr lang="en-US" sz="2000" dirty="0" smtClean="0"/>
              <a:t> </a:t>
            </a:r>
            <a:r>
              <a:rPr lang="en-US" sz="2000" dirty="0" err="1" smtClean="0"/>
              <a:t>tâm</a:t>
            </a:r>
            <a:r>
              <a:rPr lang="en-US" sz="2000" dirty="0" smtClean="0"/>
              <a:t> (</a:t>
            </a:r>
            <a:r>
              <a:rPr lang="en-US" sz="2000" dirty="0" err="1" smtClean="0"/>
              <a:t>cả</a:t>
            </a:r>
            <a:r>
              <a:rPr lang="en-US" sz="2000" dirty="0" smtClean="0"/>
              <a:t> </a:t>
            </a:r>
            <a:r>
              <a:rPr lang="en-US" sz="2000" dirty="0" err="1" smtClean="0"/>
              <a:t>trước</a:t>
            </a:r>
            <a:r>
              <a:rPr lang="en-US" sz="2000" dirty="0" smtClean="0"/>
              <a:t> </a:t>
            </a:r>
            <a:r>
              <a:rPr lang="en-US" sz="2000" dirty="0" err="1" smtClean="0"/>
              <a:t>lẫn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)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càng</a:t>
            </a:r>
            <a:r>
              <a:rPr lang="en-US" sz="2000" dirty="0" smtClean="0"/>
              <a:t> </a:t>
            </a:r>
            <a:r>
              <a:rPr lang="en-US" sz="2000" dirty="0" err="1" smtClean="0"/>
              <a:t>rẻ</a:t>
            </a:r>
            <a:r>
              <a:rPr lang="en-US" sz="2000" dirty="0" smtClean="0"/>
              <a:t>, </a:t>
            </a:r>
            <a:r>
              <a:rPr lang="en-US" sz="2000" dirty="0" err="1" smtClean="0"/>
              <a:t>xa</a:t>
            </a:r>
            <a:r>
              <a:rPr lang="en-US" sz="2000" dirty="0" smtClean="0"/>
              <a:t> </a:t>
            </a:r>
            <a:r>
              <a:rPr lang="en-US" sz="2000" dirty="0" err="1" smtClean="0"/>
              <a:t>hơn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giảm</a:t>
            </a:r>
            <a:r>
              <a:rPr lang="en-US" sz="2000" dirty="0" smtClean="0"/>
              <a:t> 3,000.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Có</a:t>
            </a:r>
            <a:r>
              <a:rPr lang="en-US" sz="2000" dirty="0" smtClean="0"/>
              <a:t> 2 </a:t>
            </a:r>
            <a:r>
              <a:rPr lang="en-US" sz="2000" dirty="0" err="1" smtClean="0"/>
              <a:t>loại</a:t>
            </a:r>
            <a:r>
              <a:rPr lang="en-US" sz="2000" dirty="0" smtClean="0"/>
              <a:t> </a:t>
            </a:r>
            <a:r>
              <a:rPr lang="en-US" sz="2000" dirty="0" err="1" smtClean="0"/>
              <a:t>rạp</a:t>
            </a:r>
            <a:r>
              <a:rPr lang="en-US" sz="2000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Rạp</a:t>
            </a:r>
            <a:r>
              <a:rPr lang="en-US" sz="2000" dirty="0" smtClean="0"/>
              <a:t> </a:t>
            </a:r>
            <a:r>
              <a:rPr lang="en-US" sz="2000" dirty="0" err="1" smtClean="0"/>
              <a:t>thường</a:t>
            </a:r>
            <a:r>
              <a:rPr lang="en-US" sz="2000" dirty="0" smtClean="0"/>
              <a:t>: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ở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trung</a:t>
            </a:r>
            <a:r>
              <a:rPr lang="en-US" sz="2000" dirty="0" smtClean="0"/>
              <a:t> </a:t>
            </a:r>
            <a:r>
              <a:rPr lang="en-US" sz="2000" dirty="0" err="1" smtClean="0"/>
              <a:t>tâm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80,000.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Rạp</a:t>
            </a:r>
            <a:r>
              <a:rPr lang="en-US" sz="2000" dirty="0" smtClean="0"/>
              <a:t> </a:t>
            </a:r>
            <a:r>
              <a:rPr lang="en-US" sz="2000" dirty="0" err="1" smtClean="0"/>
              <a:t>cao</a:t>
            </a:r>
            <a:r>
              <a:rPr lang="en-US" sz="2000" dirty="0" smtClean="0"/>
              <a:t> </a:t>
            </a:r>
            <a:r>
              <a:rPr lang="en-US" sz="2000" dirty="0" err="1" smtClean="0"/>
              <a:t>cấp</a:t>
            </a:r>
            <a:r>
              <a:rPr lang="en-US" sz="2000" dirty="0" smtClean="0"/>
              <a:t>: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ở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trung</a:t>
            </a:r>
            <a:r>
              <a:rPr lang="en-US" sz="2000" dirty="0" smtClean="0"/>
              <a:t> </a:t>
            </a:r>
            <a:r>
              <a:rPr lang="en-US" sz="2000" dirty="0" err="1" smtClean="0"/>
              <a:t>tâm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120,000, </a:t>
            </a:r>
            <a:r>
              <a:rPr lang="en-US" sz="2000" dirty="0" err="1" smtClean="0"/>
              <a:t>ngoài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rạp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khuyến</a:t>
            </a:r>
            <a:r>
              <a:rPr lang="en-US" sz="2000" dirty="0" smtClean="0"/>
              <a:t> </a:t>
            </a:r>
            <a:r>
              <a:rPr lang="en-US" sz="2000" dirty="0" err="1" smtClean="0"/>
              <a:t>mãi</a:t>
            </a:r>
            <a:r>
              <a:rPr lang="en-US" sz="2000" dirty="0" smtClean="0"/>
              <a:t> </a:t>
            </a:r>
            <a:r>
              <a:rPr lang="en-US" sz="2000" dirty="0" err="1" smtClean="0"/>
              <a:t>giảm</a:t>
            </a:r>
            <a:r>
              <a:rPr lang="en-US" sz="2000" dirty="0" smtClean="0"/>
              <a:t> 20%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ngày</a:t>
            </a:r>
            <a:r>
              <a:rPr lang="en-US" sz="2000" dirty="0" smtClean="0"/>
              <a:t> </a:t>
            </a:r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năm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tuần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8.5: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Hãy</a:t>
            </a:r>
            <a:r>
              <a:rPr lang="en-US" sz="2000" dirty="0" smtClean="0"/>
              <a:t> </a:t>
            </a:r>
            <a:r>
              <a:rPr lang="en-US" sz="2000" dirty="0" err="1" smtClean="0"/>
              <a:t>xây</a:t>
            </a:r>
            <a:r>
              <a:rPr lang="en-US" sz="2000" dirty="0" smtClean="0"/>
              <a:t> </a:t>
            </a:r>
            <a:r>
              <a:rPr lang="en-US" sz="2000" dirty="0" err="1" smtClean="0"/>
              <a:t>dựng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b="1" dirty="0" err="1" smtClean="0">
                <a:solidFill>
                  <a:srgbClr val="FFC000"/>
                </a:solidFill>
              </a:rPr>
              <a:t>RapThuong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b="1" dirty="0" err="1" smtClean="0">
                <a:solidFill>
                  <a:srgbClr val="FFC000"/>
                </a:solidFill>
              </a:rPr>
              <a:t>RapCaoCap</a:t>
            </a:r>
            <a:r>
              <a:rPr lang="en-US" sz="2000" dirty="0" smtClean="0"/>
              <a:t>,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: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Khởi</a:t>
            </a:r>
            <a:r>
              <a:rPr lang="en-US" sz="2000" dirty="0" smtClean="0"/>
              <a:t> </a:t>
            </a:r>
            <a:r>
              <a:rPr lang="en-US" sz="2000" dirty="0" err="1" smtClean="0"/>
              <a:t>tạo</a:t>
            </a:r>
            <a:r>
              <a:rPr lang="en-US" sz="2000" dirty="0" smtClean="0"/>
              <a:t> </a:t>
            </a:r>
            <a:r>
              <a:rPr lang="en-US" sz="2000" dirty="0" err="1" smtClean="0"/>
              <a:t>rạp</a:t>
            </a:r>
            <a:r>
              <a:rPr lang="en-US" sz="2000" dirty="0" smtClean="0"/>
              <a:t> </a:t>
            </a:r>
            <a:r>
              <a:rPr lang="en-US" sz="2000" dirty="0" err="1" smtClean="0"/>
              <a:t>phim</a:t>
            </a:r>
            <a:r>
              <a:rPr lang="en-US" sz="2000" dirty="0" smtClean="0"/>
              <a:t> </a:t>
            </a:r>
            <a:r>
              <a:rPr lang="en-US" sz="2000" dirty="0" err="1" smtClean="0"/>
              <a:t>với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lương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M x N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trước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Cho </a:t>
            </a:r>
            <a:r>
              <a:rPr lang="en-US" sz="2000" dirty="0" err="1" smtClean="0"/>
              <a:t>biết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r>
              <a:rPr lang="en-US" sz="2000" dirty="0" smtClean="0"/>
              <a:t> </a:t>
            </a:r>
            <a:r>
              <a:rPr lang="en-US" sz="2000" dirty="0" err="1" smtClean="0"/>
              <a:t>còn</a:t>
            </a:r>
            <a:r>
              <a:rPr lang="en-US" sz="2000" dirty="0" smtClean="0"/>
              <a:t> </a:t>
            </a:r>
            <a:r>
              <a:rPr lang="en-US" sz="2000" dirty="0" err="1" smtClean="0"/>
              <a:t>trống</a:t>
            </a:r>
            <a:r>
              <a:rPr lang="en-US" sz="2000" dirty="0" smtClean="0"/>
              <a:t> </a:t>
            </a:r>
            <a:r>
              <a:rPr lang="en-US" sz="2000" dirty="0" err="1" smtClean="0"/>
              <a:t>không</a:t>
            </a:r>
            <a:r>
              <a:rPr lang="en-US" sz="2000" dirty="0" smtClean="0"/>
              <a:t>. </a:t>
            </a:r>
          </a:p>
          <a:p>
            <a:pPr>
              <a:buNone/>
            </a:pPr>
            <a:r>
              <a:rPr lang="en-US" sz="2000" dirty="0" smtClean="0"/>
              <a:t>		- Cho </a:t>
            </a:r>
            <a:r>
              <a:rPr lang="en-US" sz="2000" dirty="0" err="1" smtClean="0"/>
              <a:t>biết</a:t>
            </a:r>
            <a:r>
              <a:rPr lang="en-US" sz="2000" dirty="0" smtClean="0"/>
              <a:t> </a:t>
            </a:r>
            <a:r>
              <a:rPr lang="en-US" sz="2000" dirty="0" err="1" smtClean="0"/>
              <a:t>giá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Đặt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dirty="0" err="1" smtClean="0"/>
              <a:t>ghế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tiền</a:t>
            </a:r>
            <a:r>
              <a:rPr lang="en-US" sz="2000" dirty="0" smtClean="0"/>
              <a:t> </a:t>
            </a:r>
            <a:r>
              <a:rPr lang="en-US" sz="2000" dirty="0" err="1" smtClean="0"/>
              <a:t>vé</a:t>
            </a:r>
            <a:r>
              <a:rPr lang="en-US" sz="2000" dirty="0" smtClean="0"/>
              <a:t> </a:t>
            </a:r>
            <a:r>
              <a:rPr lang="en-US" sz="2000" dirty="0" err="1" smtClean="0"/>
              <a:t>bán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.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smtClean="0"/>
              <a:t>Phương pháp lập trình hướng đối tượng  - GV.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22154</TotalTime>
  <Words>865</Words>
  <Application>Microsoft Office PowerPoint</Application>
  <PresentationFormat>On-screen Show (4:3)</PresentationFormat>
  <Paragraphs>220</Paragraphs>
  <Slides>21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Stream</vt:lpstr>
      <vt:lpstr>Vòng đời đối tượng trong kế thừa</vt:lpstr>
      <vt:lpstr>Nội dung</vt:lpstr>
      <vt:lpstr>Nội dung</vt:lpstr>
      <vt:lpstr>Khởi tạo trong kế thừa</vt:lpstr>
      <vt:lpstr>Khởi tạo trong kế thừa</vt:lpstr>
      <vt:lpstr>Khởi tạo trong kế thừa</vt:lpstr>
      <vt:lpstr>Khởi tạo trong kế thừa</vt:lpstr>
      <vt:lpstr>Nội dung</vt:lpstr>
      <vt:lpstr>Hủy trong kế thừa</vt:lpstr>
      <vt:lpstr>Hủy trong kế thừa</vt:lpstr>
      <vt:lpstr>Nội dung</vt:lpstr>
      <vt:lpstr>Vấn đề con trỏ trong kế thừa</vt:lpstr>
      <vt:lpstr>Vấn đề con trỏ trong kế thừa</vt:lpstr>
      <vt:lpstr>Vấn đề con trỏ trong kế thừa</vt:lpstr>
      <vt:lpstr>Tóm tắt</vt:lpstr>
      <vt:lpstr>Bài tập</vt:lpstr>
      <vt:lpstr>Bài tập</vt:lpstr>
      <vt:lpstr>Bài tập</vt:lpstr>
      <vt:lpstr>Bài tập</vt:lpstr>
      <vt:lpstr>Bài tập</vt:lpstr>
      <vt:lpstr>Bài tập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981</cp:revision>
  <dcterms:created xsi:type="dcterms:W3CDTF">2005-11-21T10:16:26Z</dcterms:created>
  <dcterms:modified xsi:type="dcterms:W3CDTF">2016-10-24T05:19:16Z</dcterms:modified>
</cp:coreProperties>
</file>