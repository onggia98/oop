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9144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GoogleSlidesCustomDataVersion2">
      <go:slidesCustomData xmlns:go="http://customooxmlschemas.google.com/" r:id="rId33" roundtripDataSignature="AMtx7mjfol3CZTAADXgdCEdSP53tk/L5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582678-926E-4468-A582-4763D4383078}">
  <a:tblStyle styleId="{4A582678-926E-4468-A582-4763D438307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1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6" name="Google Shape;236;p18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8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0" name="Google Shape;270;p22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9" name="Google Shape;279;p23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3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:notes"/>
          <p:cNvSpPr txBox="1"/>
          <p:nvPr>
            <p:ph idx="1" type="body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28"/>
          <p:cNvGrpSpPr/>
          <p:nvPr/>
        </p:nvGrpSpPr>
        <p:grpSpPr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32" name="Google Shape;32;p28"/>
            <p:cNvGrpSpPr/>
            <p:nvPr/>
          </p:nvGrpSpPr>
          <p:grpSpPr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3" name="Google Shape;33;p28"/>
              <p:cNvSpPr/>
              <p:nvPr/>
            </p:nvSpPr>
            <p:spPr>
              <a:xfrm>
                <a:off x="1728" y="2644"/>
                <a:ext cx="2882" cy="1671"/>
              </a:xfrm>
              <a:custGeom>
                <a:rect b="b" l="l" r="r" t="t"/>
                <a:pathLst>
                  <a:path extrusionOk="0" h="1671" w="2882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8"/>
              <p:cNvSpPr/>
              <p:nvPr/>
            </p:nvSpPr>
            <p:spPr>
              <a:xfrm>
                <a:off x="4170" y="2671"/>
                <a:ext cx="1259" cy="811"/>
              </a:xfrm>
              <a:custGeom>
                <a:rect b="b" l="l" r="r" t="t"/>
                <a:pathLst>
                  <a:path extrusionOk="0" h="811" w="1259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8"/>
              <p:cNvSpPr/>
              <p:nvPr/>
            </p:nvSpPr>
            <p:spPr>
              <a:xfrm>
                <a:off x="2900" y="3346"/>
                <a:ext cx="2849" cy="969"/>
              </a:xfrm>
              <a:custGeom>
                <a:rect b="b" l="l" r="r" t="t"/>
                <a:pathLst>
                  <a:path extrusionOk="0" h="969" w="284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>
                <a:gsLst>
                  <a:gs pos="0">
                    <a:srgbClr val="002E8B"/>
                  </a:gs>
                  <a:gs pos="100000">
                    <a:schemeClr val="dk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8"/>
              <p:cNvSpPr/>
              <p:nvPr/>
            </p:nvSpPr>
            <p:spPr>
              <a:xfrm>
                <a:off x="2748" y="2230"/>
                <a:ext cx="3007" cy="2085"/>
              </a:xfrm>
              <a:custGeom>
                <a:rect b="b" l="l" r="r" t="t"/>
                <a:pathLst>
                  <a:path extrusionOk="0" h="2085" w="3007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8"/>
              <p:cNvSpPr/>
              <p:nvPr/>
            </p:nvSpPr>
            <p:spPr>
              <a:xfrm>
                <a:off x="4501" y="2317"/>
                <a:ext cx="1248" cy="539"/>
              </a:xfrm>
              <a:custGeom>
                <a:rect b="b" l="l" r="r" t="t"/>
                <a:pathLst>
                  <a:path extrusionOk="0" h="539" w="1248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>
                <a:gsLst>
                  <a:gs pos="0">
                    <a:srgbClr val="003090"/>
                  </a:gs>
                  <a:gs pos="100000">
                    <a:schemeClr val="dk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" name="Google Shape;38;p28"/>
            <p:cNvSpPr/>
            <p:nvPr/>
          </p:nvSpPr>
          <p:spPr>
            <a:xfrm>
              <a:off x="3322" y="1341"/>
              <a:ext cx="1825" cy="1537"/>
            </a:xfrm>
            <a:custGeom>
              <a:rect b="b" l="l" r="r" t="t"/>
              <a:pathLst>
                <a:path extrusionOk="0" h="1469" w="2296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>
              <a:gsLst>
                <a:gs pos="0">
                  <a:srgbClr val="002F8D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8"/>
            <p:cNvSpPr/>
            <p:nvPr/>
          </p:nvSpPr>
          <p:spPr>
            <a:xfrm>
              <a:off x="0" y="0"/>
              <a:ext cx="5758" cy="1776"/>
            </a:xfrm>
            <a:custGeom>
              <a:rect b="b" l="l" r="r" t="t"/>
              <a:pathLst>
                <a:path extrusionOk="0" h="1906" w="5740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0" name="Google Shape;40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426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28"/>
          <p:cNvCxnSpPr/>
          <p:nvPr/>
        </p:nvCxnSpPr>
        <p:spPr>
          <a:xfrm>
            <a:off x="0" y="6477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28"/>
          <p:cNvSpPr/>
          <p:nvPr/>
        </p:nvSpPr>
        <p:spPr>
          <a:xfrm>
            <a:off x="76200" y="6553200"/>
            <a:ext cx="228600" cy="228600"/>
          </a:xfrm>
          <a:prstGeom prst="star16">
            <a:avLst>
              <a:gd fmla="val 37500" name="adj"/>
            </a:avLst>
          </a:prstGeom>
          <a:gradFill>
            <a:gsLst>
              <a:gs pos="0">
                <a:srgbClr val="8F6BB3"/>
              </a:gs>
              <a:gs pos="50000">
                <a:srgbClr val="CC99FF"/>
              </a:gs>
              <a:gs pos="100000">
                <a:srgbClr val="8F6BB3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8"/>
          <p:cNvSpPr/>
          <p:nvPr/>
        </p:nvSpPr>
        <p:spPr>
          <a:xfrm>
            <a:off x="6096000" y="3733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GV. Nguyễn Minh Huy</a:t>
            </a:r>
            <a:endParaRPr b="0" i="0" sz="2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8"/>
          <p:cNvSpPr txBox="1"/>
          <p:nvPr>
            <p:ph type="ctrTitle"/>
          </p:nvPr>
        </p:nvSpPr>
        <p:spPr>
          <a:xfrm>
            <a:off x="304800" y="1828800"/>
            <a:ext cx="8534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5000">
                <a:solidFill>
                  <a:srgbClr val="FF66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2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2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55" name="Google Shape;55;p3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clipboard2" id="57" name="Google Shape;5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89788" y="4419600"/>
            <a:ext cx="1725612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54813" y="4176713"/>
            <a:ext cx="2160587" cy="214788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62" name="Google Shape;62;p3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" name="Google Shape;11;p27"/>
          <p:cNvGrpSpPr/>
          <p:nvPr/>
        </p:nvGrpSpPr>
        <p:grpSpPr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2" name="Google Shape;12;p27"/>
            <p:cNvGrpSpPr/>
            <p:nvPr/>
          </p:nvGrpSpPr>
          <p:grpSpPr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3" name="Google Shape;13;p27"/>
              <p:cNvSpPr/>
              <p:nvPr/>
            </p:nvSpPr>
            <p:spPr>
              <a:xfrm>
                <a:off x="1728" y="2644"/>
                <a:ext cx="2882" cy="1671"/>
              </a:xfrm>
              <a:custGeom>
                <a:rect b="b" l="l" r="r" t="t"/>
                <a:pathLst>
                  <a:path extrusionOk="0" h="1671" w="2882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7"/>
              <p:cNvSpPr/>
              <p:nvPr/>
            </p:nvSpPr>
            <p:spPr>
              <a:xfrm>
                <a:off x="4170" y="2671"/>
                <a:ext cx="1259" cy="811"/>
              </a:xfrm>
              <a:custGeom>
                <a:rect b="b" l="l" r="r" t="t"/>
                <a:pathLst>
                  <a:path extrusionOk="0" h="811" w="1259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7"/>
              <p:cNvSpPr/>
              <p:nvPr/>
            </p:nvSpPr>
            <p:spPr>
              <a:xfrm>
                <a:off x="2900" y="3346"/>
                <a:ext cx="2849" cy="969"/>
              </a:xfrm>
              <a:custGeom>
                <a:rect b="b" l="l" r="r" t="t"/>
                <a:pathLst>
                  <a:path extrusionOk="0" h="969" w="284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>
                <a:gsLst>
                  <a:gs pos="0">
                    <a:srgbClr val="002E8B"/>
                  </a:gs>
                  <a:gs pos="100000">
                    <a:schemeClr val="dk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7"/>
              <p:cNvSpPr/>
              <p:nvPr/>
            </p:nvSpPr>
            <p:spPr>
              <a:xfrm>
                <a:off x="2748" y="2230"/>
                <a:ext cx="3007" cy="2085"/>
              </a:xfrm>
              <a:custGeom>
                <a:rect b="b" l="l" r="r" t="t"/>
                <a:pathLst>
                  <a:path extrusionOk="0" h="2085" w="3007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7"/>
              <p:cNvSpPr/>
              <p:nvPr/>
            </p:nvSpPr>
            <p:spPr>
              <a:xfrm>
                <a:off x="4501" y="2317"/>
                <a:ext cx="1248" cy="539"/>
              </a:xfrm>
              <a:custGeom>
                <a:rect b="b" l="l" r="r" t="t"/>
                <a:pathLst>
                  <a:path extrusionOk="0" h="539" w="1248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>
                <a:gsLst>
                  <a:gs pos="0">
                    <a:srgbClr val="003090"/>
                  </a:gs>
                  <a:gs pos="100000">
                    <a:schemeClr val="dk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" name="Google Shape;18;p27"/>
            <p:cNvSpPr/>
            <p:nvPr/>
          </p:nvSpPr>
          <p:spPr>
            <a:xfrm>
              <a:off x="3322" y="1341"/>
              <a:ext cx="1825" cy="1537"/>
            </a:xfrm>
            <a:custGeom>
              <a:rect b="b" l="l" r="r" t="t"/>
              <a:pathLst>
                <a:path extrusionOk="0" h="1469" w="2296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>
              <a:gsLst>
                <a:gs pos="0">
                  <a:srgbClr val="002F8D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7"/>
            <p:cNvSpPr/>
            <p:nvPr/>
          </p:nvSpPr>
          <p:spPr>
            <a:xfrm>
              <a:off x="0" y="0"/>
              <a:ext cx="5758" cy="1776"/>
            </a:xfrm>
            <a:custGeom>
              <a:rect b="b" l="l" r="r" t="t"/>
              <a:pathLst>
                <a:path extrusionOk="0" h="1906" w="5740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" name="Google Shape;20;p2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■"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306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Char char="■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52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⮚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972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972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972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972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972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3" name="Google Shape;23;p27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7"/>
          <p:cNvGrpSpPr/>
          <p:nvPr/>
        </p:nvGrpSpPr>
        <p:grpSpPr>
          <a:xfrm>
            <a:off x="7848600" y="152400"/>
            <a:ext cx="685800" cy="609600"/>
            <a:chOff x="5088" y="48"/>
            <a:chExt cx="528" cy="480"/>
          </a:xfrm>
        </p:grpSpPr>
        <p:sp>
          <p:nvSpPr>
            <p:cNvPr id="25" name="Google Shape;25;p27"/>
            <p:cNvSpPr/>
            <p:nvPr/>
          </p:nvSpPr>
          <p:spPr>
            <a:xfrm>
              <a:off x="5088" y="144"/>
              <a:ext cx="288" cy="336"/>
            </a:xfrm>
            <a:prstGeom prst="flowChartAlternateProcess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7"/>
            <p:cNvSpPr/>
            <p:nvPr/>
          </p:nvSpPr>
          <p:spPr>
            <a:xfrm>
              <a:off x="5185" y="48"/>
              <a:ext cx="385" cy="336"/>
            </a:xfrm>
            <a:prstGeom prst="flowChartAlternateProcess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7"/>
            <p:cNvSpPr/>
            <p:nvPr/>
          </p:nvSpPr>
          <p:spPr>
            <a:xfrm>
              <a:off x="5232" y="192"/>
              <a:ext cx="384" cy="336"/>
            </a:xfrm>
            <a:prstGeom prst="flowChartAlternateProcess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" name="Google Shape;28;p27"/>
          <p:cNvCxnSpPr/>
          <p:nvPr/>
        </p:nvCxnSpPr>
        <p:spPr>
          <a:xfrm>
            <a:off x="0" y="64770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" name="Google Shape;29;p27"/>
          <p:cNvSpPr/>
          <p:nvPr/>
        </p:nvSpPr>
        <p:spPr>
          <a:xfrm>
            <a:off x="76200" y="6553200"/>
            <a:ext cx="228600" cy="228600"/>
          </a:xfrm>
          <a:prstGeom prst="star16">
            <a:avLst>
              <a:gd fmla="val 37500" name="adj"/>
            </a:avLst>
          </a:prstGeom>
          <a:gradFill>
            <a:gsLst>
              <a:gs pos="0">
                <a:srgbClr val="8F6BB3"/>
              </a:gs>
              <a:gs pos="50000">
                <a:srgbClr val="CC99FF"/>
              </a:gs>
              <a:gs pos="100000">
                <a:srgbClr val="8F6BB3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>
            <p:ph type="ctrTitle"/>
          </p:nvPr>
        </p:nvSpPr>
        <p:spPr>
          <a:xfrm>
            <a:off x="304800" y="1828800"/>
            <a:ext cx="8534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Kế thừa</a:t>
            </a:r>
            <a:endParaRPr/>
          </a:p>
        </p:txBody>
      </p:sp>
      <p:sp>
        <p:nvSpPr>
          <p:cNvPr id="70" name="Google Shape;70;p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78" name="Google Shape;78;p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Khái niệm kế thừa.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Tầm vực trong kế thừa.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Định nghĩa lại phương thức.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Quan hệ IS-A và HAS-A.</a:t>
            </a:r>
            <a:endParaRPr/>
          </a:p>
        </p:txBody>
      </p:sp>
      <p:sp>
        <p:nvSpPr>
          <p:cNvPr id="79" name="Google Shape;79;p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87" name="Google Shape;87;p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Khái niệm kế thừa.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Tầm vực trong kế thừa.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Định nghĩa lại phương thức.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Quan hệ IS-A và HAS-A.</a:t>
            </a:r>
            <a:endParaRPr/>
          </a:p>
        </p:txBody>
      </p:sp>
      <p:sp>
        <p:nvSpPr>
          <p:cNvPr id="88" name="Google Shape;88;p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Khái niệm kế thừa</a:t>
            </a:r>
            <a:endParaRPr/>
          </a:p>
        </p:txBody>
      </p:sp>
      <p:sp>
        <p:nvSpPr>
          <p:cNvPr id="95" name="Google Shape;95;p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Vấn đề trùng lắp thông tin: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Xét nhiều lớp có thông tin trùng nhau.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Có 2 dạng: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Dạng chia sẻ: A ∩ B ≠ Ø.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Dạng mở rộng: B = A + ε.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Nhược điểm: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Tốn thời gian, công sức.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Dung lượng lưu trữ lớn.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Thay đổi phần chung khó khăn.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5943600" y="2362200"/>
            <a:ext cx="1295400" cy="10668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x, y, z</a:t>
            </a:r>
            <a:endParaRPr b="1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a, b, c</a:t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7391400" y="2362200"/>
            <a:ext cx="1295400" cy="10668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x, y, z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u, v, w</a:t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5943600" y="3657600"/>
            <a:ext cx="1295400" cy="10668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x, y, z</a:t>
            </a:r>
            <a:endParaRPr b="1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7391400" y="3657600"/>
            <a:ext cx="1295400" cy="10668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x, y, z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a, b, c</a:t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1295400" y="5105400"/>
            <a:ext cx="5029200" cy="9144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0"/>
              <a:buFont typeface="Noto Sans Symbols"/>
              <a:buNone/>
            </a:pPr>
            <a:r>
              <a:rPr b="1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Giải quyết: tái sử dụng!!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Khái niệm kế thừa</a:t>
            </a: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Khái niệm kế thừa: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Định nghĩa lớp mới dựa trên những lớp đã có.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b="1" lang="en-US">
                <a:solidFill>
                  <a:schemeClr val="hlink"/>
                </a:solidFill>
              </a:rPr>
              <a:t>Lớp kế thừa:</a:t>
            </a:r>
            <a:r>
              <a:rPr lang="en-US"/>
              <a:t> lớp được định nghĩa từ lớp đã có.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b="1" lang="en-US">
                <a:solidFill>
                  <a:schemeClr val="hlink"/>
                </a:solidFill>
              </a:rPr>
              <a:t>Lớp cơ sở:</a:t>
            </a:r>
            <a:r>
              <a:rPr lang="en-US"/>
              <a:t> lớp dùng để định nghĩa lớp mới.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Lớp kế thừa thừa hưởng </a:t>
            </a:r>
            <a:r>
              <a:rPr b="1" lang="en-US">
                <a:solidFill>
                  <a:schemeClr val="hlink"/>
                </a:solidFill>
              </a:rPr>
              <a:t>TẤT CẢ</a:t>
            </a:r>
            <a:r>
              <a:rPr lang="en-US"/>
              <a:t> từ lớp cơ sở.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1447800" y="5181600"/>
            <a:ext cx="1295400" cy="10668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x, y, z</a:t>
            </a:r>
            <a:endParaRPr b="1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a, b, c</a:t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2895600" y="5181600"/>
            <a:ext cx="1295400" cy="10668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x, y, z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u, v, w</a:t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6019800" y="5181600"/>
            <a:ext cx="1295400" cy="10668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x, y, z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a, b, c</a:t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2209800" y="3657600"/>
            <a:ext cx="1295400" cy="10668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x, y, z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5"/>
          <p:cNvCxnSpPr/>
          <p:nvPr/>
        </p:nvCxnSpPr>
        <p:spPr>
          <a:xfrm flipH="1" rot="10800000">
            <a:off x="2209800" y="4724400"/>
            <a:ext cx="533400" cy="457200"/>
          </a:xfrm>
          <a:prstGeom prst="straightConnector1">
            <a:avLst/>
          </a:prstGeom>
          <a:noFill/>
          <a:ln cap="flat" cmpd="sng" w="50800">
            <a:solidFill>
              <a:srgbClr val="00FF00"/>
            </a:solidFill>
            <a:prstDash val="dot"/>
            <a:round/>
            <a:headEnd len="med" w="med" type="none"/>
            <a:tailEnd len="lg" w="lg" type="triangle"/>
          </a:ln>
        </p:spPr>
      </p:cxnSp>
      <p:cxnSp>
        <p:nvCxnSpPr>
          <p:cNvPr id="116" name="Google Shape;116;p5"/>
          <p:cNvCxnSpPr/>
          <p:nvPr/>
        </p:nvCxnSpPr>
        <p:spPr>
          <a:xfrm rot="10800000">
            <a:off x="2971800" y="4724400"/>
            <a:ext cx="533400" cy="457200"/>
          </a:xfrm>
          <a:prstGeom prst="straightConnector1">
            <a:avLst/>
          </a:prstGeom>
          <a:noFill/>
          <a:ln cap="flat" cmpd="sng" w="50800">
            <a:solidFill>
              <a:srgbClr val="00FF00"/>
            </a:solidFill>
            <a:prstDash val="dot"/>
            <a:round/>
            <a:headEnd len="med" w="med" type="none"/>
            <a:tailEnd len="lg" w="lg" type="triangle"/>
          </a:ln>
        </p:spPr>
      </p:cxnSp>
      <p:sp>
        <p:nvSpPr>
          <p:cNvPr id="117" name="Google Shape;117;p5"/>
          <p:cNvSpPr/>
          <p:nvPr/>
        </p:nvSpPr>
        <p:spPr>
          <a:xfrm>
            <a:off x="6019800" y="3657600"/>
            <a:ext cx="1295400" cy="10668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x, y, z</a:t>
            </a:r>
            <a:endParaRPr/>
          </a:p>
        </p:txBody>
      </p:sp>
      <p:cxnSp>
        <p:nvCxnSpPr>
          <p:cNvPr id="118" name="Google Shape;118;p5"/>
          <p:cNvCxnSpPr/>
          <p:nvPr/>
        </p:nvCxnSpPr>
        <p:spPr>
          <a:xfrm rot="10800000">
            <a:off x="6629400" y="4724400"/>
            <a:ext cx="0" cy="457200"/>
          </a:xfrm>
          <a:prstGeom prst="straightConnector1">
            <a:avLst/>
          </a:prstGeom>
          <a:noFill/>
          <a:ln cap="flat" cmpd="sng" w="50800">
            <a:solidFill>
              <a:srgbClr val="00FF00"/>
            </a:solidFill>
            <a:prstDash val="dot"/>
            <a:round/>
            <a:headEnd len="med" w="med" type="none"/>
            <a:tailEnd len="lg" w="lg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Khái niệm kế thừa</a:t>
            </a:r>
            <a:endParaRPr/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Khai báo trong C++: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/>
              <a:t>class </a:t>
            </a:r>
            <a:r>
              <a:rPr b="1" lang="en-US">
                <a:solidFill>
                  <a:srgbClr val="FFC000"/>
                </a:solidFill>
              </a:rPr>
              <a:t>&lt;Lớp kế thừa&gt;</a:t>
            </a:r>
            <a:r>
              <a:rPr lang="en-US"/>
              <a:t> </a:t>
            </a:r>
            <a:r>
              <a:rPr b="1" lang="en-US">
                <a:solidFill>
                  <a:srgbClr val="FFC000"/>
                </a:solidFill>
              </a:rPr>
              <a:t>:</a:t>
            </a:r>
            <a:r>
              <a:rPr lang="en-US"/>
              <a:t> </a:t>
            </a:r>
            <a:r>
              <a:rPr i="1" lang="en-US"/>
              <a:t>&lt;Loại kế thừa&gt;</a:t>
            </a:r>
            <a:r>
              <a:rPr lang="en-US"/>
              <a:t> </a:t>
            </a:r>
            <a:r>
              <a:rPr b="1" lang="en-US">
                <a:solidFill>
                  <a:srgbClr val="FFC000"/>
                </a:solidFill>
              </a:rPr>
              <a:t>&lt;Lớp cơ sở&gt;</a:t>
            </a:r>
            <a:endParaRPr b="1" sz="3200">
              <a:solidFill>
                <a:srgbClr val="FFC000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Loại kế thừa: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public, private, protected.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Ví dụ: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class </a:t>
            </a:r>
            <a:r>
              <a:rPr b="1" lang="en-US" sz="1800">
                <a:solidFill>
                  <a:srgbClr val="FFC000"/>
                </a:solidFill>
              </a:rPr>
              <a:t>A</a:t>
            </a:r>
            <a:r>
              <a:rPr lang="en-US" sz="1800"/>
              <a:t> : public </a:t>
            </a:r>
            <a:r>
              <a:rPr b="1" lang="en-US" sz="1800">
                <a:solidFill>
                  <a:srgbClr val="FFC000"/>
                </a:solidFill>
              </a:rPr>
              <a:t>O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{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private: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	// Khai báo thuộc tính mới của A.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public: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	// Khai báo phương thức mới của A.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};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Khái niệm kế thừa</a:t>
            </a:r>
            <a:endParaRPr/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Ví dụ:</a:t>
            </a:r>
            <a:endParaRPr/>
          </a:p>
        </p:txBody>
      </p:sp>
      <p:sp>
        <p:nvSpPr>
          <p:cNvPr id="133" name="Google Shape;133;p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2362200" y="2438400"/>
            <a:ext cx="28956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Thông tin:</a:t>
            </a:r>
            <a:endParaRPr/>
          </a:p>
          <a:p>
            <a:pPr indent="-285750" lvl="1" marL="74295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Họ tên.</a:t>
            </a:r>
            <a:endParaRPr/>
          </a:p>
          <a:p>
            <a:pPr indent="-285750" lvl="1" marL="74295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Mức lương.</a:t>
            </a:r>
            <a:endParaRPr/>
          </a:p>
          <a:p>
            <a:pPr indent="-285750" lvl="1" marL="74295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Số ngày nghỉ.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Công việc:</a:t>
            </a:r>
            <a:endParaRPr/>
          </a:p>
          <a:p>
            <a:pPr indent="-285750" lvl="1" marL="74295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Giảng dạy.</a:t>
            </a:r>
            <a:endParaRPr/>
          </a:p>
          <a:p>
            <a:pPr indent="-285750" lvl="1" marL="74295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Tính lương.</a:t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4572000" y="2438400"/>
            <a:ext cx="3276600" cy="3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Thông tin:</a:t>
            </a:r>
            <a:endParaRPr/>
          </a:p>
          <a:p>
            <a:pPr indent="-285750" lvl="1" marL="74295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Họ tên.</a:t>
            </a:r>
            <a:endParaRPr/>
          </a:p>
          <a:p>
            <a:pPr indent="-285750" lvl="1" marL="74295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Mức lương.</a:t>
            </a:r>
            <a:endParaRPr/>
          </a:p>
          <a:p>
            <a:pPr indent="-285750" lvl="1" marL="74295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Số ngày nghỉ.</a:t>
            </a:r>
            <a:endParaRPr/>
          </a:p>
          <a:p>
            <a:pPr indent="-285750" lvl="1" marL="74295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■"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Lớp chủ nhiệm.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Công việc:</a:t>
            </a:r>
            <a:endParaRPr/>
          </a:p>
          <a:p>
            <a:pPr indent="-285750" lvl="1" marL="74295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Giảng dạy.</a:t>
            </a:r>
            <a:endParaRPr/>
          </a:p>
          <a:p>
            <a:pPr indent="-285750" lvl="1" marL="74295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Tính lương.</a:t>
            </a:r>
            <a:endParaRPr/>
          </a:p>
          <a:p>
            <a:pPr indent="-285750" lvl="1" marL="74295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■"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Sinh hoạt chủ nhiệm.</a:t>
            </a:r>
            <a:endParaRPr/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024063"/>
            <a:ext cx="21272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34200" y="2133600"/>
            <a:ext cx="1981200" cy="187166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762000" y="4267200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Giáo viên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7467600" y="4038600"/>
            <a:ext cx="99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GVCN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Khái niệm kế thừa</a:t>
            </a:r>
            <a:endParaRPr/>
          </a:p>
        </p:txBody>
      </p:sp>
      <p:sp>
        <p:nvSpPr>
          <p:cNvPr id="146" name="Google Shape;146;p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Ví dụ: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class GiaoVien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private:</a:t>
            </a:r>
            <a:br>
              <a:rPr lang="en-US" sz="1800"/>
            </a:br>
            <a:r>
              <a:rPr lang="en-US" sz="1800"/>
              <a:t>	char	*m_hoTen;</a:t>
            </a:r>
            <a:br>
              <a:rPr lang="en-US" sz="1800"/>
            </a:br>
            <a:r>
              <a:rPr lang="en-US" sz="1800"/>
              <a:t>	float	m_mucLuong;</a:t>
            </a:r>
            <a:br>
              <a:rPr lang="en-US" sz="1800"/>
            </a:br>
            <a:r>
              <a:rPr lang="en-US" sz="1800"/>
              <a:t>	int	m_ngayNghi;</a:t>
            </a:r>
            <a:br>
              <a:rPr lang="en-US" sz="1800"/>
            </a:br>
            <a:r>
              <a:rPr lang="en-US" sz="1800"/>
              <a:t>public:</a:t>
            </a:r>
            <a:br>
              <a:rPr lang="en-US" sz="1800"/>
            </a:br>
            <a:r>
              <a:rPr lang="en-US" sz="1800"/>
              <a:t>	GiaoVien(char  *hoTen,</a:t>
            </a:r>
            <a:br>
              <a:rPr lang="en-US" sz="1800"/>
            </a:br>
            <a:r>
              <a:rPr lang="en-US" sz="1800"/>
              <a:t>		float  mucLuong,</a:t>
            </a:r>
            <a:br>
              <a:rPr lang="en-US" sz="1800"/>
            </a:br>
            <a:r>
              <a:rPr lang="en-US" sz="1800"/>
              <a:t>		int  ngayNghi);</a:t>
            </a:r>
            <a:br>
              <a:rPr lang="en-US" sz="1800"/>
            </a:br>
            <a:r>
              <a:rPr lang="en-US" sz="1800"/>
              <a:t>	void giangDay();</a:t>
            </a:r>
            <a:br>
              <a:rPr lang="en-US" sz="1800"/>
            </a:br>
            <a:r>
              <a:rPr lang="en-US" sz="1800"/>
              <a:t>	float tinhLuong();</a:t>
            </a:r>
            <a:br>
              <a:rPr lang="en-US" sz="1800"/>
            </a:br>
            <a:r>
              <a:rPr lang="en-US" sz="1800"/>
              <a:t>};</a:t>
            </a:r>
            <a:endParaRPr/>
          </a:p>
        </p:txBody>
      </p:sp>
      <p:sp>
        <p:nvSpPr>
          <p:cNvPr id="147" name="Google Shape;147;p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4648200" y="1676400"/>
            <a:ext cx="38862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class 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GVCN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: public 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GiaoVien</a:t>
            </a:r>
            <a:b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private: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char	*m_lopCN;</a:t>
            </a:r>
            <a:b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public: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GVCN(char  *hoTen,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float  mucLuong,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int  ngayNghi,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char  *lopCN);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void sinhHoatCN();</a:t>
            </a:r>
            <a:b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343400" y="990600"/>
            <a:ext cx="1828800" cy="533400"/>
          </a:xfrm>
          <a:prstGeom prst="wedgeRoundRectCallout">
            <a:avLst>
              <a:gd fmla="val 43056" name="adj1"/>
              <a:gd fmla="val 92856" name="adj2"/>
              <a:gd fmla="val 16667" name="adj3"/>
            </a:avLst>
          </a:prstGeom>
          <a:gradFill>
            <a:gsLst>
              <a:gs pos="0">
                <a:srgbClr val="A1A1B3"/>
              </a:gs>
              <a:gs pos="50000">
                <a:schemeClr val="lt2"/>
              </a:gs>
              <a:gs pos="100000">
                <a:srgbClr val="A1A1B3"/>
              </a:gs>
            </a:gsLst>
            <a:lin ang="27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dk1">
                <a:alpha val="49803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Lớp kế thừa</a:t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7239000" y="990600"/>
            <a:ext cx="1828800" cy="533400"/>
          </a:xfrm>
          <a:prstGeom prst="wedgeRoundRectCallout">
            <a:avLst>
              <a:gd fmla="val -39931" name="adj1"/>
              <a:gd fmla="val 92560" name="adj2"/>
              <a:gd fmla="val 16667" name="adj3"/>
            </a:avLst>
          </a:prstGeom>
          <a:gradFill>
            <a:gsLst>
              <a:gs pos="0">
                <a:srgbClr val="A1A1B3"/>
              </a:gs>
              <a:gs pos="50000">
                <a:schemeClr val="lt2"/>
              </a:gs>
              <a:gs pos="100000">
                <a:srgbClr val="A1A1B3"/>
              </a:gs>
            </a:gsLst>
            <a:lin ang="27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dk1">
                <a:alpha val="49803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Lớp cơ sở</a:t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876800" y="4953000"/>
            <a:ext cx="3886200" cy="12954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GVCN thừa hưởng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TẤT CẢ</a:t>
            </a: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thuộc tính và phương thức của GiaoVien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Khái niệm kế thừa</a:t>
            </a:r>
            <a:endParaRPr/>
          </a:p>
        </p:txBody>
      </p:sp>
      <p:sp>
        <p:nvSpPr>
          <p:cNvPr id="158" name="Google Shape;158;p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Ví dụ: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void main()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	GiaoVien   gv1(“Minh”, 500000, 5);</a:t>
            </a:r>
            <a:br>
              <a:rPr lang="en-US" sz="1800"/>
            </a:br>
            <a:r>
              <a:rPr lang="en-US" sz="1800"/>
              <a:t>	gv1.giangDay();</a:t>
            </a:r>
            <a:br>
              <a:rPr lang="en-US" sz="1800"/>
            </a:br>
            <a:r>
              <a:rPr lang="en-US" sz="1800"/>
              <a:t>	float  luong1 = gv1.tinhLuong();</a:t>
            </a:r>
            <a:br>
              <a:rPr lang="en-US" sz="1800"/>
            </a:br>
            <a:br>
              <a:rPr lang="en-US" sz="1800"/>
            </a:br>
            <a:r>
              <a:rPr lang="en-US" sz="1800"/>
              <a:t>	GVCN   gv2(“Hanh”, 700000, 3, “10A5”);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chemeClr val="hlink"/>
                </a:solidFill>
              </a:rPr>
              <a:t>gv2.giangDay();</a:t>
            </a:r>
            <a:br>
              <a:rPr b="1" lang="en-US" sz="1800"/>
            </a:br>
            <a:r>
              <a:rPr b="1" lang="en-US" sz="1800"/>
              <a:t>	</a:t>
            </a:r>
            <a:r>
              <a:rPr lang="en-US" sz="1800"/>
              <a:t>gv2.sinhHoatCN();</a:t>
            </a:r>
            <a:br>
              <a:rPr lang="en-US" sz="1800"/>
            </a:br>
            <a:r>
              <a:rPr lang="en-US" sz="1800"/>
              <a:t>	float  luong2 = </a:t>
            </a:r>
            <a:r>
              <a:rPr b="1" lang="en-US" sz="1800">
                <a:solidFill>
                  <a:schemeClr val="hlink"/>
                </a:solidFill>
              </a:rPr>
              <a:t>gv2.tinhLuong();</a:t>
            </a:r>
            <a:br>
              <a:rPr lang="en-US" sz="1800"/>
            </a:br>
            <a:r>
              <a:rPr lang="en-US" sz="1800"/>
              <a:t>}</a:t>
            </a:r>
            <a:endParaRPr/>
          </a:p>
        </p:txBody>
      </p:sp>
      <p:sp>
        <p:nvSpPr>
          <p:cNvPr id="159" name="Google Shape;159;p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67" name="Google Shape;167;p1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Khái niệm kế thừa.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Tầm vực trong kế thừa.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Định nghĩa lại phương thức.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Quan hệ IS-A và HAS-A.</a:t>
            </a:r>
            <a:endParaRPr/>
          </a:p>
        </p:txBody>
      </p:sp>
      <p:sp>
        <p:nvSpPr>
          <p:cNvPr id="168" name="Google Shape;168;p1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1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Tầm vực trong kế thừa</a:t>
            </a:r>
            <a:endParaRPr/>
          </a:p>
        </p:txBody>
      </p:sp>
      <p:sp>
        <p:nvSpPr>
          <p:cNvPr id="175" name="Google Shape;175;p1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Xét lớp A kế thừa lớp O: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A kế thừa toàn bộ thuộc tính và phương thức của O.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Tầm vực của những thành phần này thế nào?</a:t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1" lang="en-US">
                <a:solidFill>
                  <a:srgbClr val="FFC000"/>
                </a:solidFill>
              </a:rPr>
              <a:t>🡺 Do loại kế thừa quyết định!!</a:t>
            </a:r>
            <a:endParaRPr b="1">
              <a:solidFill>
                <a:srgbClr val="FFC000"/>
              </a:solidFill>
            </a:endParaRPr>
          </a:p>
        </p:txBody>
      </p:sp>
      <p:sp>
        <p:nvSpPr>
          <p:cNvPr id="176" name="Google Shape;176;p1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1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1295400" y="2819400"/>
            <a:ext cx="1981200" cy="25146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Lớp O</a:t>
            </a:r>
            <a:endParaRPr b="1" i="0" sz="20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630"/>
              <a:buFont typeface="Noto Sans Symbols"/>
              <a:buNone/>
            </a:pPr>
            <a:r>
              <a:t/>
            </a:r>
            <a:endParaRPr b="1" i="0" sz="9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private:</a:t>
            </a:r>
            <a:b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	m_iX</a:t>
            </a:r>
            <a:endParaRPr b="1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protected:</a:t>
            </a:r>
            <a:b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	m_iY</a:t>
            </a:r>
            <a:endParaRPr b="1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public:</a:t>
            </a:r>
            <a:b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	m_iZ</a:t>
            </a:r>
            <a:endParaRPr b="1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5791200" y="2819400"/>
            <a:ext cx="1981200" cy="25146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Lớp A</a:t>
            </a:r>
            <a:endParaRPr b="1" i="0" sz="20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630"/>
              <a:buFont typeface="Noto Sans Symbols"/>
              <a:buNone/>
            </a:pPr>
            <a:r>
              <a:t/>
            </a:r>
            <a:endParaRPr b="1" i="0" sz="9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???:</a:t>
            </a:r>
            <a:b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	m_iX</a:t>
            </a:r>
            <a:endParaRPr b="1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???:</a:t>
            </a:r>
            <a:b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	m_iY</a:t>
            </a:r>
            <a:endParaRPr b="1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???:</a:t>
            </a:r>
            <a:b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	m_iZ</a:t>
            </a:r>
            <a:endParaRPr b="1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4032250" y="3657600"/>
            <a:ext cx="996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Kế thừa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11"/>
          <p:cNvCxnSpPr/>
          <p:nvPr/>
        </p:nvCxnSpPr>
        <p:spPr>
          <a:xfrm rot="10800000">
            <a:off x="3352800" y="4114800"/>
            <a:ext cx="2286000" cy="0"/>
          </a:xfrm>
          <a:prstGeom prst="straightConnector1">
            <a:avLst/>
          </a:prstGeom>
          <a:noFill/>
          <a:ln cap="flat" cmpd="sng" w="50800">
            <a:solidFill>
              <a:srgbClr val="00FF00"/>
            </a:solidFill>
            <a:prstDash val="dot"/>
            <a:round/>
            <a:headEnd len="med" w="med" type="none"/>
            <a:tailEnd len="lg" w="lg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Tầm vực trong kế thừa</a:t>
            </a:r>
            <a:endParaRPr/>
          </a:p>
        </p:txBody>
      </p:sp>
      <p:sp>
        <p:nvSpPr>
          <p:cNvPr id="187" name="Google Shape;187;p1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Bảng tầm vực trong kế thừa:</a:t>
            </a:r>
            <a:endParaRPr/>
          </a:p>
        </p:txBody>
      </p:sp>
      <p:sp>
        <p:nvSpPr>
          <p:cNvPr id="188" name="Google Shape;188;p1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graphicFrame>
        <p:nvGraphicFramePr>
          <p:cNvPr id="190" name="Google Shape;190;p12"/>
          <p:cNvGraphicFramePr/>
          <p:nvPr/>
        </p:nvGraphicFramePr>
        <p:xfrm>
          <a:off x="1143000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{4A582678-926E-4468-A582-4763D4383078}</a:tableStyleId>
              </a:tblPr>
              <a:tblGrid>
                <a:gridCol w="1695450"/>
                <a:gridCol w="1695450"/>
                <a:gridCol w="1695450"/>
                <a:gridCol w="1695450"/>
              </a:tblGrid>
              <a:tr h="78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Tầm vực</a:t>
                      </a:r>
                      <a:endParaRPr b="1" i="0" sz="2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Kế thừa public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Kế thừa protected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Kế thừa private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CC33"/>
                    </a:solidFill>
                  </a:tcPr>
                </a:tc>
              </a:tr>
              <a:tr h="739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public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public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protected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private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protected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protected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protected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private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private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1" lang="en-US" sz="20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Không thể truy xuất</a:t>
                      </a:r>
                      <a:endParaRPr b="1" i="1" sz="20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1" lang="en-US" sz="20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Không thể truy xuất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1" lang="en-US" sz="20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Không thể truy xuất</a:t>
                      </a:r>
                      <a:endParaRPr b="1" i="1" sz="20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97" name="Google Shape;197;p1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Khái niệm kế thừa.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Tầm vực trong kế thừa.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Định nghĩa lại phương thức.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Quan hệ IS-A và HAS-A.</a:t>
            </a:r>
            <a:endParaRPr/>
          </a:p>
        </p:txBody>
      </p:sp>
      <p:sp>
        <p:nvSpPr>
          <p:cNvPr id="198" name="Google Shape;198;p1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1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Định nghĩa lại phương thức</a:t>
            </a:r>
            <a:endParaRPr/>
          </a:p>
        </p:txBody>
      </p:sp>
      <p:sp>
        <p:nvSpPr>
          <p:cNvPr id="205" name="Google Shape;205;p1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Kế thừa một phần: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Có thể thay đổi những phần đã kế thừa??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Không kế thừa “máy móc” tất cả.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b="1" lang="en-US">
                <a:solidFill>
                  <a:schemeClr val="hlink"/>
                </a:solidFill>
              </a:rPr>
              <a:t>Lớp kế thừa có thể thay đổi những gì đã kế thừa!!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1" lang="en-US">
                <a:solidFill>
                  <a:schemeClr val="hlink"/>
                </a:solidFill>
              </a:rPr>
              <a:t>	🡺 Định nghĩa lại phương thức đã kế thừa.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06" name="Google Shape;206;p1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p1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208" name="Google Shape;208;p14"/>
          <p:cNvSpPr/>
          <p:nvPr/>
        </p:nvSpPr>
        <p:spPr>
          <a:xfrm>
            <a:off x="914400" y="3810000"/>
            <a:ext cx="7315200" cy="16764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Lớp kế thừa thừa hưởng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TẤT CẢ</a:t>
            </a: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thuộc tính và phương thức của lớp cơ sở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TRỪ</a:t>
            </a: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những phương thức được định nghĩa lại!!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Định nghĩa lại phương thức</a:t>
            </a:r>
            <a:endParaRPr/>
          </a:p>
        </p:txBody>
      </p:sp>
      <p:sp>
        <p:nvSpPr>
          <p:cNvPr id="214" name="Google Shape;214;p1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Ví dụ: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GVCN kế thừa từ GiaoVien.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GVCN tính lương khác GiaoVien.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Lương GV = Mức lương – Số ngày nghỉ * 100,000.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Lương GVCN = Lương GV + Phụ cấp 1,000,000.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1" lang="en-US" sz="2400">
                <a:solidFill>
                  <a:schemeClr val="hlink"/>
                </a:solidFill>
              </a:rPr>
              <a:t>		🡺 Viết lại phương thức tinhLuong() cho lớp GVCN.</a:t>
            </a:r>
            <a:endParaRPr b="1" sz="1400">
              <a:solidFill>
                <a:schemeClr val="hlink"/>
              </a:solidFill>
            </a:endParaRPr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15" name="Google Shape;215;p1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" name="Google Shape;216;p1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Định nghĩa lại phương thức</a:t>
            </a:r>
            <a:endParaRPr/>
          </a:p>
        </p:txBody>
      </p:sp>
      <p:sp>
        <p:nvSpPr>
          <p:cNvPr id="222" name="Google Shape;222;p1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Ví dụ: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class GiaoVien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private:</a:t>
            </a:r>
            <a:br>
              <a:rPr lang="en-US" sz="1800"/>
            </a:br>
            <a:r>
              <a:rPr lang="en-US" sz="1800"/>
              <a:t>	char	*m_hoTen;</a:t>
            </a:r>
            <a:br>
              <a:rPr lang="en-US" sz="1800"/>
            </a:br>
            <a:r>
              <a:rPr lang="en-US" sz="1800"/>
              <a:t>	float	m_mucLuong;</a:t>
            </a:r>
            <a:br>
              <a:rPr lang="en-US" sz="1800"/>
            </a:br>
            <a:r>
              <a:rPr lang="en-US" sz="1800"/>
              <a:t>	int	m_ngayNghi;</a:t>
            </a:r>
            <a:br>
              <a:rPr lang="en-US" sz="1800"/>
            </a:br>
            <a:r>
              <a:rPr lang="en-US" sz="1800"/>
              <a:t>public:</a:t>
            </a:r>
            <a:br>
              <a:rPr lang="en-US" sz="1800"/>
            </a:br>
            <a:r>
              <a:rPr lang="en-US" sz="1800"/>
              <a:t>	GiaoVien(char  *hoTen, float  mucLuong, int   ngayNghi);</a:t>
            </a:r>
            <a:br>
              <a:rPr lang="en-US" sz="1800"/>
            </a:br>
            <a:r>
              <a:rPr lang="en-US" sz="1800"/>
              <a:t>	void giangDay();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chemeClr val="hlink"/>
                </a:solidFill>
              </a:rPr>
              <a:t>float tinhLuong()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b="1" lang="en-US" sz="1800">
                <a:solidFill>
                  <a:schemeClr val="hlink"/>
                </a:solidFill>
              </a:rPr>
              <a:t>	{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b="1" lang="en-US" sz="1800">
                <a:solidFill>
                  <a:schemeClr val="hlink"/>
                </a:solidFill>
              </a:rPr>
              <a:t>		return m_mucLuong – m_ngayNghi * 100000;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b="1" lang="en-US" sz="1800">
                <a:solidFill>
                  <a:schemeClr val="hlink"/>
                </a:solidFill>
              </a:rPr>
              <a:t>	}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lang="en-US" sz="1800"/>
              <a:t>};</a:t>
            </a:r>
            <a:endParaRPr/>
          </a:p>
        </p:txBody>
      </p:sp>
      <p:sp>
        <p:nvSpPr>
          <p:cNvPr id="223" name="Google Shape;223;p1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1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Định nghĩa lại phương thức</a:t>
            </a:r>
            <a:endParaRPr/>
          </a:p>
        </p:txBody>
      </p:sp>
      <p:sp>
        <p:nvSpPr>
          <p:cNvPr id="230" name="Google Shape;230;p1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Ví dụ: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class </a:t>
            </a:r>
            <a:r>
              <a:rPr b="1" lang="en-US" sz="1800">
                <a:solidFill>
                  <a:schemeClr val="hlink"/>
                </a:solidFill>
              </a:rPr>
              <a:t>GVCN</a:t>
            </a:r>
            <a:r>
              <a:rPr lang="en-US" sz="1800"/>
              <a:t> : public </a:t>
            </a:r>
            <a:r>
              <a:rPr b="1" lang="en-US" sz="1800">
                <a:solidFill>
                  <a:schemeClr val="hlink"/>
                </a:solidFill>
              </a:rPr>
              <a:t>GiaoVien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private:</a:t>
            </a:r>
            <a:br>
              <a:rPr lang="en-US" sz="1800"/>
            </a:br>
            <a:r>
              <a:rPr lang="en-US" sz="1800"/>
              <a:t>	char	*m_lopCN;</a:t>
            </a:r>
            <a:br>
              <a:rPr lang="en-US" sz="1800"/>
            </a:br>
            <a:r>
              <a:rPr lang="en-US" sz="1800"/>
              <a:t>public:</a:t>
            </a:r>
            <a:br>
              <a:rPr lang="en-US" sz="1800"/>
            </a:br>
            <a:r>
              <a:rPr lang="en-US" sz="1800"/>
              <a:t>	GVCN(char  *hoTen,</a:t>
            </a:r>
            <a:br>
              <a:rPr lang="en-US" sz="1800"/>
            </a:br>
            <a:r>
              <a:rPr lang="en-US" sz="1800"/>
              <a:t>		float  mucLuong,</a:t>
            </a:r>
            <a:br>
              <a:rPr lang="en-US" sz="1800"/>
            </a:br>
            <a:r>
              <a:rPr lang="en-US" sz="1800"/>
              <a:t>		int  ngayNghi,</a:t>
            </a:r>
            <a:br>
              <a:rPr lang="en-US" sz="1800"/>
            </a:br>
            <a:r>
              <a:rPr lang="en-US" sz="1800"/>
              <a:t>		char  *lopCN);</a:t>
            </a:r>
            <a:br>
              <a:rPr lang="en-US" sz="1800"/>
            </a:br>
            <a:r>
              <a:rPr lang="en-US" sz="1800"/>
              <a:t>	void sinhHoatCN();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chemeClr val="hlink"/>
                </a:solidFill>
              </a:rPr>
              <a:t>float tinhLuong()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b="1" lang="en-US" sz="1800">
                <a:solidFill>
                  <a:schemeClr val="hlink"/>
                </a:solidFill>
              </a:rPr>
              <a:t>	{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b="1" lang="en-US" sz="1800">
                <a:solidFill>
                  <a:schemeClr val="hlink"/>
                </a:solidFill>
              </a:rPr>
              <a:t>		return </a:t>
            </a:r>
            <a:r>
              <a:rPr b="1" lang="en-US" sz="1800">
                <a:solidFill>
                  <a:schemeClr val="hlink"/>
                </a:solidFill>
              </a:rPr>
              <a:t>GiaoVien::tinhLuong() + </a:t>
            </a:r>
            <a:r>
              <a:rPr b="1" lang="en-US" sz="1800">
                <a:solidFill>
                  <a:schemeClr val="hlink"/>
                </a:solidFill>
              </a:rPr>
              <a:t>1000000;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b="1" lang="en-US" sz="1800">
                <a:solidFill>
                  <a:schemeClr val="hlink"/>
                </a:solidFill>
              </a:rPr>
              <a:t>	}</a:t>
            </a:r>
            <a:br>
              <a:rPr b="1" lang="en-US" sz="1800">
                <a:solidFill>
                  <a:schemeClr val="hlink"/>
                </a:solidFill>
              </a:rPr>
            </a:br>
            <a:r>
              <a:rPr lang="en-US" sz="1800"/>
              <a:t>};</a:t>
            </a:r>
            <a:endParaRPr/>
          </a:p>
        </p:txBody>
      </p:sp>
      <p:sp>
        <p:nvSpPr>
          <p:cNvPr id="231" name="Google Shape;231;p1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" name="Google Shape;232;p1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4343400" y="1676400"/>
            <a:ext cx="47244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void main()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GiaoVien   gv1(“Minh”, 500000, 5);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gv1.giangDay();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float  luong1 = gv1.tinhLuong();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GVCN   gv2(“Hanh”, 700000, 3);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gv2.giangDay();</a:t>
            </a:r>
            <a:b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float  luong2 = 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gv2.tinhLuong();</a:t>
            </a:r>
            <a:b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240" name="Google Shape;240;p1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Khái niệm kế thừa.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Tầm vực trong kế thừa.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Định nghĩa lại phương thức.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Quan hệ IS-A và HAS-A.</a:t>
            </a:r>
            <a:endParaRPr b="1">
              <a:solidFill>
                <a:srgbClr val="FFC000"/>
              </a:solidFill>
            </a:endParaRPr>
          </a:p>
        </p:txBody>
      </p:sp>
      <p:sp>
        <p:nvSpPr>
          <p:cNvPr id="241" name="Google Shape;241;p1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1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Quan hệ IS-A và HAS-A</a:t>
            </a:r>
            <a:endParaRPr/>
          </a:p>
        </p:txBody>
      </p:sp>
      <p:sp>
        <p:nvSpPr>
          <p:cNvPr id="248" name="Google Shape;248;p1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Quan hệ IS-A: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Lớp A quan hệ IS-A với lớp B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A là một trường hợp đặc biệt của B.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A cùng loại với B.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Ví dụ: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GVCN là một GiaoVien đặc biệt.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HinhVuong là một HinhChuNhat đặc biệt.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ConMeo là một ConVat đặc biệt.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260"/>
              <a:buChar char="■"/>
            </a:pPr>
            <a:r>
              <a:rPr lang="en-US"/>
              <a:t>Chúng ta chỉ cho class A kế thừa class B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260"/>
              <a:buChar char="■"/>
            </a:pPr>
            <a:r>
              <a:rPr lang="en-US"/>
              <a:t>khi và chỉ khi  “A is a B”</a:t>
            </a:r>
            <a:endParaRPr/>
          </a:p>
          <a:p>
            <a:pPr indent="0" lvl="0" marL="74295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1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Quan hệ IS-A và HAS-A</a:t>
            </a:r>
            <a:endParaRPr/>
          </a:p>
        </p:txBody>
      </p:sp>
      <p:sp>
        <p:nvSpPr>
          <p:cNvPr id="256" name="Google Shape;256;p2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Quan hệ HAS-A: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Lớp A quan hệ HAS-A với lớp B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A bao hàm B.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A chứa B.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B là một bộ phận của 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Ví dụ: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ChiecXe chứa BanhXe.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QuyenSach chứa TrangSach.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57" name="Google Shape;257;p2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2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Quan hệ IS-A và HAS-A</a:t>
            </a:r>
            <a:endParaRPr/>
          </a:p>
        </p:txBody>
      </p:sp>
      <p:sp>
        <p:nvSpPr>
          <p:cNvPr id="264" name="Google Shape;264;p2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Dr. Guru khuyên: </a:t>
            </a:r>
            <a:r>
              <a:rPr b="1" lang="en-US">
                <a:solidFill>
                  <a:schemeClr val="hlink"/>
                </a:solidFill>
              </a:rPr>
              <a:t>luật xây dựng lớp.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A có quan hệ IS-A với B.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1" lang="en-US">
                <a:solidFill>
                  <a:schemeClr val="hlink"/>
                </a:solidFill>
              </a:rPr>
              <a:t>	🡺 Cho A kế thừa B.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A có quan hệ HAS-A với B.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1" lang="en-US">
                <a:solidFill>
                  <a:schemeClr val="hlink"/>
                </a:solidFill>
              </a:rPr>
              <a:t>	🡺 Cho B là một thuộc tính của A.</a:t>
            </a:r>
            <a:endParaRPr b="1">
              <a:solidFill>
                <a:schemeClr val="hlink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Ví dụ: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class </a:t>
            </a:r>
            <a:r>
              <a:rPr b="1" lang="en-US" sz="1800">
                <a:solidFill>
                  <a:srgbClr val="FFC000"/>
                </a:solidFill>
              </a:rPr>
              <a:t>ConMeo</a:t>
            </a:r>
            <a:r>
              <a:rPr lang="en-US" sz="1800"/>
              <a:t> : public </a:t>
            </a:r>
            <a:r>
              <a:rPr b="1" lang="en-US" sz="1800">
                <a:solidFill>
                  <a:srgbClr val="FFC000"/>
                </a:solidFill>
              </a:rPr>
              <a:t>ConVat</a:t>
            </a:r>
            <a:r>
              <a:rPr lang="en-US" sz="1800"/>
              <a:t> { };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class </a:t>
            </a:r>
            <a:r>
              <a:rPr b="1" lang="en-US" sz="1800">
                <a:solidFill>
                  <a:srgbClr val="FFC000"/>
                </a:solidFill>
              </a:rPr>
              <a:t>ChiecXe</a:t>
            </a:r>
            <a:br>
              <a:rPr lang="en-US" sz="1800"/>
            </a:br>
            <a:r>
              <a:rPr lang="en-US" sz="1800"/>
              <a:t>{</a:t>
            </a:r>
            <a:br>
              <a:rPr lang="en-US" sz="1800"/>
            </a:br>
            <a:r>
              <a:rPr lang="en-US" sz="1800"/>
              <a:t>private: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>
                <a:solidFill>
                  <a:srgbClr val="FFC000"/>
                </a:solidFill>
              </a:rPr>
              <a:t>BanhXe</a:t>
            </a:r>
            <a:r>
              <a:rPr lang="en-US" sz="1800"/>
              <a:t>   *m_banhXe;</a:t>
            </a:r>
            <a:br>
              <a:rPr lang="en-US" sz="1800"/>
            </a:br>
            <a:r>
              <a:rPr lang="en-US" sz="1800"/>
              <a:t>};</a:t>
            </a:r>
            <a:endParaRPr/>
          </a:p>
          <a:p>
            <a:pPr indent="-20066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65" name="Google Shape;265;p2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2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  <p:pic>
        <p:nvPicPr>
          <p:cNvPr id="267" name="Google Shape;26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3810000"/>
            <a:ext cx="2514600" cy="249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Tóm tắt</a:t>
            </a:r>
            <a:endParaRPr/>
          </a:p>
        </p:txBody>
      </p:sp>
      <p:sp>
        <p:nvSpPr>
          <p:cNvPr id="274" name="Google Shape;274;p2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Khái niệm kế thừa: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Định nghĩa lớp mới dựa trên những lớp đã có.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Lớp kế thừa thừa hưởng TẤT CẢ từ lớp cơ sở.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Tầm vực trong kế thừa: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Tầm vực thay đổi tùy theo loại kế thừa.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Định nghĩa lại phương thức: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“Cải biên” những phương thức kế thừa.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Quan hệ IS-A và HAS-A: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IS-A: A là trường hợp đặc biệt của B.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HAS-A: A bao hàm B.</a:t>
            </a:r>
            <a:endParaRPr/>
          </a:p>
        </p:txBody>
      </p:sp>
      <p:sp>
        <p:nvSpPr>
          <p:cNvPr id="275" name="Google Shape;275;p2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2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83" name="Google Shape;283;p2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7.1: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Những cặp đối tượng sau có quan hệ IS-A hay HAS-A?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Khai báo lớp cho từng cặp thể hiện quan hệ giữa chúng.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Hình vuông / Hình chữ nhật.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Đa giác / Cạnh.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Giám đốc / Nhân viên.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Hình tròn / Hình Ellipse.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Máy bay / Động cơ.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Câu / Từ.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Mỹ phẩm / Hàng hóa.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Cây lúa / Cây lương thực.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Thư viện / Sách.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Phim hoạt hình / Phim ảnh.</a:t>
            </a:r>
            <a:endParaRPr/>
          </a:p>
        </p:txBody>
      </p:sp>
      <p:sp>
        <p:nvSpPr>
          <p:cNvPr id="284" name="Google Shape;284;p2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5" name="Google Shape;285;p2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91" name="Google Shape;291;p2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7.2: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Cho lớp TaiKhoan như sau: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class TaiKhoan</a:t>
            </a:r>
            <a:br>
              <a:rPr lang="en-US" sz="2000"/>
            </a:br>
            <a:r>
              <a:rPr lang="en-US" sz="2000"/>
              <a:t>{</a:t>
            </a:r>
            <a:br>
              <a:rPr lang="en-US" sz="2000"/>
            </a:br>
            <a:r>
              <a:rPr lang="en-US" sz="2000"/>
              <a:t>private:</a:t>
            </a:r>
            <a:br>
              <a:rPr lang="en-US" sz="2000"/>
            </a:br>
            <a:r>
              <a:rPr lang="en-US" sz="2000"/>
              <a:t>	float	m_soDu;</a:t>
            </a:r>
            <a:br>
              <a:rPr lang="en-US" sz="2000"/>
            </a:br>
            <a:r>
              <a:rPr lang="en-US" sz="2000"/>
              <a:t>public:</a:t>
            </a:r>
            <a:br>
              <a:rPr lang="en-US" sz="2000"/>
            </a:br>
            <a:r>
              <a:rPr lang="en-US" sz="2000"/>
              <a:t>	float baoSoDu() {   return m_soDu;   }</a:t>
            </a:r>
            <a:br>
              <a:rPr lang="en-US" sz="2000"/>
            </a:br>
            <a:r>
              <a:rPr lang="en-US" sz="2000"/>
              <a:t>	void napTien(float  soTien) {   m_soDu += soTien;   }</a:t>
            </a:r>
            <a:br>
              <a:rPr lang="en-US" sz="2000"/>
            </a:br>
            <a:r>
              <a:rPr lang="en-US" sz="2000"/>
              <a:t>	bool rutTien(float soTien)</a:t>
            </a:r>
            <a:br>
              <a:rPr lang="en-US" sz="2000"/>
            </a:br>
            <a:r>
              <a:rPr lang="en-US" sz="2000"/>
              <a:t>	{</a:t>
            </a:r>
            <a:br>
              <a:rPr lang="en-US" sz="2000"/>
            </a:br>
            <a:r>
              <a:rPr lang="en-US" sz="2000"/>
              <a:t>		if (soTien &lt;= m_soDu) {</a:t>
            </a:r>
            <a:br>
              <a:rPr lang="en-US" sz="2000"/>
            </a:br>
            <a:r>
              <a:rPr lang="en-US" sz="2000"/>
              <a:t>			m_soDu -= soTien;</a:t>
            </a:r>
            <a:br>
              <a:rPr lang="en-US" sz="2000"/>
            </a:br>
            <a:r>
              <a:rPr lang="en-US" sz="2000"/>
              <a:t>			return true; }</a:t>
            </a:r>
            <a:br>
              <a:rPr lang="en-US" sz="2000"/>
            </a:br>
            <a:r>
              <a:rPr lang="en-US" sz="2000"/>
              <a:t>		return false;</a:t>
            </a:r>
            <a:br>
              <a:rPr lang="en-US" sz="2000"/>
            </a:br>
            <a:r>
              <a:rPr lang="en-US" sz="2000"/>
              <a:t>	}</a:t>
            </a:r>
            <a:br>
              <a:rPr lang="en-US" sz="2000"/>
            </a:br>
            <a:r>
              <a:rPr lang="en-US" sz="2000"/>
              <a:t>};</a:t>
            </a:r>
            <a:endParaRPr/>
          </a:p>
        </p:txBody>
      </p:sp>
      <p:sp>
        <p:nvSpPr>
          <p:cNvPr id="292" name="Google Shape;292;p2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p2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99" name="Google Shape;299;p2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7.2: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Dựa trên lớp TaiKhoan, xây dựng lớp TaiKhoanTietKiem như sau: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Có thêm thông tin:</a:t>
            </a:r>
            <a:endParaRPr/>
          </a:p>
          <a:p>
            <a:pPr indent="-228600" lvl="3" marL="1600200" rtl="0" algn="l">
              <a:spcBef>
                <a:spcPts val="360"/>
              </a:spcBef>
              <a:spcAft>
                <a:spcPts val="0"/>
              </a:spcAft>
              <a:buSzPts val="1260"/>
              <a:buChar char="⮚"/>
            </a:pPr>
            <a:r>
              <a:rPr lang="en-US" sz="1800"/>
              <a:t>Kỳ hạn gửi.</a:t>
            </a:r>
            <a:endParaRPr/>
          </a:p>
          <a:p>
            <a:pPr indent="-228600" lvl="3" marL="1600200" rtl="0" algn="l">
              <a:spcBef>
                <a:spcPts val="360"/>
              </a:spcBef>
              <a:spcAft>
                <a:spcPts val="0"/>
              </a:spcAft>
              <a:buSzPts val="1260"/>
              <a:buChar char="⮚"/>
            </a:pPr>
            <a:r>
              <a:rPr lang="en-US" sz="1800"/>
              <a:t>Lãi suất.</a:t>
            </a:r>
            <a:endParaRPr/>
          </a:p>
          <a:p>
            <a:pPr indent="-228600" lvl="3" marL="1600200" rtl="0" algn="l">
              <a:spcBef>
                <a:spcPts val="360"/>
              </a:spcBef>
              <a:spcAft>
                <a:spcPts val="0"/>
              </a:spcAft>
              <a:buSzPts val="1260"/>
              <a:buChar char="⮚"/>
            </a:pPr>
            <a:r>
              <a:rPr lang="en-US" sz="1800"/>
              <a:t>Số tháng đã gửi.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Khi nạp tiền, tính lãi và số tháng gửi tính lại từ đầu.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Khi rút tiền, tính lãi và số tháng gửi tính lại từ đầu.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Cho phép tăng số tháng đã gửi.</a:t>
            </a:r>
            <a:endParaRPr/>
          </a:p>
        </p:txBody>
      </p:sp>
      <p:sp>
        <p:nvSpPr>
          <p:cNvPr id="300" name="Google Shape;300;p2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2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307" name="Google Shape;307;p2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7.3: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Một chiếc xe máy chạy không tải 100km tốn 2 lit xăng, cứ chở thêm 10kg hàng xe tốn thêm 0.1lit xăng (mỗi 100km).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Một chiếc xe tải chạy không tải 100km tốn 20lit xăng, cứ chở thêm 1000kg hàng xe tốn thêm 1lit xăng (mỗi 100km).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Dùng kế thừa để xây dựng lớp XeMay và XeTai cho phép: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Chất một lượng hàng lên xe.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Bỏ bớt một lượng hàng xuống xe.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Đổ một lượng xăng vào xe.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Cho xe chạy một đoạn đường.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Kiểm tra xem xe đã hết xăng chưa.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- Cho biết lượng xăng còn trong xe.</a:t>
            </a:r>
            <a:endParaRPr/>
          </a:p>
        </p:txBody>
      </p:sp>
      <p:sp>
        <p:nvSpPr>
          <p:cNvPr id="308" name="Google Shape;308;p2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" name="Google Shape;309;p2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 - GV. Nguyễn Minh Huy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2005-11-21T10:16:26Z</dcterms:created>
  <dc:creator>Nguyen Minh Huy</dc:creator>
</cp:coreProperties>
</file>