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7302500" cy="9588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0">
          <p15:clr>
            <a:srgbClr val="000000"/>
          </p15:clr>
        </p15:guide>
        <p15:guide id="2" pos="2300">
          <p15:clr>
            <a:srgbClr val="000000"/>
          </p15:clr>
        </p15:guide>
      </p15:notesGuideLst>
    </p:ext>
    <p:ext uri="GoogleSlidesCustomDataVersion2">
      <go:slidesCustomData xmlns:go="http://customooxmlschemas.google.com/" r:id="rId31" roundtripDataSignature="AMtx7mgGL72Xp3bvAQaJ8rPk87IoqDJJ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8F9286-15D4-4256-852F-AE0F9EDD7BE0}">
  <a:tblStyle styleId="{BC8F9286-15D4-4256-852F-AE0F9EDD7B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6"/>
          </a:solidFill>
        </a:fill>
      </a:tcStyle>
    </a:wholeTbl>
    <a:band1H>
      <a:tcTxStyle/>
      <a:tcStyle>
        <a:fill>
          <a:solidFill>
            <a:srgbClr val="CADDEC"/>
          </a:solidFill>
        </a:fill>
      </a:tcStyle>
    </a:band1H>
    <a:band2H>
      <a:tcTxStyle/>
    </a:band2H>
    <a:band1V>
      <a:tcTxStyle/>
      <a:tcStyle>
        <a:fill>
          <a:solidFill>
            <a:srgbClr val="CADDE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0" orient="horz"/>
        <p:guide pos="230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36393" y="0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0" name="Google Shape;260;p2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6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6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6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6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6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6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6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6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6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6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6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6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6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5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5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5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5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5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5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5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5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5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5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5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5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5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STL,</a:t>
            </a:r>
            <a:br>
              <a:rPr lang="en-US"/>
            </a:br>
            <a:r>
              <a:rPr lang="en-US"/>
              <a:t>Tính đóng gói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STL.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đóng gói.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Thư viện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STL.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đóng gói.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C++</a:t>
            </a:r>
            <a:endParaRPr/>
          </a:p>
        </p:txBody>
      </p:sp>
      <p:sp>
        <p:nvSpPr>
          <p:cNvPr id="95" name="Google Shape;95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thư viện: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Thợ xây dựng dùng gì để xây nhà?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Tay không.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Công cụ hỗ trợ.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Thư viện lập trình: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Bộ công cụ hỗ trợ của lập trình viên.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Tập hợp tri thức của người đi trước.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🡺 Các lớp, hàm dựng sẵn (file .lib).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thư viện C++ phổ biến: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chuẩn C++.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boost: hơn 80 thư viện hỗ trợ lập trình C++.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MFC: hỗ trợ lập trình C++ trên Windows.</a:t>
            </a:r>
            <a:endParaRPr/>
          </a:p>
        </p:txBody>
      </p:sp>
      <p:sp>
        <p:nvSpPr>
          <p:cNvPr id="96" name="Google Shape;96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pic>
        <p:nvPicPr>
          <p:cNvPr descr="http://t0.gstatic.com/images?q=tbn:ANd9GcTP5PucfRsZ3XthUchVqXXQPxNlRNkZ6bQTe7Gdfb7-vmdTiseBs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1925" y="3405554"/>
            <a:ext cx="888274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t0.gstatic.com/images?q=tbn:ANd9GcTv49_1zh7tv7QJ8SIUwzhzrEw7gaT9H1U-SDEWNlo0CfSGe5rw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1" y="3401885"/>
            <a:ext cx="777239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t0.gstatic.com/images?q=tbn:ANd9GcT9styQV_AKUXk1HPTkCU-pEGlQLMwvX24456t3T_MoJ8_tUnz3SQ" id="100" name="Google Shape;10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0076" y="1829645"/>
            <a:ext cx="1655064" cy="157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C++</a:t>
            </a:r>
            <a:endParaRPr/>
          </a:p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chuẩn (C++ Standard Library):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Phát triển và chuẩn hóa vào 1990s.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Bộ công cụ lập trình nền tảng.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Tập hợp các lớp trong namespace std.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Đặc điểm: file header không .h.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Cấu trúc: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nhập xuất: iostream, fstream, iomanip, …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STL.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chuẩn C: file header </a:t>
            </a:r>
            <a:r>
              <a:rPr b="1" lang="en-US">
                <a:solidFill>
                  <a:srgbClr val="FFC000"/>
                </a:solidFill>
              </a:rPr>
              <a:t>c</a:t>
            </a:r>
            <a:r>
              <a:rPr lang="en-US"/>
              <a:t>xxx.h.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Thư viện STL.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đóng gói.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Giới thiệu STL–</a:t>
            </a:r>
            <a:r>
              <a:rPr b="1" lang="en-US">
                <a:solidFill>
                  <a:srgbClr val="FFC000"/>
                </a:solidFill>
              </a:rPr>
              <a:t>S</a:t>
            </a:r>
            <a:r>
              <a:rPr lang="en-US"/>
              <a:t>tandard </a:t>
            </a:r>
            <a:r>
              <a:rPr b="1" lang="en-US">
                <a:solidFill>
                  <a:srgbClr val="FFC000"/>
                </a:solidFill>
              </a:rPr>
              <a:t>T</a:t>
            </a:r>
            <a:r>
              <a:rPr lang="en-US"/>
              <a:t>emplate </a:t>
            </a:r>
            <a:r>
              <a:rPr b="1" lang="en-US">
                <a:solidFill>
                  <a:srgbClr val="FFC000"/>
                </a:solidFill>
              </a:rPr>
              <a:t>L</a:t>
            </a:r>
            <a:r>
              <a:rPr lang="en-US"/>
              <a:t>ibrary: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Alexander Stepanov, 1994.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Phần chính yếu của thư viện chuẩn.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Tập hợp class template dựng sẵn.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Hỗ trợ cấu trúc dữ liệu tổng quát.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Cấu trúc thư viện: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Nhóm containers.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Nhóm iterators.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Nhóm algorithms.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Nhóm functors.</a:t>
            </a:r>
            <a:endParaRPr/>
          </a:p>
          <a:p>
            <a:pPr indent="-1397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pic>
        <p:nvPicPr>
          <p:cNvPr descr="http://t1.gstatic.com/images?q=tbn:ANd9GcRMuE5237fsMcxOiUMmYnbbUvhEYb_XF7RjDdEf-9Z7slD9-X5cOw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981" y="1752600"/>
            <a:ext cx="1468419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5257800" y="4038600"/>
            <a:ext cx="3276600" cy="2057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Thư viện chuẩn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867400" y="4572000"/>
            <a:ext cx="2514600" cy="1371600"/>
          </a:xfrm>
          <a:prstGeom prst="roundRect">
            <a:avLst>
              <a:gd fmla="val 7093" name="adj"/>
            </a:avLst>
          </a:prstGeom>
          <a:solidFill>
            <a:srgbClr val="92D05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Thư viện STL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162800" y="4953000"/>
            <a:ext cx="1066800" cy="381000"/>
          </a:xfrm>
          <a:prstGeom prst="roundRect">
            <a:avLst>
              <a:gd fmla="val 7093" name="adj"/>
            </a:avLst>
          </a:prstGeom>
          <a:solidFill>
            <a:srgbClr val="FFC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iterators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019800" y="5410200"/>
            <a:ext cx="1066800" cy="381000"/>
          </a:xfrm>
          <a:prstGeom prst="roundRect">
            <a:avLst>
              <a:gd fmla="val 7093" name="adj"/>
            </a:avLst>
          </a:prstGeom>
          <a:solidFill>
            <a:srgbClr val="FFC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algorithms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162800" y="5410200"/>
            <a:ext cx="1066800" cy="381000"/>
          </a:xfrm>
          <a:prstGeom prst="roundRect">
            <a:avLst>
              <a:gd fmla="val 7093" name="adj"/>
            </a:avLst>
          </a:prstGeom>
          <a:solidFill>
            <a:srgbClr val="FFC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019800" y="4953000"/>
            <a:ext cx="1066800" cy="381000"/>
          </a:xfrm>
          <a:prstGeom prst="roundRect">
            <a:avLst>
              <a:gd fmla="val 7093" name="adj"/>
            </a:avLst>
          </a:prstGeom>
          <a:solidFill>
            <a:srgbClr val="FFC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containers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Lớp string (header &lt;string&gt;):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đại diện cho chuỗi ký tự.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Giải quyết 3 vấn đề con trỏ.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phương thức chính: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graphicFrame>
        <p:nvGraphicFramePr>
          <p:cNvPr id="141" name="Google Shape;141;p8"/>
          <p:cNvGraphicFramePr/>
          <p:nvPr/>
        </p:nvGraphicFramePr>
        <p:xfrm>
          <a:off x="9144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{BC8F9286-15D4-4256-852F-AE0F9EDD7BE0}</a:tableStyleId>
              </a:tblPr>
              <a:tblGrid>
                <a:gridCol w="3352800"/>
                <a:gridCol w="4038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Phương thức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Ý</a:t>
                      </a:r>
                      <a:r>
                        <a:rPr lang="en-US" sz="1800"/>
                        <a:t> nghĩa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string(char *)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Khởi</a:t>
                      </a:r>
                      <a:r>
                        <a:rPr lang="en-US" sz="1800"/>
                        <a:t> tạo từ một chuỗi char *.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length()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Lấy</a:t>
                      </a:r>
                      <a:r>
                        <a:rPr lang="en-US" sz="1800"/>
                        <a:t> chiều dài chuỗi.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Toán</a:t>
                      </a:r>
                      <a:r>
                        <a:rPr lang="en-US" sz="1800"/>
                        <a:t> tử [ 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Lấy</a:t>
                      </a:r>
                      <a:r>
                        <a:rPr lang="en-US" sz="1800"/>
                        <a:t> ký tự tại vị trí nào đó.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Toán</a:t>
                      </a:r>
                      <a:r>
                        <a:rPr lang="en-US" sz="1800"/>
                        <a:t> tử &gt;, &lt;, &gt;=, &lt;=, ==, !=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So sánh</a:t>
                      </a:r>
                      <a:r>
                        <a:rPr lang="en-US" sz="1800"/>
                        <a:t> chuỗi theo thứ tự từ điển.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Toán</a:t>
                      </a:r>
                      <a:r>
                        <a:rPr lang="en-US" sz="1800"/>
                        <a:t> tử +, +=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Nối</a:t>
                      </a:r>
                      <a:r>
                        <a:rPr lang="en-US" sz="1800"/>
                        <a:t> chuỗi.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find(char *)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Tìm</a:t>
                      </a:r>
                      <a:r>
                        <a:rPr lang="en-US" sz="1800"/>
                        <a:t> vị trí chuỗi con.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substr(int, int)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Trích</a:t>
                      </a:r>
                      <a:r>
                        <a:rPr lang="en-US" sz="1800"/>
                        <a:t> chuỗi con.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</a:t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Lớp string: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void main()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lang="en-US" sz="2000"/>
              <a:t>	</a:t>
            </a:r>
            <a:r>
              <a:rPr b="1" lang="en-US" sz="2000">
                <a:solidFill>
                  <a:srgbClr val="FFC000"/>
                </a:solidFill>
              </a:rPr>
              <a:t>string</a:t>
            </a:r>
            <a:r>
              <a:rPr lang="en-US" sz="2000"/>
              <a:t>	s1(“software”);</a:t>
            </a:r>
            <a:br>
              <a:rPr lang="en-US" sz="2000"/>
            </a:br>
            <a:r>
              <a:rPr lang="en-US" sz="2000"/>
              <a:t>	</a:t>
            </a:r>
            <a:r>
              <a:rPr b="1" lang="en-US" sz="2000">
                <a:solidFill>
                  <a:srgbClr val="FFC000"/>
                </a:solidFill>
              </a:rPr>
              <a:t>string</a:t>
            </a:r>
            <a:r>
              <a:rPr lang="en-US" sz="2000"/>
              <a:t>	s2(“SoftWare”);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if (s1 == s2)</a:t>
            </a:r>
            <a:br>
              <a:rPr lang="en-US" sz="2000"/>
            </a:br>
            <a:r>
              <a:rPr lang="en-US" sz="2000"/>
              <a:t>		cout &lt;&lt; “equal.” &lt;&lt; endl;</a:t>
            </a:r>
            <a:br>
              <a:rPr lang="en-US" sz="2000"/>
            </a:br>
            <a:r>
              <a:rPr lang="en-US" sz="2000"/>
              <a:t>	else</a:t>
            </a:r>
            <a:br>
              <a:rPr lang="en-US" sz="2000"/>
            </a:br>
            <a:r>
              <a:rPr lang="en-US" sz="2000"/>
              <a:t>		cout &lt;&lt; “not equal.” &lt;&lt; endl;</a:t>
            </a:r>
            <a:br>
              <a:rPr lang="en-US" sz="2000"/>
            </a:br>
            <a:br>
              <a:rPr lang="en-US" sz="2000"/>
            </a:br>
            <a:r>
              <a:rPr lang="en-US" sz="2000"/>
              <a:t>	s2 = s1.substr(4, 4);</a:t>
            </a:r>
            <a:br>
              <a:rPr lang="en-US" sz="2000"/>
            </a:br>
            <a:r>
              <a:rPr lang="en-US" sz="2000"/>
              <a:t>	cout &lt;&lt; s2;</a:t>
            </a:r>
            <a:br>
              <a:rPr lang="en-US" sz="2000"/>
            </a:br>
            <a:br>
              <a:rPr lang="en-US" sz="2000"/>
            </a:br>
            <a:r>
              <a:rPr lang="en-US" sz="2000"/>
              <a:t>	string	s3 = s1 + s2;</a:t>
            </a:r>
            <a:br>
              <a:rPr lang="en-US" sz="2000"/>
            </a:br>
            <a:r>
              <a:rPr lang="en-US" sz="2000"/>
              <a:t>	cout &lt;&lt; s3 &lt;&lt; endl;</a:t>
            </a:r>
            <a:br>
              <a:rPr lang="en-US" sz="2000"/>
            </a:br>
            <a:r>
              <a:rPr lang="en-US" sz="2000"/>
              <a:t>}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</a:t>
            </a:r>
            <a:endParaRPr/>
          </a:p>
        </p:txBody>
      </p:sp>
      <p:sp>
        <p:nvSpPr>
          <p:cNvPr id="155" name="Google Shape;155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Lớp vector (header &lt;vector&gt;):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mảng kiểu tổng quát T.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Giải quyết 3 vấn đề con trỏ.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phương thức chính:</a:t>
            </a:r>
            <a:endParaRPr/>
          </a:p>
        </p:txBody>
      </p:sp>
      <p:sp>
        <p:nvSpPr>
          <p:cNvPr id="156" name="Google Shape;156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graphicFrame>
        <p:nvGraphicFramePr>
          <p:cNvPr id="158" name="Google Shape;158;p10"/>
          <p:cNvGraphicFramePr/>
          <p:nvPr/>
        </p:nvGraphicFramePr>
        <p:xfrm>
          <a:off x="9144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{BC8F9286-15D4-4256-852F-AE0F9EDD7BE0}</a:tableStyleId>
              </a:tblPr>
              <a:tblGrid>
                <a:gridCol w="3352800"/>
                <a:gridCol w="4038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Phương</a:t>
                      </a:r>
                      <a:r>
                        <a:rPr lang="en-US" sz="1800"/>
                        <a:t> thức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Ý</a:t>
                      </a:r>
                      <a:r>
                        <a:rPr lang="en-US" sz="1800"/>
                        <a:t> nghĩa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vector&lt;T&gt;()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Khởi</a:t>
                      </a:r>
                      <a:r>
                        <a:rPr lang="en-US" sz="1800"/>
                        <a:t> tạo mảng kiểu T.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size()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Lấy</a:t>
                      </a:r>
                      <a:r>
                        <a:rPr lang="en-US" sz="1800"/>
                        <a:t> kích thước mảng.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resize(int)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Thay đổi</a:t>
                      </a:r>
                      <a:r>
                        <a:rPr lang="en-US" sz="1800"/>
                        <a:t> kích thước mảng.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Toán</a:t>
                      </a:r>
                      <a:r>
                        <a:rPr lang="en-US" sz="1800"/>
                        <a:t> tử [ 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Lấy</a:t>
                      </a:r>
                      <a:r>
                        <a:rPr lang="en-US" sz="1800"/>
                        <a:t> phần tử tại vị trí nào đó.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push_back(T)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Thêm</a:t>
                      </a:r>
                      <a:r>
                        <a:rPr lang="en-US" sz="1800"/>
                        <a:t> phần tử vào cuối mảng.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insert(position, T)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Chèn</a:t>
                      </a:r>
                      <a:r>
                        <a:rPr lang="en-US" sz="1800"/>
                        <a:t> phần tử vào vị trí nào đó.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Lớp vector: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void main()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lang="en-US" sz="2000"/>
              <a:t>	</a:t>
            </a:r>
            <a:r>
              <a:rPr b="1" lang="en-US" sz="2000">
                <a:solidFill>
                  <a:srgbClr val="FFC000"/>
                </a:solidFill>
              </a:rPr>
              <a:t>vector&lt;int&gt;</a:t>
            </a:r>
            <a:r>
              <a:rPr lang="en-US" sz="2000"/>
              <a:t>	v1;</a:t>
            </a:r>
            <a:br>
              <a:rPr lang="en-US" sz="2000"/>
            </a:br>
            <a:r>
              <a:rPr lang="en-US" sz="2000"/>
              <a:t>	v1.push_back(1);</a:t>
            </a:r>
            <a:br>
              <a:rPr lang="en-US" sz="2000"/>
            </a:br>
            <a:r>
              <a:rPr lang="en-US" sz="2000"/>
              <a:t>	v1.push_back(2);</a:t>
            </a:r>
            <a:br>
              <a:rPr lang="en-US" sz="2000"/>
            </a:br>
            <a:r>
              <a:rPr lang="en-US" sz="2000"/>
              <a:t>	</a:t>
            </a:r>
            <a:br>
              <a:rPr lang="en-US" sz="2000"/>
            </a:br>
            <a:r>
              <a:rPr lang="en-US" sz="2000"/>
              <a:t>	for (int i = 0; i &lt; v1.size(); i++)</a:t>
            </a:r>
            <a:br>
              <a:rPr lang="en-US" sz="2000"/>
            </a:br>
            <a:r>
              <a:rPr lang="en-US" sz="2000"/>
              <a:t>		cout &lt;&lt; v1[i] &lt;&lt; “ “;</a:t>
            </a:r>
            <a:br>
              <a:rPr lang="en-US" sz="2000"/>
            </a:br>
            <a:br>
              <a:rPr lang="en-US" sz="2000"/>
            </a:br>
            <a:r>
              <a:rPr lang="en-US" sz="2000"/>
              <a:t>	</a:t>
            </a:r>
            <a:r>
              <a:rPr b="1" lang="en-US" sz="2000">
                <a:solidFill>
                  <a:srgbClr val="FFC000"/>
                </a:solidFill>
              </a:rPr>
              <a:t>vector&lt;PhanSo *&gt;   </a:t>
            </a:r>
            <a:r>
              <a:rPr lang="en-US" sz="2000"/>
              <a:t>v2;</a:t>
            </a:r>
            <a:br>
              <a:rPr lang="en-US" sz="2000"/>
            </a:br>
            <a:r>
              <a:rPr lang="en-US" sz="2000"/>
              <a:t>	v2.push_back(new PhanSo(1, 3));</a:t>
            </a:r>
            <a:br>
              <a:rPr lang="en-US" sz="2000"/>
            </a:br>
            <a:r>
              <a:rPr lang="en-US" sz="2000"/>
              <a:t>	v2[0]-&gt;rutGon(); </a:t>
            </a:r>
            <a:br>
              <a:rPr lang="en-US" sz="2000"/>
            </a:br>
            <a:r>
              <a:rPr lang="en-US" sz="2000"/>
              <a:t>}</a:t>
            </a:r>
            <a:endParaRPr/>
          </a:p>
        </p:txBody>
      </p:sp>
      <p:sp>
        <p:nvSpPr>
          <p:cNvPr id="165" name="Google Shape;165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Thư viện STL</a:t>
            </a:r>
            <a:endParaRPr/>
          </a:p>
        </p:txBody>
      </p:sp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Luyện tập: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Viêt chương trình thực hiện việc sau: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Nhập vào danh sách N chuỗi ký tự.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Nối các chuỗi vừa nhập và xuất kết quả.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Cài đặt theo hai cách: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Sử dụng lớp mảng động thuần túy.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Sử dụng lớp string và vector của thư viện STL.</a:t>
            </a:r>
            <a:endParaRPr sz="2000"/>
          </a:p>
        </p:txBody>
      </p:sp>
      <p:sp>
        <p:nvSpPr>
          <p:cNvPr id="173" name="Google Shape;173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STL.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Tính đóng gói.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Quy tắc hộp đen: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Thuộc tính: </a:t>
            </a:r>
            <a:r>
              <a:rPr b="1" lang="en-US">
                <a:solidFill>
                  <a:srgbClr val="FFC000"/>
                </a:solidFill>
              </a:rPr>
              <a:t>private</a:t>
            </a:r>
            <a:r>
              <a:rPr lang="en-US"/>
              <a:t> để hạn chế truy xuất.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Phương thức: </a:t>
            </a:r>
            <a:r>
              <a:rPr b="1" lang="en-US">
                <a:solidFill>
                  <a:srgbClr val="FFC000"/>
                </a:solidFill>
              </a:rPr>
              <a:t>public</a:t>
            </a:r>
            <a:r>
              <a:rPr lang="en-US"/>
              <a:t> để cung cấp tính năng.</a:t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</a:t>
            </a:r>
            <a:br>
              <a:rPr lang="en-US" sz="1800"/>
            </a:br>
            <a:r>
              <a:rPr lang="en-US" sz="2000"/>
              <a:t>class HocSinh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b="1" lang="en-US" sz="2000">
                <a:solidFill>
                  <a:srgbClr val="FFC000"/>
                </a:solidFill>
              </a:rPr>
              <a:t>private:</a:t>
            </a:r>
            <a:br>
              <a:rPr lang="en-US" sz="2000"/>
            </a:br>
            <a:r>
              <a:rPr lang="en-US" sz="2000"/>
              <a:t>	char*	m_hoTen;</a:t>
            </a:r>
            <a:br>
              <a:rPr lang="en-US" sz="2000"/>
            </a:br>
            <a:r>
              <a:rPr lang="en-US" sz="2000"/>
              <a:t>	float	m_diemVan;</a:t>
            </a:r>
            <a:br>
              <a:rPr lang="en-US" sz="2000"/>
            </a:br>
            <a:r>
              <a:rPr lang="en-US" sz="2000"/>
              <a:t>	float	m_diemToan;</a:t>
            </a:r>
            <a:br>
              <a:rPr lang="en-US" sz="2000"/>
            </a:br>
            <a:r>
              <a:rPr lang="en-US" sz="2000"/>
              <a:t>};</a:t>
            </a:r>
            <a:endParaRPr sz="1800"/>
          </a:p>
        </p:txBody>
      </p:sp>
      <p:sp>
        <p:nvSpPr>
          <p:cNvPr id="190" name="Google Shape;190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6019800" y="3697069"/>
            <a:ext cx="1371600" cy="990600"/>
          </a:xfrm>
          <a:prstGeom prst="ellipse">
            <a:avLst/>
          </a:prstGeom>
          <a:gradFill>
            <a:gsLst>
              <a:gs pos="0">
                <a:srgbClr val="B34700"/>
              </a:gs>
              <a:gs pos="50000">
                <a:srgbClr val="FF6600"/>
              </a:gs>
              <a:gs pos="100000">
                <a:srgbClr val="B347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5334000" y="3163669"/>
            <a:ext cx="2743200" cy="20574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854" y="10800"/>
                </a:moveTo>
                <a:cubicBezTo>
                  <a:pt x="4854" y="14084"/>
                  <a:pt x="7516" y="16746"/>
                  <a:pt x="10800" y="16746"/>
                </a:cubicBezTo>
                <a:cubicBezTo>
                  <a:pt x="14084" y="16746"/>
                  <a:pt x="16746" y="14084"/>
                  <a:pt x="16746" y="10800"/>
                </a:cubicBezTo>
                <a:cubicBezTo>
                  <a:pt x="16746" y="7516"/>
                  <a:pt x="14084" y="4854"/>
                  <a:pt x="10800" y="4854"/>
                </a:cubicBezTo>
                <a:cubicBezTo>
                  <a:pt x="7516" y="4854"/>
                  <a:pt x="4854" y="7516"/>
                  <a:pt x="4854" y="10800"/>
                </a:cubicBezTo>
                <a:close/>
              </a:path>
            </a:pathLst>
          </a:custGeom>
          <a:gradFill>
            <a:gsLst>
              <a:gs pos="0">
                <a:srgbClr val="00B300"/>
              </a:gs>
              <a:gs pos="50000">
                <a:srgbClr val="00FF00"/>
              </a:gs>
              <a:gs pos="100000">
                <a:srgbClr val="00B3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6019800" y="3849469"/>
            <a:ext cx="14285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(Thuộc tính)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5867400" y="4687669"/>
            <a:ext cx="17075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Tính năng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(Phương thức)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01" name="Google Shape;201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Nhu cầu xử lý vs. quy tắc hộp đen: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nhu cầu truy xuất thuộc tính đối tượng?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án 1: private 🡪 public.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án 2: phương thức truy xuất.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🡺 Vẫn vi phạm quy tắc hộp đen!!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</a:t>
            </a:r>
            <a:br>
              <a:rPr lang="en-US" sz="1800"/>
            </a:br>
            <a:r>
              <a:rPr lang="en-US" sz="1800"/>
              <a:t>class HocSinh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public:</a:t>
            </a:r>
            <a:br>
              <a:rPr lang="en-US" sz="1800"/>
            </a:br>
            <a:r>
              <a:rPr lang="en-US" sz="1800"/>
              <a:t>	char*	m_hoTen;</a:t>
            </a:r>
            <a:br>
              <a:rPr lang="en-US" sz="1800"/>
            </a:br>
            <a:r>
              <a:rPr lang="en-US" sz="1800"/>
              <a:t>	float	m_diemVan;</a:t>
            </a:r>
            <a:br>
              <a:rPr lang="en-US" sz="1800"/>
            </a:br>
            <a:r>
              <a:rPr lang="en-US" sz="1800"/>
              <a:t>	float	m_diemToan;</a:t>
            </a:r>
            <a:br>
              <a:rPr lang="en-US" sz="1800"/>
            </a:b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4724400" y="3505200"/>
            <a:ext cx="441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HocSinh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char*	m_hoTen;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float	m_diemVan;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float	m_diemToan;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b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float&amp;	layDiemVan();</a:t>
            </a:r>
            <a:b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float&amp;	layDiemToan();</a:t>
            </a:r>
            <a:b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Làm sao vẫn tuân thủ quy tắc hộp đen?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Đưa xử lý cho đối tượng thực hiện.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HocSinh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char*	m_hoTen;</a:t>
            </a:r>
            <a:br>
              <a:rPr lang="en-US" sz="1800"/>
            </a:br>
            <a:r>
              <a:rPr lang="en-US" sz="1800"/>
              <a:t>	float	m_diemVan;</a:t>
            </a:r>
            <a:br>
              <a:rPr lang="en-US" sz="1800"/>
            </a:br>
            <a:r>
              <a:rPr lang="en-US" sz="1800"/>
              <a:t>	float	m_diemToan;</a:t>
            </a:r>
            <a:br>
              <a:rPr lang="en-US" sz="1800"/>
            </a:br>
            <a:r>
              <a:rPr lang="en-US" sz="1800"/>
              <a:t>public: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float tinhDTB();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int xepLoai();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 quy tắc </a:t>
            </a:r>
            <a:r>
              <a:rPr b="1" lang="en-US">
                <a:solidFill>
                  <a:srgbClr val="FFC000"/>
                </a:solidFill>
              </a:rPr>
              <a:t>“Tell, Don’t Ask”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Thông tin đối tượng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chemeClr val="hlink"/>
                </a:solidFill>
              </a:rPr>
              <a:t>	🡺 Không thể truy xuất từ bên ngoài.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Đối tượng nắm giữ thông tin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chemeClr val="hlink"/>
                </a:solidFill>
              </a:rPr>
              <a:t>	🡺 Chịu trách nhiệm xử lý thông tin.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“Đừng hỏi tôi thông tin để thực hiện công việc”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chemeClr val="hlink"/>
                </a:solidFill>
              </a:rPr>
              <a:t>	🡺 “Hãy nhờ tôi làm giùm!!”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Đã giao thông tin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>
                <a:solidFill>
                  <a:schemeClr val="hlink"/>
                </a:solidFill>
              </a:rPr>
              <a:t>	</a:t>
            </a:r>
            <a:r>
              <a:rPr lang="en-US">
                <a:solidFill>
                  <a:schemeClr val="hlink"/>
                </a:solidFill>
              </a:rPr>
              <a:t>🡺 Giao luôn xử lý thông tin.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pic>
        <p:nvPicPr>
          <p:cNvPr id="221" name="Google Shape;2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Luyện tập: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i="1" lang="en-US" sz="1800">
                <a:solidFill>
                  <a:srgbClr val="FFC000"/>
                </a:solidFill>
              </a:rPr>
              <a:t>	// Tính trọng tâm tam giác??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FFC000"/>
                </a:solidFill>
              </a:rPr>
              <a:t>	</a:t>
            </a:r>
            <a:r>
              <a:rPr lang="en-US" sz="1800"/>
              <a:t>class </a:t>
            </a:r>
            <a:r>
              <a:rPr b="1" lang="en-US" sz="1800">
                <a:solidFill>
                  <a:srgbClr val="FFC000"/>
                </a:solidFill>
              </a:rPr>
              <a:t>Diem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float	m_X;</a:t>
            </a:r>
            <a:br>
              <a:rPr lang="en-US" sz="1800"/>
            </a:br>
            <a:r>
              <a:rPr lang="en-US" sz="1800"/>
              <a:t>	float	m_Y;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TamGiac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Diem	m_A;</a:t>
            </a:r>
            <a:br>
              <a:rPr lang="en-US" sz="1800"/>
            </a:br>
            <a:r>
              <a:rPr lang="en-US" sz="1800"/>
              <a:t>	Diem	m_B;</a:t>
            </a:r>
            <a:br>
              <a:rPr lang="en-US" sz="1800"/>
            </a:br>
            <a:r>
              <a:rPr lang="en-US" sz="1800"/>
              <a:t>	Diem	m_C;</a:t>
            </a:r>
            <a:br>
              <a:rPr lang="en-US" sz="1800"/>
            </a:br>
            <a:r>
              <a:rPr lang="en-US" sz="1800"/>
              <a:t>};</a:t>
            </a:r>
            <a:endParaRPr/>
          </a:p>
        </p:txBody>
      </p:sp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4419600" y="1676400"/>
            <a:ext cx="4648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//  Xuất danh sách học sinh đậu??</a:t>
            </a:r>
            <a:b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// (ĐTB &gt;= 5.0)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1" lang="en-US" sz="1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HocSinh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char	*m_hoTen;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float	m_diemVan;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float	m_diemToan;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class </a:t>
            </a:r>
            <a:r>
              <a:rPr b="1" lang="en-US" sz="1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BangDiem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vector&lt;HocSinh&gt;   m_danhSach;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37" name="Google Shape;237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C++: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Bộ công cụ dựng sẵn hỗ trợ lập trình C++.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thư viện phổ biến: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chuẩn: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boost.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Thư viện MFC.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Thư viện STL: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Phần chính yếu của thư viện chuẩn.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lớp dựng sẵn: string, vector.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đóng gói: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Tell, Don’t Ask.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46" name="Google Shape;246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6.1: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Với mỗi thư viện bên dưới, hãy liệt kê tên và cho biết tính năng của ít nhất 3 lớp đối tượng trong thư viện: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Thư viện chuẩn.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Thư viện boost.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Thư viện MFC.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55" name="Google Shape;255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6.2: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Một đoạn văn bao gồm nhiều câu. Mỗi câu bao gồm nhiều từ và kết thúc bằng dấu câu (dấu ., ?, !). Xây dựng các lớp cần thiết để: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Đọc một đoạn văn từ file văn bản.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Đếm số lượng câu và số lượng từ có trong đoạn văn.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Tìm từ xuất hiện nhiều nhất trong đoạn văn.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Sắp xếp tăng dần (thứ tự từ điển) các từ trong mỗi câu.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Ghi đoạn văn đã chỉnh sửa vào file văn bản.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64" name="Google Shape;264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6.3: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đa thức</a:t>
            </a:r>
            <a:r>
              <a:rPr lang="en-US" sz="2000"/>
              <a:t> có những phương thức sau: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tạo hủy)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mặc định đa thức = 0.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với bậc và mảng hệ số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đối tượng đa thức khác.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Hủy đa thức, thu hồi bộ nhớ.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truy xuất thông tin)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bậc đa thức.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hệ số tại bậc nào đó.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72" name="Google Shape;272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6.3: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đa thức</a:t>
            </a:r>
            <a:r>
              <a:rPr lang="en-US" sz="2000"/>
              <a:t> (tiếp theo):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xử lý nghiệp vụ)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So sánh với đa thức khác.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Rút gọn đa thức.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Tính giá trị, đạo hàm, nguyên hàm.</a:t>
            </a:r>
            <a:endParaRPr sz="2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toán tử)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số học: +, -, *, /, 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so sánh: &gt;, &lt;, ==, &gt;=, &lt;=, !=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đạo hàm (!), nguyên hàm (~).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nhập xuất: &gt;&gt;, &lt;&lt;.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81" name="Google Shape;281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6.4: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các lớp cần thiết để thực hiện các thao tác trên tam giác: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Tính chu vi và diện tích.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Tìm trọng tâm (giao 3 đường trung tuyến).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Tìm đường trung trực của một cạnh (vuông góc tại trung điểm).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Tìm tâm đường tròn ngoại tiếp (giao 3 đường trung trực).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