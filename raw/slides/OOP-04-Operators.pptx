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http://customooxmlschemas.google.com/">
      <go:slidesCustomData xmlns:go="http://customooxmlschemas.google.com/" r:id="rId31" roundtripDataSignature="AMtx7mjC/cYjojSAWiPxejWgONmH+sc/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35B7F0-1A00-4D28-8362-C41960ECDDBD}">
  <a:tblStyle styleId="{6635B7F0-1A00-4D28-8362-C41960ECDDB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1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6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3" name="Google Shape;223;p18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2" name="Google Shape;232;p19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1" name="Google Shape;241;p20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0" name="Google Shape;250;p21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9" name="Google Shape;259;p22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8" name="Google Shape;268;p23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3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7" name="Google Shape;277;p24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26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32" name="Google Shape;32;p26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3" name="Google Shape;33;p26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6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6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6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6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6"/>
            <p:cNvSpPr/>
            <p:nvPr/>
          </p:nvSpPr>
          <p:spPr>
            <a:xfrm>
              <a:off x="3322" y="1341"/>
              <a:ext cx="1825" cy="1537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6"/>
            <p:cNvSpPr/>
            <p:nvPr/>
          </p:nvSpPr>
          <p:spPr>
            <a:xfrm>
              <a:off x="0" y="0"/>
              <a:ext cx="5758" cy="1776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0" name="Google Shape;4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426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26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26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6"/>
          <p:cNvSpPr/>
          <p:nvPr/>
        </p:nvSpPr>
        <p:spPr>
          <a:xfrm>
            <a:off x="6096000" y="3733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GV. Nguyễn Minh Huy</a:t>
            </a:r>
            <a:endParaRPr b="0" i="0" sz="2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6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5000">
                <a:solidFill>
                  <a:srgbClr val="FF66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2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clipboard2" id="57" name="Google Shape;5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89788" y="4419600"/>
            <a:ext cx="1725612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54813" y="4176713"/>
            <a:ext cx="2160587" cy="214788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62" name="Google Shape;62;p2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" name="Google Shape;11;p25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2" name="Google Shape;12;p25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3" name="Google Shape;13;p25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5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5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5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5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" name="Google Shape;18;p25"/>
            <p:cNvSpPr/>
            <p:nvPr/>
          </p:nvSpPr>
          <p:spPr>
            <a:xfrm>
              <a:off x="3322" y="1341"/>
              <a:ext cx="1825" cy="1537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5"/>
            <p:cNvSpPr/>
            <p:nvPr/>
          </p:nvSpPr>
          <p:spPr>
            <a:xfrm>
              <a:off x="0" y="0"/>
              <a:ext cx="5758" cy="1776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20;p2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■"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306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■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52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⮚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972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972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972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972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972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3" name="Google Shape;23;p25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5"/>
          <p:cNvGrpSpPr/>
          <p:nvPr/>
        </p:nvGrpSpPr>
        <p:grpSpPr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25" name="Google Shape;25;p25"/>
            <p:cNvSpPr/>
            <p:nvPr/>
          </p:nvSpPr>
          <p:spPr>
            <a:xfrm>
              <a:off x="5088" y="144"/>
              <a:ext cx="288" cy="336"/>
            </a:xfrm>
            <a:prstGeom prst="flowChartAlternateProcess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5"/>
            <p:cNvSpPr/>
            <p:nvPr/>
          </p:nvSpPr>
          <p:spPr>
            <a:xfrm>
              <a:off x="5185" y="48"/>
              <a:ext cx="385" cy="336"/>
            </a:xfrm>
            <a:prstGeom prst="flowChartAlternateProcess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5"/>
            <p:cNvSpPr/>
            <p:nvPr/>
          </p:nvSpPr>
          <p:spPr>
            <a:xfrm>
              <a:off x="5232" y="192"/>
              <a:ext cx="384" cy="336"/>
            </a:xfrm>
            <a:prstGeom prst="flowChartAlternateProcess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" name="Google Shape;28;p25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25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Hàm toán tử</a:t>
            </a:r>
            <a:endParaRPr/>
          </a:p>
        </p:txBody>
      </p:sp>
      <p:sp>
        <p:nvSpPr>
          <p:cNvPr id="70" name="Google Shape;70;p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78" name="Google Shape;78;p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Khái niệm cơ bản.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Các toán tử đặc biệt.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Hàm Friend.</a:t>
            </a:r>
            <a:endParaRPr/>
          </a:p>
        </p:txBody>
      </p:sp>
      <p:sp>
        <p:nvSpPr>
          <p:cNvPr id="79" name="Google Shape;79;p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87" name="Google Shape;87;p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Khái niệm cơ bản.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Các toán tử đặc biệt.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Hàm Friend.</a:t>
            </a:r>
            <a:endParaRPr/>
          </a:p>
        </p:txBody>
      </p:sp>
      <p:sp>
        <p:nvSpPr>
          <p:cNvPr id="88" name="Google Shape;88;p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Khái niệm cơ bản</a:t>
            </a:r>
            <a:endParaRPr/>
          </a:p>
        </p:txBody>
      </p:sp>
      <p:sp>
        <p:nvSpPr>
          <p:cNvPr id="96" name="Google Shape;96;p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Sự khác biệt giữa int và PhanSo?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i="1" lang="en-US" sz="1800">
                <a:solidFill>
                  <a:schemeClr val="hlink"/>
                </a:solidFill>
              </a:rPr>
              <a:t>//  Thao tác trên kiểu int</a:t>
            </a:r>
            <a:endParaRPr i="1" sz="1800">
              <a:solidFill>
                <a:schemeClr val="hlink"/>
              </a:solidFill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void main()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int   a, b;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int   c = a + b;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Chương trình tìm min có gì sai?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b="1" lang="en-US" sz="1800">
                <a:solidFill>
                  <a:srgbClr val="FFCC00"/>
                </a:solidFill>
              </a:rPr>
              <a:t>	template &lt;class T&gt;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</a:t>
            </a:r>
            <a:r>
              <a:rPr b="1" lang="en-US" sz="1800">
                <a:solidFill>
                  <a:srgbClr val="FFCC00"/>
                </a:solidFill>
              </a:rPr>
              <a:t>T</a:t>
            </a:r>
            <a:r>
              <a:rPr lang="en-US" sz="1800">
                <a:solidFill>
                  <a:srgbClr val="FFFFFF"/>
                </a:solidFill>
              </a:rPr>
              <a:t>  timMin(</a:t>
            </a:r>
            <a:r>
              <a:rPr b="1" lang="en-US" sz="1800">
                <a:solidFill>
                  <a:srgbClr val="FFCC00"/>
                </a:solidFill>
              </a:rPr>
              <a:t>T</a:t>
            </a:r>
            <a:r>
              <a:rPr lang="en-US" sz="1800">
                <a:solidFill>
                  <a:srgbClr val="FFFFFF"/>
                </a:solidFill>
              </a:rPr>
              <a:t>  a, </a:t>
            </a:r>
            <a:r>
              <a:rPr b="1" lang="en-US" sz="1800">
                <a:solidFill>
                  <a:srgbClr val="FFCC00"/>
                </a:solidFill>
              </a:rPr>
              <a:t>T</a:t>
            </a:r>
            <a:r>
              <a:rPr lang="en-US" sz="1800">
                <a:solidFill>
                  <a:srgbClr val="FFFFFF"/>
                </a:solidFill>
              </a:rPr>
              <a:t>  b)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{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	return (a &lt; b) ? a : b;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}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4648200" y="1676400"/>
            <a:ext cx="441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1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//  Thao tác trên kiểu PhanSo</a:t>
            </a:r>
            <a:endParaRPr b="0" i="1" sz="18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 p1, p2;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 p3 = p1.cong(p2);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648200" y="4038600"/>
            <a:ext cx="45720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   a, b;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int c =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timMin(a, b);</a:t>
            </a:r>
            <a:b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p1, p2;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p3 =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timMin(p1, p2);</a:t>
            </a:r>
            <a:b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Khái niệm cơ bản</a:t>
            </a:r>
            <a:endParaRPr/>
          </a:p>
        </p:txBody>
      </p:sp>
      <p:sp>
        <p:nvSpPr>
          <p:cNvPr id="107" name="Google Shape;107;p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Hàm toán tử: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Khái niệm: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Một hàm đặc biệt trong chương trình.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Có tên là ký hiệu toán tử.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Khai báo: từ khóa </a:t>
            </a:r>
            <a:r>
              <a:rPr b="1" i="1" lang="en-US">
                <a:solidFill>
                  <a:srgbClr val="FFC000"/>
                </a:solidFill>
              </a:rPr>
              <a:t>operator</a:t>
            </a:r>
            <a:r>
              <a:rPr b="1" lang="en-US">
                <a:solidFill>
                  <a:srgbClr val="FFC000"/>
                </a:solidFill>
              </a:rPr>
              <a:t> &lt;toán tử&gt;</a:t>
            </a:r>
            <a:r>
              <a:rPr lang="en-US"/>
              <a:t>.</a:t>
            </a:r>
            <a:endParaRPr i="1" sz="1800">
              <a:solidFill>
                <a:srgbClr val="FFFFFF"/>
              </a:solidFill>
            </a:endParaRPr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	</a:t>
            </a:r>
            <a:r>
              <a:rPr i="1" lang="en-US" sz="1800">
                <a:solidFill>
                  <a:srgbClr val="FFFFFF"/>
                </a:solidFill>
              </a:rPr>
              <a:t>PhanSo </a:t>
            </a:r>
            <a:r>
              <a:rPr b="1" i="1" lang="en-US" sz="1800">
                <a:solidFill>
                  <a:srgbClr val="FFCC00"/>
                </a:solidFill>
              </a:rPr>
              <a:t>operator +</a:t>
            </a:r>
            <a:r>
              <a:rPr i="1" lang="en-US" sz="1800">
                <a:solidFill>
                  <a:srgbClr val="FFFFFF"/>
                </a:solidFill>
              </a:rPr>
              <a:t>(const PhanSo &amp;p1, const PhanSo &amp;p2);</a:t>
            </a:r>
            <a:endParaRPr i="1" sz="1800"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Công dụng: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Sử dụng toán tử trên kiểu người dùng định nghĩa.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	</a:t>
            </a:r>
            <a:r>
              <a:rPr i="1" lang="en-US" sz="1800"/>
              <a:t>PhanSo  p3 = p1 </a:t>
            </a:r>
            <a:r>
              <a:rPr b="1" i="1" lang="en-US" sz="1800">
                <a:solidFill>
                  <a:srgbClr val="FFC000"/>
                </a:solidFill>
              </a:rPr>
              <a:t>+</a:t>
            </a:r>
            <a:r>
              <a:rPr i="1" lang="en-US" sz="1800"/>
              <a:t> p2;</a:t>
            </a:r>
            <a:endParaRPr i="1" sz="2800"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Định nghĩa nhiều cách thực hiện toán tử (nạp chồng hàm).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	</a:t>
            </a:r>
            <a:r>
              <a:rPr i="1" lang="en-US" sz="1800"/>
              <a:t>float </a:t>
            </a:r>
            <a:r>
              <a:rPr b="1" i="1" lang="en-US" sz="1800">
                <a:solidFill>
                  <a:schemeClr val="hlink"/>
                </a:solidFill>
              </a:rPr>
              <a:t>opeartor +</a:t>
            </a:r>
            <a:r>
              <a:rPr i="1" lang="en-US" sz="1800"/>
              <a:t>(const PhanSo &amp;p, float so);</a:t>
            </a:r>
            <a:br>
              <a:rPr i="1" lang="en-US" sz="1800"/>
            </a:br>
            <a:r>
              <a:rPr i="1" lang="en-US" sz="1800"/>
              <a:t>	float  x = p1 </a:t>
            </a:r>
            <a:r>
              <a:rPr b="1" i="1" lang="en-US" sz="1800">
                <a:solidFill>
                  <a:srgbClr val="FFC000"/>
                </a:solidFill>
              </a:rPr>
              <a:t>+</a:t>
            </a:r>
            <a:r>
              <a:rPr i="1" lang="en-US" sz="1800"/>
              <a:t> 3.14;</a:t>
            </a:r>
            <a:endParaRPr i="1" sz="1800"/>
          </a:p>
        </p:txBody>
      </p:sp>
      <p:sp>
        <p:nvSpPr>
          <p:cNvPr id="108" name="Google Shape;108;p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Khái niệm cơ bản</a:t>
            </a:r>
            <a:endParaRPr/>
          </a:p>
        </p:txBody>
      </p:sp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Phân loại hàm toán tử: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Toán tử độc lập: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i="1" lang="en-US" sz="1800"/>
              <a:t>			PhanSo </a:t>
            </a:r>
            <a:r>
              <a:rPr b="1" i="1" lang="en-US" sz="1800">
                <a:solidFill>
                  <a:schemeClr val="hlink"/>
                </a:solidFill>
              </a:rPr>
              <a:t>operator +</a:t>
            </a:r>
            <a:r>
              <a:rPr i="1" lang="en-US" sz="1800"/>
              <a:t>(const PhanSo &amp;p1, const PhanSo &amp;p2);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Không thuộc lớp nào.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Số lượng tham số = ngôi toán tử.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Toán tử thuộc lớp: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i="1" lang="en-US" sz="1800"/>
              <a:t>			PhanSo </a:t>
            </a:r>
            <a:r>
              <a:rPr b="1" i="1" lang="en-US" sz="1800">
                <a:solidFill>
                  <a:schemeClr val="hlink"/>
                </a:solidFill>
              </a:rPr>
              <a:t>PhanSo::operator +</a:t>
            </a:r>
            <a:r>
              <a:rPr i="1" lang="en-US" sz="1800"/>
              <a:t>(const PhanSo &amp;p);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Là phương thức của lớp.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Số lượng tham số = ngôi toán tử - 1.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b="1" lang="en-US">
                <a:solidFill>
                  <a:schemeClr val="hlink"/>
                </a:solidFill>
              </a:rPr>
              <a:t>Cách sử dụng 2 loại là như nhau!!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Khái niệm cơ bản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Những toán tử có thể định nghĩa lại:</a:t>
            </a:r>
            <a:endParaRPr/>
          </a:p>
        </p:txBody>
      </p:sp>
      <p:sp>
        <p:nvSpPr>
          <p:cNvPr id="126" name="Google Shape;126;p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graphicFrame>
        <p:nvGraphicFramePr>
          <p:cNvPr id="128" name="Google Shape;128;p7"/>
          <p:cNvGraphicFramePr/>
          <p:nvPr/>
        </p:nvGraphicFramePr>
        <p:xfrm>
          <a:off x="13716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{6635B7F0-1A00-4D28-8362-C41960ECDDBD}</a:tableStyleId>
              </a:tblPr>
              <a:tblGrid>
                <a:gridCol w="1676400"/>
                <a:gridCol w="1752600"/>
                <a:gridCol w="3048000"/>
              </a:tblGrid>
              <a:tr h="3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Ngôi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Nhóm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Toán tử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CC33"/>
                    </a:solidFill>
                  </a:tcPr>
                </a:tc>
              </a:tr>
              <a:tr h="31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Ngôi (Unary)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Tăng giảm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++, --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Dấu số học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+, -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!, ~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 trỏ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*, &amp;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Ép kiểu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int, float, double, 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Ngôi (Binary)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Số học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+, -, *, /, %, +=, -=, *=, /=, %=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 sánh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&gt;, &lt;, ==, &gt;=, &lt;=, !=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&amp;&amp;, ||, &amp;, |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Nhập xuất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&lt;&lt;, &gt;&gt;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Gán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Lấy chỉ số mảng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2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]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Khái niệm cơ bản</a:t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Những toán tử không thể định nghĩa lại:</a:t>
            </a:r>
            <a:endParaRPr/>
          </a:p>
        </p:txBody>
      </p:sp>
      <p:sp>
        <p:nvSpPr>
          <p:cNvPr id="136" name="Google Shape;136;p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graphicFrame>
        <p:nvGraphicFramePr>
          <p:cNvPr id="138" name="Google Shape;138;p8"/>
          <p:cNvGraphicFramePr/>
          <p:nvPr/>
        </p:nvGraphicFramePr>
        <p:xfrm>
          <a:off x="205740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{6635B7F0-1A00-4D28-8362-C41960ECDDBD}</a:tableStyleId>
              </a:tblPr>
              <a:tblGrid>
                <a:gridCol w="1447800"/>
                <a:gridCol w="3505200"/>
              </a:tblGrid>
              <a:tr h="31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Toán tử</a:t>
                      </a:r>
                      <a:endParaRPr b="1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Ý nghĩa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CC33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Truy xuất phần tử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.*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Truy xuất con trỏ phần tử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::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Toán tử ::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 :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Toán tử điều kiện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Chỉ thị tiền xử lý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 #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Chỉ thị tiền xử lý</a:t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Khái niệm cơ bản</a:t>
            </a:r>
            <a:endParaRPr/>
          </a:p>
        </p:txBody>
      </p:sp>
      <p:sp>
        <p:nvSpPr>
          <p:cNvPr id="145" name="Google Shape;145;p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Những hạn chế (4 không):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Không thể tạo toán tử mới.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Không thể định nghĩa lại toán tử trên kiểu cơ bản.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Không thể thay đổi ngôi của toán tử.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Không thể thay đổi độ ưu tiên của toán tử.</a:t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Khái niệm cơ bản</a:t>
            </a:r>
            <a:endParaRPr/>
          </a:p>
        </p:txBody>
      </p:sp>
      <p:sp>
        <p:nvSpPr>
          <p:cNvPr id="154" name="Google Shape;154;p1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Dr. Guru khuyên: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Quy tắc định nghĩa toán tử: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Tên hàm: </a:t>
            </a:r>
            <a:r>
              <a:rPr b="1" lang="en-US">
                <a:solidFill>
                  <a:srgbClr val="FFC000"/>
                </a:solidFill>
              </a:rPr>
              <a:t>operator &lt;tên toán tử&gt;</a:t>
            </a:r>
            <a:r>
              <a:rPr lang="en-US"/>
              <a:t>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Số lượng tham số: </a:t>
            </a:r>
            <a:r>
              <a:rPr b="1" lang="en-US">
                <a:solidFill>
                  <a:srgbClr val="FFC000"/>
                </a:solidFill>
              </a:rPr>
              <a:t>ngôi toán tử</a:t>
            </a:r>
            <a:r>
              <a:rPr lang="en-US"/>
              <a:t>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Kiểu tham số: </a:t>
            </a:r>
            <a:r>
              <a:rPr b="1" lang="en-US">
                <a:solidFill>
                  <a:srgbClr val="FFC000"/>
                </a:solidFill>
              </a:rPr>
              <a:t>kiểu toán hạng</a:t>
            </a:r>
            <a:r>
              <a:rPr lang="en-US"/>
              <a:t>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Kiểu trả về: </a:t>
            </a:r>
            <a:r>
              <a:rPr b="1" lang="en-US">
                <a:solidFill>
                  <a:srgbClr val="FFC000"/>
                </a:solidFill>
              </a:rPr>
              <a:t>kết quả toán tử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Toán tử &gt; (lớp PhanSo).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Toán tử [ ] (lớp Mang).</a:t>
            </a:r>
            <a:endParaRPr/>
          </a:p>
        </p:txBody>
      </p:sp>
      <p:sp>
        <p:nvSpPr>
          <p:cNvPr id="155" name="Google Shape;155;p1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1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pic>
        <p:nvPicPr>
          <p:cNvPr id="157" name="Google Shape;1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3810000"/>
            <a:ext cx="2514600" cy="249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64" name="Google Shape;164;p1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Khái niệm cơ bản.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Các toán tử đặc biệt.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Hàm Friend.</a:t>
            </a:r>
            <a:endParaRPr/>
          </a:p>
        </p:txBody>
      </p:sp>
      <p:sp>
        <p:nvSpPr>
          <p:cNvPr id="165" name="Google Shape;165;p1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1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toán tử đặc biệt</a:t>
            </a:r>
            <a:endParaRPr/>
          </a:p>
        </p:txBody>
      </p:sp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Toán tử gán (=, +=, -=, *=, /=, …):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Trang bị toán tử </a:t>
            </a:r>
            <a:r>
              <a:rPr b="1" lang="en-US">
                <a:solidFill>
                  <a:srgbClr val="FFC000"/>
                </a:solidFill>
              </a:rPr>
              <a:t>+=</a:t>
            </a:r>
            <a:r>
              <a:rPr lang="en-US"/>
              <a:t> cho lớp </a:t>
            </a:r>
            <a:r>
              <a:rPr b="1" lang="en-US">
                <a:solidFill>
                  <a:srgbClr val="FFC000"/>
                </a:solidFill>
              </a:rPr>
              <a:t>PhanSo</a:t>
            </a:r>
            <a:r>
              <a:rPr lang="en-US"/>
              <a:t>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Toán tử += mấy ngôi?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Toán tử += trả về gì?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	PhanSo&amp;  PhanSo::</a:t>
            </a:r>
            <a:r>
              <a:rPr b="1" lang="en-US" sz="1800">
                <a:solidFill>
                  <a:srgbClr val="FFC000"/>
                </a:solidFill>
              </a:rPr>
              <a:t>operator +=</a:t>
            </a:r>
            <a:r>
              <a:rPr lang="en-US" sz="1800"/>
              <a:t>( const PhanSo &amp;p );</a:t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174" name="Google Shape;174;p1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1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toán tử đặc biệt</a:t>
            </a:r>
            <a:endParaRPr/>
          </a:p>
        </p:txBody>
      </p:sp>
      <p:sp>
        <p:nvSpPr>
          <p:cNvPr id="182" name="Google Shape;182;p1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Toán tăng giảm (++, --):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Trang bị toán tử </a:t>
            </a:r>
            <a:r>
              <a:rPr b="1" lang="en-US">
                <a:solidFill>
                  <a:srgbClr val="FFC000"/>
                </a:solidFill>
              </a:rPr>
              <a:t>++</a:t>
            </a:r>
            <a:r>
              <a:rPr lang="en-US"/>
              <a:t> cho lớp </a:t>
            </a:r>
            <a:r>
              <a:rPr b="1" lang="en-US">
                <a:solidFill>
                  <a:srgbClr val="FFC000"/>
                </a:solidFill>
              </a:rPr>
              <a:t>PhanSo</a:t>
            </a:r>
            <a:r>
              <a:rPr lang="en-US"/>
              <a:t>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Toán tử ++ mấy ngôi?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Toán tử ++ trả về gì?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Phân biệt tiền tố, hậu tố?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i="1" lang="en-US" sz="1800">
                <a:solidFill>
                  <a:srgbClr val="FFC000"/>
                </a:solidFill>
              </a:rPr>
              <a:t>		</a:t>
            </a:r>
            <a:r>
              <a:rPr lang="en-US" sz="1800"/>
              <a:t>PhanSo&amp;  PhanSo::</a:t>
            </a:r>
            <a:r>
              <a:rPr b="1" lang="en-US" sz="1800">
                <a:solidFill>
                  <a:srgbClr val="FFC000"/>
                </a:solidFill>
              </a:rPr>
              <a:t>operator ++</a:t>
            </a:r>
            <a:r>
              <a:rPr lang="en-US" sz="1800"/>
              <a:t>( );		// Tiền tố.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i="1" lang="en-US" sz="1800">
                <a:solidFill>
                  <a:srgbClr val="FFC000"/>
                </a:solidFill>
              </a:rPr>
              <a:t>		</a:t>
            </a:r>
            <a:r>
              <a:rPr lang="en-US" sz="1800"/>
              <a:t>PhanSo  PhanSo::</a:t>
            </a:r>
            <a:r>
              <a:rPr b="1" lang="en-US" sz="1800">
                <a:solidFill>
                  <a:srgbClr val="FFC000"/>
                </a:solidFill>
              </a:rPr>
              <a:t>operator ++</a:t>
            </a:r>
            <a:r>
              <a:rPr lang="en-US" sz="1800"/>
              <a:t>( int x );	// Hậu tố, dùng tham số giả.</a:t>
            </a:r>
            <a:br>
              <a:rPr lang="en-US" sz="1800"/>
            </a:br>
            <a:endParaRPr/>
          </a:p>
        </p:txBody>
      </p:sp>
      <p:sp>
        <p:nvSpPr>
          <p:cNvPr id="183" name="Google Shape;183;p1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1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91" name="Google Shape;191;p1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Khái niệm cơ bản.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Các toán tử đặc biệt.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Hàm Friend.</a:t>
            </a:r>
            <a:endParaRPr b="1">
              <a:solidFill>
                <a:srgbClr val="FFC000"/>
              </a:solidFill>
            </a:endParaRPr>
          </a:p>
        </p:txBody>
      </p:sp>
      <p:sp>
        <p:nvSpPr>
          <p:cNvPr id="192" name="Google Shape;192;p1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1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Hàm Friend</a:t>
            </a:r>
            <a:endParaRPr/>
          </a:p>
        </p:txBody>
      </p:sp>
      <p:sp>
        <p:nvSpPr>
          <p:cNvPr id="200" name="Google Shape;200;p1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Xét toán tử +: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Trang bị toán tử </a:t>
            </a:r>
            <a:r>
              <a:rPr b="1" lang="en-US">
                <a:solidFill>
                  <a:srgbClr val="FFC000"/>
                </a:solidFill>
              </a:rPr>
              <a:t>+</a:t>
            </a:r>
            <a:r>
              <a:rPr lang="en-US"/>
              <a:t> cho lớp </a:t>
            </a:r>
            <a:r>
              <a:rPr b="1" lang="en-US">
                <a:solidFill>
                  <a:srgbClr val="FFC000"/>
                </a:solidFill>
              </a:rPr>
              <a:t>PhanSo</a:t>
            </a:r>
            <a:r>
              <a:rPr lang="en-US"/>
              <a:t>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Dùng toán tử độc lập.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	PhanSo  </a:t>
            </a:r>
            <a:r>
              <a:rPr b="1" i="1" lang="en-US" sz="1800">
                <a:solidFill>
                  <a:srgbClr val="FFC000"/>
                </a:solidFill>
              </a:rPr>
              <a:t>operator +</a:t>
            </a:r>
            <a:r>
              <a:rPr lang="en-US" sz="1800"/>
              <a:t> ( const PhanSo &amp;p1, const PhanSo &amp;p2 );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Làm sao truy xuất thành phần </a:t>
            </a:r>
            <a:r>
              <a:rPr b="1" i="1" lang="en-US">
                <a:solidFill>
                  <a:srgbClr val="FFC000"/>
                </a:solidFill>
              </a:rPr>
              <a:t>private</a:t>
            </a:r>
            <a:r>
              <a:rPr lang="en-US"/>
              <a:t> của lớp?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Xét toán tử xuất &lt;&lt;: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Trang bị toán tử </a:t>
            </a:r>
            <a:r>
              <a:rPr b="1" lang="en-US">
                <a:solidFill>
                  <a:srgbClr val="FFC000"/>
                </a:solidFill>
              </a:rPr>
              <a:t>&lt;&lt;</a:t>
            </a:r>
            <a:r>
              <a:rPr lang="en-US"/>
              <a:t> cho lớp </a:t>
            </a:r>
            <a:r>
              <a:rPr b="1" lang="en-US">
                <a:solidFill>
                  <a:srgbClr val="FFC000"/>
                </a:solidFill>
              </a:rPr>
              <a:t>PhanSo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		PhanSo  p( 1, 3 );</a:t>
            </a:r>
            <a:br>
              <a:rPr lang="en-US" sz="1800"/>
            </a:br>
            <a:r>
              <a:rPr lang="en-US" sz="1800"/>
              <a:t>		cout  </a:t>
            </a:r>
            <a:r>
              <a:rPr b="1" lang="en-US" sz="1800">
                <a:solidFill>
                  <a:srgbClr val="FFC000"/>
                </a:solidFill>
              </a:rPr>
              <a:t>&lt;&lt;</a:t>
            </a:r>
            <a:r>
              <a:rPr lang="en-US" sz="1800"/>
              <a:t>  p;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Toán tử </a:t>
            </a:r>
            <a:r>
              <a:rPr b="1" lang="en-US">
                <a:solidFill>
                  <a:srgbClr val="FFC000"/>
                </a:solidFill>
              </a:rPr>
              <a:t>&lt;&lt;</a:t>
            </a:r>
            <a:r>
              <a:rPr lang="en-US"/>
              <a:t> thuộc về lớp nào?</a:t>
            </a:r>
            <a:endParaRPr/>
          </a:p>
        </p:txBody>
      </p:sp>
      <p:sp>
        <p:nvSpPr>
          <p:cNvPr id="201" name="Google Shape;201;p1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1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Hàm Friend</a:t>
            </a:r>
            <a:endParaRPr/>
          </a:p>
        </p:txBody>
      </p:sp>
      <p:sp>
        <p:nvSpPr>
          <p:cNvPr id="209" name="Google Shape;209;p1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Hàm Friend: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Hàm có thể truy xuất thành phần </a:t>
            </a:r>
            <a:r>
              <a:rPr b="1" lang="en-US">
                <a:solidFill>
                  <a:srgbClr val="FFC000"/>
                </a:solidFill>
              </a:rPr>
              <a:t>private</a:t>
            </a:r>
            <a:r>
              <a:rPr lang="en-US"/>
              <a:t> của lớp.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Cách sử dụng: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Khai báo trong lớp: từ khóa </a:t>
            </a:r>
            <a:r>
              <a:rPr b="1" i="1" lang="en-US">
                <a:solidFill>
                  <a:srgbClr val="FFC000"/>
                </a:solidFill>
              </a:rPr>
              <a:t>friend</a:t>
            </a:r>
            <a:r>
              <a:rPr lang="en-US"/>
              <a:t> </a:t>
            </a:r>
            <a:r>
              <a:rPr b="1" lang="en-US">
                <a:solidFill>
                  <a:srgbClr val="FFC000"/>
                </a:solidFill>
              </a:rPr>
              <a:t>&lt;chữ ký hàm&gt;</a:t>
            </a:r>
            <a:r>
              <a:rPr lang="en-US"/>
              <a:t>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Cài đặt ngoài lớp: không có </a:t>
            </a:r>
            <a:r>
              <a:rPr b="1" i="1" lang="en-US">
                <a:solidFill>
                  <a:srgbClr val="FFC000"/>
                </a:solidFill>
              </a:rPr>
              <a:t>friend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</a:t>
            </a:r>
            <a:r>
              <a:rPr b="1" lang="en-US" sz="1800">
                <a:solidFill>
                  <a:srgbClr val="FFC000"/>
                </a:solidFill>
              </a:rPr>
              <a:t>PhanSo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rgbClr val="FFC000"/>
                </a:solidFill>
              </a:rPr>
              <a:t>friend</a:t>
            </a:r>
            <a:r>
              <a:rPr lang="en-US" sz="1800"/>
              <a:t> ostream&amp; </a:t>
            </a:r>
            <a:r>
              <a:rPr b="1" lang="en-US" sz="1800">
                <a:solidFill>
                  <a:srgbClr val="FFC000"/>
                </a:solidFill>
              </a:rPr>
              <a:t>operator &lt;&lt;</a:t>
            </a:r>
            <a:r>
              <a:rPr lang="en-US" sz="1800"/>
              <a:t>(ostream &amp;os, const PhanSo &amp;p);</a:t>
            </a:r>
            <a:br>
              <a:rPr lang="en-US" sz="1800"/>
            </a:br>
            <a:r>
              <a:rPr lang="en-US" sz="1800"/>
              <a:t>};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ostream&amp; </a:t>
            </a:r>
            <a:r>
              <a:rPr b="1" lang="en-US" sz="1800">
                <a:solidFill>
                  <a:srgbClr val="FFC000"/>
                </a:solidFill>
              </a:rPr>
              <a:t>operator &lt;&lt;(</a:t>
            </a:r>
            <a:r>
              <a:rPr lang="en-US" sz="1800"/>
              <a:t>ostream &amp;os, const PhanSo &amp;p)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	os &lt;&lt; p.m_tu &lt;&lt; “/” &lt;&lt; p.m_mau &lt;&lt; endl;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	return os;</a:t>
            </a:r>
            <a:br>
              <a:rPr lang="en-US" sz="1800"/>
            </a:br>
            <a:r>
              <a:rPr lang="en-US" sz="1800"/>
              <a:t>}</a:t>
            </a:r>
            <a:endParaRPr/>
          </a:p>
        </p:txBody>
      </p:sp>
      <p:sp>
        <p:nvSpPr>
          <p:cNvPr id="210" name="Google Shape;210;p1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1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Tóm tắt</a:t>
            </a:r>
            <a:endParaRPr/>
          </a:p>
        </p:txBody>
      </p:sp>
      <p:sp>
        <p:nvSpPr>
          <p:cNvPr id="218" name="Google Shape;218;p1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Hàm toán tử: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Hàm có tên là ký hiệu toán tử.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Dùng để trang bị toán tử cho kiểu tự định nghĩa. 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Có 2 loại hàm toán tử: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Toán tử độc lập.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Toán tử thuộc lớp.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Các toán tử đặc biệt: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=, +=, -=, ++, --.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Hàm Friend: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Hàm truy xuất được thành phần của lớp.</a:t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219" name="Google Shape;219;p1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1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27" name="Google Shape;227;p1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4.1: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Trang bị cho lớp </a:t>
            </a:r>
            <a:r>
              <a:rPr b="1" lang="en-US" sz="2000">
                <a:solidFill>
                  <a:schemeClr val="hlink"/>
                </a:solidFill>
              </a:rPr>
              <a:t>phân số</a:t>
            </a:r>
            <a:r>
              <a:rPr lang="en-US" sz="2000"/>
              <a:t> những toán tử sau: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số học: +, *.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so sánh: &gt;, &lt;, ==, &gt;=, &lt;=, !=.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gán: =, +=, *=.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một ngôi: ++, -- (tăng, giảm 1 đơn vị).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ép kiểu: (float), (int).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nhập, xuất: &gt;&gt;, &lt;&lt;.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28" name="Google Shape;228;p1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1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36" name="Google Shape;236;p1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4.2: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Trang bị cho lớp </a:t>
            </a:r>
            <a:r>
              <a:rPr b="1" lang="en-US" sz="2000">
                <a:solidFill>
                  <a:schemeClr val="hlink"/>
                </a:solidFill>
              </a:rPr>
              <a:t>đơn thức</a:t>
            </a:r>
            <a:r>
              <a:rPr lang="en-US" sz="2000"/>
              <a:t> những toán tử sau: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số học: + (cùng bậc), *.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so sánh: &gt;, &lt;, ==, &gt;=, &lt;=, !=.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gán: =, += (cùng bậc), *=.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một ngôi: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1260"/>
              <a:buChar char="⮚"/>
            </a:pPr>
            <a:r>
              <a:rPr lang="en-US" sz="1800"/>
              <a:t>++, -- (tăng, giảm bậc).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1260"/>
              <a:buChar char="⮚"/>
            </a:pPr>
            <a:r>
              <a:rPr lang="en-US" sz="1800"/>
              <a:t>! (đạo hàm).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nhập, xuất: &gt;&gt;, &lt;&lt;.</a:t>
            </a:r>
            <a:endParaRPr/>
          </a:p>
        </p:txBody>
      </p:sp>
      <p:sp>
        <p:nvSpPr>
          <p:cNvPr id="237" name="Google Shape;237;p1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1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45" name="Google Shape;245;p2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4.3: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Trang bị cho lớp </a:t>
            </a:r>
            <a:r>
              <a:rPr b="1" lang="en-US" sz="2000">
                <a:solidFill>
                  <a:schemeClr val="hlink"/>
                </a:solidFill>
              </a:rPr>
              <a:t>mảng</a:t>
            </a:r>
            <a:r>
              <a:rPr lang="en-US" sz="2000"/>
              <a:t> (phần kiểu bất kỳ) những toán tử sau: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gán: =.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truy xuất phần tử: [ ].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ép kiểu: (T *) (ép về con trỏ kiểu T).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nhập, xuất: &gt;&gt;, &lt;&lt;.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54" name="Google Shape;254;p2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4.4: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Xây dựng lớp </a:t>
            </a:r>
            <a:r>
              <a:rPr b="1" lang="en-US" sz="2000">
                <a:solidFill>
                  <a:schemeClr val="hlink"/>
                </a:solidFill>
              </a:rPr>
              <a:t>Time</a:t>
            </a:r>
            <a:r>
              <a:rPr lang="en-US" sz="2000"/>
              <a:t> có những phương thức sau: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(Nhóm tạo hủy)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mặc định vào thời điểm hiện tại.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từ giờ, phút, giây cho trước.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từ giây tuyệt đối trong ngày.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từ một đối tượng Time khác.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(Nhóm truy xuất thông tin)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Lấy/gán giờ, phút, giây.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Lấy/gán giây tuyệt đối trong ngày.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55" name="Google Shape;255;p2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2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63" name="Google Shape;263;p2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4.4: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Xây dựng lớp </a:t>
            </a:r>
            <a:r>
              <a:rPr b="1" lang="en-US" sz="2000">
                <a:solidFill>
                  <a:schemeClr val="hlink"/>
                </a:solidFill>
              </a:rPr>
              <a:t>Time</a:t>
            </a:r>
            <a:r>
              <a:rPr lang="en-US" sz="2000"/>
              <a:t> (tiếp theo):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(Nhóm xử lý nghiệp vụ)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So sánh thứ tự trước sau với đối tượng Time khác.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Tính khoảng cách đến đối tượng Time khác (đơn vị giây).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Cộng giờ, cộng phút, cộng giây.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(Nhóm toán tử)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so sánh: &gt;, &lt;, ==, &gt;=, &lt;=, !=.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cộng, trừ giây: +, -.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tăng, giảm 1 giây: ++, --.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nhập xuất: &gt;&gt;, &lt;&lt;.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64" name="Google Shape;264;p2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5" name="Google Shape;265;p2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72" name="Google Shape;272;p2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4.5: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Xây dựng lớp </a:t>
            </a:r>
            <a:r>
              <a:rPr b="1" lang="en-US" sz="2000">
                <a:solidFill>
                  <a:schemeClr val="hlink"/>
                </a:solidFill>
              </a:rPr>
              <a:t>Date</a:t>
            </a:r>
            <a:r>
              <a:rPr lang="en-US" sz="2000"/>
              <a:t> có những phương thức sau: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(Nhóm tạo hủy)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mặc định vào ngày hiện tại.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từ ngày, tháng, năm cho trước.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từ năm và ngày tuyệt đối trong năm.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từ một đối tượng Date khác.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(Nhóm truy xuất thông tin)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Lấy/gán ngày, tháng, năm.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Lấy/gán ngày tuyệt đối trong năm.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Thông báo thứ trong tuần.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Thông báo tuần trong năm.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2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81" name="Google Shape;281;p2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4.5: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Xây dựng lớp </a:t>
            </a:r>
            <a:r>
              <a:rPr b="1" lang="en-US" sz="2000">
                <a:solidFill>
                  <a:schemeClr val="hlink"/>
                </a:solidFill>
              </a:rPr>
              <a:t>Date</a:t>
            </a:r>
            <a:r>
              <a:rPr lang="en-US" sz="2000"/>
              <a:t> (tiếp theo):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(Nhóm xử lý nghiệp vụ)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Kiểm tra năm nhuận.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So sánh thứ tự trước sau với đối tượng Date khác.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Tính khoảng cách đến đối tượng Date khác (đơn vị ngày).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Cộng ngày, cộng tháng, cộng năm.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/>
              <a:t>	(Nhóm toán tử)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so sánh: &gt;, &lt;, ==, &gt;=, &lt;=, !=.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cộng, trừ ngày: +, -.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tăng, giảm 1 ngày: ++, --.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Toán tử nhập xuất: &gt;&gt;, &lt;&lt;.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82" name="Google Shape;282;p2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2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2005-11-21T10:16:26Z</dcterms:created>
  <dc:creator>Nguyen Minh Huy</dc:creator>
</cp:coreProperties>
</file>