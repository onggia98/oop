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http://customooxmlschemas.google.com/">
      <go:slidesCustomData xmlns:go="http://customooxmlschemas.google.com/" r:id="rId30" roundtripDataSignature="AMtx7mg3317Hg+rde1mPHqBUDBqXd6kw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1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5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3" name="Google Shape;243;p19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2" name="Google Shape;252;p20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1" name="Google Shape;261;p21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0" name="Google Shape;270;p22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8" name="Google Shape;288;p24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4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26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32" name="Google Shape;32;p26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3" name="Google Shape;33;p26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6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6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6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6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6"/>
            <p:cNvSpPr/>
            <p:nvPr/>
          </p:nvSpPr>
          <p:spPr>
            <a:xfrm>
              <a:off x="3322" y="1341"/>
              <a:ext cx="1825" cy="1537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6"/>
            <p:cNvSpPr/>
            <p:nvPr/>
          </p:nvSpPr>
          <p:spPr>
            <a:xfrm>
              <a:off x="0" y="0"/>
              <a:ext cx="5758" cy="1776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" name="Google Shape;4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26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26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26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6"/>
          <p:cNvSpPr/>
          <p:nvPr/>
        </p:nvSpPr>
        <p:spPr>
          <a:xfrm>
            <a:off x="6096000" y="3733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GV. Nguyễn Minh Huy</a:t>
            </a:r>
            <a:endParaRPr b="0" i="0" sz="2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6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5000">
                <a:solidFill>
                  <a:srgbClr val="FF66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2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clipboard2" id="57" name="Google Shape;5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89788" y="4419600"/>
            <a:ext cx="1725612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54813" y="4176713"/>
            <a:ext cx="2160587" cy="214788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62" name="Google Shape;62;p2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" name="Google Shape;11;p25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2" name="Google Shape;12;p25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3" name="Google Shape;13;p25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5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5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5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5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" name="Google Shape;18;p25"/>
            <p:cNvSpPr/>
            <p:nvPr/>
          </p:nvSpPr>
          <p:spPr>
            <a:xfrm>
              <a:off x="3322" y="1341"/>
              <a:ext cx="1825" cy="1537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5"/>
            <p:cNvSpPr/>
            <p:nvPr/>
          </p:nvSpPr>
          <p:spPr>
            <a:xfrm>
              <a:off x="0" y="0"/>
              <a:ext cx="5758" cy="1776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20;p2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■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306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■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52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⮚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972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972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972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972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972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3" name="Google Shape;23;p25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5"/>
          <p:cNvGrpSpPr/>
          <p:nvPr/>
        </p:nvGrpSpPr>
        <p:grpSpPr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25" name="Google Shape;25;p25"/>
            <p:cNvSpPr/>
            <p:nvPr/>
          </p:nvSpPr>
          <p:spPr>
            <a:xfrm>
              <a:off x="5088" y="144"/>
              <a:ext cx="288" cy="336"/>
            </a:xfrm>
            <a:prstGeom prst="flowChartAlternateProcess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5"/>
            <p:cNvSpPr/>
            <p:nvPr/>
          </p:nvSpPr>
          <p:spPr>
            <a:xfrm>
              <a:off x="5185" y="48"/>
              <a:ext cx="385" cy="336"/>
            </a:xfrm>
            <a:prstGeom prst="flowChartAlternateProcess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5"/>
            <p:cNvSpPr/>
            <p:nvPr/>
          </p:nvSpPr>
          <p:spPr>
            <a:xfrm>
              <a:off x="5232" y="192"/>
              <a:ext cx="384" cy="336"/>
            </a:xfrm>
            <a:prstGeom prst="flowChartAlternateProcess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" name="Google Shape;28;p25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25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Vòng đời đối tượng</a:t>
            </a:r>
            <a:endParaRPr/>
          </a:p>
        </p:txBody>
      </p:sp>
      <p:sp>
        <p:nvSpPr>
          <p:cNvPr id="70" name="Google Shape;70;p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78" name="Google Shape;78;p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Phương thức khởi tạo.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Phương thức hủy.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Thành phần tĩnh.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Class Template.</a:t>
            </a:r>
            <a:endParaRPr/>
          </a:p>
        </p:txBody>
      </p:sp>
      <p:sp>
        <p:nvSpPr>
          <p:cNvPr id="79" name="Google Shape;79;p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Phương thức khởi tạo.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Phương thức hủy.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Thành phần tĩnh.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Class Template.</a:t>
            </a:r>
            <a:endParaRPr/>
          </a:p>
        </p:txBody>
      </p:sp>
      <p:sp>
        <p:nvSpPr>
          <p:cNvPr id="88" name="Google Shape;88;p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thức khởi tạo</a:t>
            </a:r>
            <a:endParaRPr/>
          </a:p>
        </p:txBody>
      </p:sp>
      <p:sp>
        <p:nvSpPr>
          <p:cNvPr id="96" name="Google Shape;96;p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Vấn đề khởi tạo thông tin đối tượng: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Giá trị ban đầu của thuộc tính?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class PhanSo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{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private: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	int	m_tu;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	int	m_mau;</a:t>
            </a:r>
            <a:br>
              <a:rPr b="1" lang="en-US" sz="1800">
                <a:solidFill>
                  <a:srgbClr val="FFCC00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};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Khởi tạo bằng phương thức truy xuất (getter/setter):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class PhanSo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{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public:</a:t>
            </a:r>
            <a:br>
              <a:rPr lang="en-US" sz="1800">
                <a:solidFill>
                  <a:srgbClr val="FFFFFF"/>
                </a:solidFill>
              </a:rPr>
            </a:br>
            <a:r>
              <a:rPr b="1" lang="en-US" sz="1800">
                <a:solidFill>
                  <a:srgbClr val="FFC000"/>
                </a:solidFill>
              </a:rPr>
              <a:t>	void ganTu(int tu);</a:t>
            </a:r>
            <a:br>
              <a:rPr b="1" lang="en-US" sz="1800">
                <a:solidFill>
                  <a:srgbClr val="FFC000"/>
                </a:solidFill>
              </a:rPr>
            </a:br>
            <a:r>
              <a:rPr b="1" lang="en-US" sz="1800">
                <a:solidFill>
                  <a:srgbClr val="FFC000"/>
                </a:solidFill>
              </a:rPr>
              <a:t>	void ganMau(int mau);</a:t>
            </a:r>
            <a:br>
              <a:rPr b="1" lang="en-US" sz="1800">
                <a:solidFill>
                  <a:srgbClr val="FFCC00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};</a:t>
            </a:r>
            <a:endParaRPr sz="1800"/>
          </a:p>
        </p:txBody>
      </p:sp>
      <p:sp>
        <p:nvSpPr>
          <p:cNvPr id="97" name="Google Shape;97;p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4114800" y="2133600"/>
            <a:ext cx="4800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 p;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//  Giá trị của p??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114800" y="4267200"/>
            <a:ext cx="4800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 p;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p.ganTu(1);</a:t>
            </a:r>
            <a:b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p.ganMau(3);</a:t>
            </a:r>
            <a:b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858000" y="4800600"/>
            <a:ext cx="1905000" cy="762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Người dùng quên gọi?!</a:t>
            </a:r>
            <a:endParaRPr b="0" i="0" sz="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thức khởi tạo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Tính chất phương thức khởi tạo: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“Làm khai sinh” cho đối tượng!!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Tự động gọi khi khai báo đối tượng.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Có thể nạp chồng nhiều phương thức.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Không có giá trị trả về.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Có tên trùng tên lớp (trong C++).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PhanSo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int	m_tu;</a:t>
            </a:r>
            <a:br>
              <a:rPr lang="en-US" sz="1800"/>
            </a:br>
            <a:r>
              <a:rPr lang="en-US" sz="1800"/>
              <a:t>	int	m_mau;</a:t>
            </a:r>
            <a:br>
              <a:rPr lang="en-US" sz="1800"/>
            </a:br>
            <a:r>
              <a:rPr lang="en-US" sz="1800"/>
              <a:t>public: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chemeClr val="hlink"/>
                </a:solidFill>
              </a:rPr>
              <a:t>PhanSo(int tu, int mau);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b="1" lang="en-US" sz="1800">
                <a:solidFill>
                  <a:schemeClr val="hlink"/>
                </a:solidFill>
              </a:rPr>
              <a:t>	PhanSo(int giaTri);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lang="en-US" sz="1800"/>
              <a:t>};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4114800" y="3886200"/>
            <a:ext cx="4800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 p1(1, 2);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 p2( 5 );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 *p3 = new PhanSo(2, 3);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thức khởi tạo</a:t>
            </a:r>
            <a:endParaRPr/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Phương thức khởi tạo mặc định: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“Làm khai sinh” mặc định!!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Không có tham số.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Nếu lớp không có phương thức khởi tạo nào: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/>
              <a:t>	🡺 Trình biên dịch cấp.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PhanSo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int	m_tu;</a:t>
            </a:r>
            <a:br>
              <a:rPr lang="en-US" sz="1800"/>
            </a:br>
            <a:r>
              <a:rPr lang="en-US" sz="1800"/>
              <a:t>	int	m_mau;</a:t>
            </a:r>
            <a:br>
              <a:rPr lang="en-US" sz="1800"/>
            </a:br>
            <a:r>
              <a:rPr lang="en-US" sz="1800"/>
              <a:t>public: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chemeClr val="hlink"/>
                </a:solidFill>
              </a:rPr>
              <a:t>PhanSo();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lang="en-US" sz="1800"/>
              <a:t>};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419600" y="3429000"/>
            <a:ext cx="4343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 p;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 *q = new PhanSo;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thức khởi tạo</a:t>
            </a:r>
            <a:endParaRPr/>
          </a:p>
        </p:txBody>
      </p:sp>
      <p:sp>
        <p:nvSpPr>
          <p:cNvPr id="128" name="Google Shape;128;p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Phương thức khởi tạo sao chép: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“Làm khai sinh” bằng sao chép đối tượng khác.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Tham số là đối tượng cùng lớp.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Nếu lớp không có phương thức khởi tạo sao chép: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/>
              <a:t>	🡺 Trình biên dịch cấp.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PhanSo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int	m_tu;</a:t>
            </a:r>
            <a:br>
              <a:rPr lang="en-US" sz="1800"/>
            </a:br>
            <a:r>
              <a:rPr lang="en-US" sz="1800"/>
              <a:t>	int	m_mau;</a:t>
            </a:r>
            <a:br>
              <a:rPr lang="en-US" sz="1800"/>
            </a:br>
            <a:r>
              <a:rPr lang="en-US" sz="1800"/>
              <a:t>public: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chemeClr val="hlink"/>
                </a:solidFill>
              </a:rPr>
              <a:t>PhanSo(const PhanSo &amp;p);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lang="en-US" sz="1800"/>
              <a:t>};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5486400" y="3429000"/>
            <a:ext cx="32766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 p1(1, 2);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// Sao chép p1…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 p2(p1);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// Sao chép p2…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 p3 = p2;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thức khởi tạo</a:t>
            </a:r>
            <a:endParaRPr/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Dr. Guru khuyên: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Một lớp nên có tối thiểu 3 phương thức khởi tạo: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Khởi tạo mặc định.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Khởi tạo sao chép.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Khởi tạo với đầy đủ thông tin.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PhanSo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int	m_tu;</a:t>
            </a:r>
            <a:br>
              <a:rPr lang="en-US" sz="1800"/>
            </a:br>
            <a:r>
              <a:rPr lang="en-US" sz="1800"/>
              <a:t>	int	m_mau;</a:t>
            </a:r>
            <a:br>
              <a:rPr lang="en-US" sz="1800"/>
            </a:br>
            <a:r>
              <a:rPr lang="en-US" sz="1800"/>
              <a:t>public: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rgbClr val="FFC000"/>
                </a:solidFill>
              </a:rPr>
              <a:t>PhanSo();</a:t>
            </a:r>
            <a:br>
              <a:rPr b="1" lang="en-US" sz="1800">
                <a:solidFill>
                  <a:srgbClr val="FFC000"/>
                </a:solidFill>
              </a:rPr>
            </a:br>
            <a:r>
              <a:rPr b="1" lang="en-US" sz="1800">
                <a:solidFill>
                  <a:srgbClr val="FFC000"/>
                </a:solidFill>
              </a:rPr>
              <a:t>	PhanSo(const PhanSo &amp;p);</a:t>
            </a:r>
            <a:br>
              <a:rPr b="1" lang="en-US" sz="1800">
                <a:solidFill>
                  <a:srgbClr val="FFC000"/>
                </a:solidFill>
              </a:rPr>
            </a:br>
            <a:r>
              <a:rPr b="1" lang="en-US" sz="1800">
                <a:solidFill>
                  <a:srgbClr val="FFC000"/>
                </a:solidFill>
              </a:rPr>
              <a:t>	PhanSo(int tu, int mau);</a:t>
            </a:r>
            <a:br>
              <a:rPr b="1" lang="en-US" sz="1800">
                <a:solidFill>
                  <a:srgbClr val="FFC000"/>
                </a:solidFill>
              </a:rPr>
            </a:br>
            <a:r>
              <a:rPr lang="en-US" sz="1800"/>
              <a:t>};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3810000"/>
            <a:ext cx="2514600" cy="24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48" name="Google Shape;148;p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Phương thức khởi tạo.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Phương thức hủy.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Thành phần tĩnh.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Class Template.</a:t>
            </a:r>
            <a:endParaRPr/>
          </a:p>
        </p:txBody>
      </p:sp>
      <p:sp>
        <p:nvSpPr>
          <p:cNvPr id="149" name="Google Shape;149;p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thức hủy</a:t>
            </a:r>
            <a:endParaRPr/>
          </a:p>
        </p:txBody>
      </p:sp>
      <p:sp>
        <p:nvSpPr>
          <p:cNvPr id="157" name="Google Shape;157;p1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Vấn đề rò rỉ bộ nhớ (memory leak):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Bộ nhớ cấp cho con trỏ không tự thu hồi.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FFCC00"/>
              </a:buClr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class HocSinh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{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private: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	char	*m_hoTen;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};</a:t>
            </a:r>
            <a:endParaRPr/>
          </a:p>
          <a:p>
            <a:pPr indent="-175260" lvl="2" marL="1143000" rtl="0" algn="l">
              <a:spcBef>
                <a:spcPts val="240"/>
              </a:spcBef>
              <a:spcAft>
                <a:spcPts val="0"/>
              </a:spcAft>
              <a:buSzPts val="840"/>
              <a:buNone/>
            </a:pPr>
            <a:r>
              <a:t/>
            </a:r>
            <a:endParaRPr sz="1200"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Xây dựng phương thức thu hồi: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rgbClr val="FFFFFF"/>
                </a:solidFill>
              </a:rPr>
              <a:t>	class HocSinh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{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private: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	char	*m_hoTen;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public:</a:t>
            </a:r>
            <a:br>
              <a:rPr lang="en-US" sz="1800">
                <a:solidFill>
                  <a:srgbClr val="FFFFFF"/>
                </a:solidFill>
              </a:rPr>
            </a:br>
            <a:r>
              <a:rPr b="1" lang="en-US" sz="1800">
                <a:solidFill>
                  <a:srgbClr val="FFC000"/>
                </a:solidFill>
              </a:rPr>
              <a:t>	void thuHoiBoNho() { </a:t>
            </a:r>
            <a:br>
              <a:rPr b="1" lang="en-US" sz="1800">
                <a:solidFill>
                  <a:srgbClr val="FFC000"/>
                </a:solidFill>
              </a:rPr>
            </a:br>
            <a:r>
              <a:rPr b="1" lang="en-US" sz="1800">
                <a:solidFill>
                  <a:srgbClr val="FFC000"/>
                </a:solidFill>
              </a:rPr>
              <a:t>		delete [ ]m_hoTen;  }</a:t>
            </a:r>
            <a:br>
              <a:rPr b="1" lang="en-US" sz="1800">
                <a:solidFill>
                  <a:srgbClr val="FFCC00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};</a:t>
            </a:r>
            <a:endParaRPr sz="1800"/>
          </a:p>
        </p:txBody>
      </p:sp>
      <p:sp>
        <p:nvSpPr>
          <p:cNvPr id="158" name="Google Shape;158;p1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1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4648200" y="2133600"/>
            <a:ext cx="4267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HocSinh   hs;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// hs.m_hoTen được thu hồi?</a:t>
            </a:r>
            <a:endParaRPr b="0" i="1" sz="32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4648200" y="4191000"/>
            <a:ext cx="4191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HocSinh   hs; 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hs.thuHoiBoNho();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781800" y="5486400"/>
            <a:ext cx="1905000" cy="762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Người dùng quên gọi?!</a:t>
            </a:r>
            <a:endParaRPr b="0" i="0" sz="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Phương thức hủy</a:t>
            </a:r>
            <a:endParaRPr/>
          </a:p>
        </p:txBody>
      </p:sp>
      <p:sp>
        <p:nvSpPr>
          <p:cNvPr id="169" name="Google Shape;169;p1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Tính chất phương thức hủy: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“Làm di chúc” cho đối tượng.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Tự động gọi khi đối tượng bị hủy.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Duy nhất cho mỗi lớp.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Có tên </a:t>
            </a:r>
            <a:r>
              <a:rPr b="1" lang="en-US">
                <a:solidFill>
                  <a:srgbClr val="FFC000"/>
                </a:solidFill>
              </a:rPr>
              <a:t>~&lt;Tên lớp&gt;</a:t>
            </a:r>
            <a:r>
              <a:rPr lang="en-US"/>
              <a:t> (trong C++).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HocSinh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char	*m_hoTen;</a:t>
            </a:r>
            <a:br>
              <a:rPr lang="en-US" sz="1800"/>
            </a:br>
            <a:r>
              <a:rPr lang="en-US" sz="1800"/>
              <a:t>	float	m_diemVan;</a:t>
            </a:r>
            <a:br>
              <a:rPr lang="en-US" sz="1800"/>
            </a:br>
            <a:r>
              <a:rPr lang="en-US" sz="1800"/>
              <a:t>	float	m_diemToan;</a:t>
            </a:r>
            <a:br>
              <a:rPr lang="en-US" sz="1800"/>
            </a:br>
            <a:r>
              <a:rPr lang="en-US" sz="1800"/>
              <a:t>public: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chemeClr val="hlink"/>
                </a:solidFill>
              </a:rPr>
              <a:t>~HocSinh() { delete [ ]m_hoTen; }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lang="en-US" sz="1800"/>
              <a:t>};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70" name="Google Shape;170;p1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4648200" y="3429000"/>
            <a:ext cx="4038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HocSinh   hs;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HocSinh   *p = new HocSinh;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delete p;</a:t>
            </a:r>
            <a:b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// p-&gt;m_hoTen được hủy.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// hs.m_hoTen được hủy.</a:t>
            </a:r>
            <a:endParaRPr b="0" i="1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79" name="Google Shape;179;p1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Phương thức khởi tạo.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Phương thức hủy.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Thành phần tĩnh.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Class Template.</a:t>
            </a:r>
            <a:endParaRPr/>
          </a:p>
        </p:txBody>
      </p:sp>
      <p:sp>
        <p:nvSpPr>
          <p:cNvPr id="180" name="Google Shape;180;p1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1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Thành phần tĩnh</a:t>
            </a:r>
            <a:endParaRPr/>
          </a:p>
        </p:txBody>
      </p:sp>
      <p:sp>
        <p:nvSpPr>
          <p:cNvPr id="188" name="Google Shape;188;p1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Chia sẻ giữa các đối tượng cùng lớp: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Mỗi đối tượng có bản sao riêng: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Thuộc tính.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Phương thức.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/>
              <a:t>	🡺 Thành phần của đối tượng</a:t>
            </a:r>
            <a:br>
              <a:rPr lang="en-US"/>
            </a:br>
            <a:r>
              <a:rPr lang="en-US"/>
              <a:t>(object members).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Muốn dùng chung thông tin?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/>
              <a:t>	🡺 Thành phần tĩnh</a:t>
            </a:r>
            <a:br>
              <a:rPr lang="en-US"/>
            </a:br>
            <a:r>
              <a:rPr lang="en-US"/>
              <a:t>(static members).</a:t>
            </a:r>
            <a:endParaRPr/>
          </a:p>
        </p:txBody>
      </p:sp>
      <p:sp>
        <p:nvSpPr>
          <p:cNvPr id="189" name="Google Shape;189;p1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1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6248400" y="2286000"/>
            <a:ext cx="1676400" cy="1524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PhanSo</a:t>
            </a:r>
            <a:endParaRPr b="1" i="0" sz="2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50"/>
              <a:buFont typeface="Noto Sans Symbols"/>
              <a:buNone/>
            </a:pPr>
            <a:r>
              <a:t/>
            </a:r>
            <a:endParaRPr b="1" i="0" sz="5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001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Tử số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001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Mẫu số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001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Rút gọn()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5257800" y="4038600"/>
            <a:ext cx="1676400" cy="1524000"/>
          </a:xfrm>
          <a:prstGeom prst="roundRect">
            <a:avLst>
              <a:gd fmla="val 7093" name="adj"/>
            </a:avLst>
          </a:prstGeom>
          <a:noFill/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p1: PhanSo</a:t>
            </a:r>
            <a:endParaRPr b="1" i="0" sz="20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50"/>
              <a:buFont typeface="Noto Sans Symbols"/>
              <a:buNone/>
            </a:pPr>
            <a:r>
              <a:t/>
            </a:r>
            <a:endParaRPr b="1" i="0" sz="5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001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Tử số: 1</a:t>
            </a:r>
            <a:endParaRPr b="0" i="0" sz="18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001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Mẫu số: 2</a:t>
            </a:r>
            <a:endParaRPr/>
          </a:p>
          <a:p>
            <a:pPr indent="-8001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Rút gọn()</a:t>
            </a:r>
            <a:endParaRPr b="0" i="0" sz="18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7162800" y="4038600"/>
            <a:ext cx="1676400" cy="1524000"/>
          </a:xfrm>
          <a:prstGeom prst="roundRect">
            <a:avLst>
              <a:gd fmla="val 7093" name="adj"/>
            </a:avLst>
          </a:prstGeom>
          <a:noFill/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p2: PhanSo</a:t>
            </a:r>
            <a:endParaRPr b="1" i="0" sz="20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50"/>
              <a:buFont typeface="Noto Sans Symbols"/>
              <a:buNone/>
            </a:pPr>
            <a:r>
              <a:t/>
            </a:r>
            <a:endParaRPr b="1" i="0" sz="5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001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Tử số: 1</a:t>
            </a:r>
            <a:endParaRPr b="0" i="0" sz="18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001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Mẫu số: 3</a:t>
            </a:r>
            <a:endParaRPr/>
          </a:p>
          <a:p>
            <a:pPr indent="-8001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Rút gọn()</a:t>
            </a:r>
            <a:endParaRPr b="0" i="0" sz="18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Thành phần tĩnh</a:t>
            </a:r>
            <a:endParaRPr/>
          </a:p>
        </p:txBody>
      </p:sp>
      <p:sp>
        <p:nvSpPr>
          <p:cNvPr id="200" name="Google Shape;200;p1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Tính chất thành phần tĩnh: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Thuộc tính, phương thức thuộc phạm vi lớp.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Dùng chung cho mọi đối tượng của lớp.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Các sử dụng (trong C++):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Khai báo: từ khóa </a:t>
            </a:r>
            <a:r>
              <a:rPr b="1" lang="en-US">
                <a:solidFill>
                  <a:srgbClr val="FFC000"/>
                </a:solidFill>
              </a:rPr>
              <a:t>“static”</a:t>
            </a:r>
            <a:r>
              <a:rPr lang="en-US"/>
              <a:t>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Khởi tạo: bên ngoài lớp.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Truy xuất: </a:t>
            </a:r>
            <a:r>
              <a:rPr b="1" lang="en-US">
                <a:solidFill>
                  <a:srgbClr val="FFC000"/>
                </a:solidFill>
              </a:rPr>
              <a:t>tên lớp </a:t>
            </a:r>
            <a:r>
              <a:rPr lang="en-US"/>
              <a:t>kèm toán tử </a:t>
            </a:r>
            <a:r>
              <a:rPr b="1" lang="en-US">
                <a:solidFill>
                  <a:srgbClr val="FFC000"/>
                </a:solidFill>
              </a:rPr>
              <a:t>::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PhanSo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chemeClr val="hlink"/>
                </a:solidFill>
              </a:rPr>
              <a:t>static     int m_giaTriLN;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lang="en-US" sz="1800"/>
              <a:t>public: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chemeClr val="hlink"/>
                </a:solidFill>
              </a:rPr>
              <a:t>static     int layGiaTriLN();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lang="en-US" sz="1800"/>
              <a:t>};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201" name="Google Shape;201;p1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1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sp>
        <p:nvSpPr>
          <p:cNvPr id="203" name="Google Shape;203;p14"/>
          <p:cNvSpPr/>
          <p:nvPr/>
        </p:nvSpPr>
        <p:spPr>
          <a:xfrm>
            <a:off x="4191000" y="4114800"/>
            <a:ext cx="44958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int PhanSo::m_giaTriLN = 10000;</a:t>
            </a:r>
            <a:b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int   x = PhanSo::layGiaTriLN();</a:t>
            </a:r>
            <a:b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210" name="Google Shape;210;p1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Phương thức khởi tạo.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Phương thức hủy.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Thành phần tĩnh.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Class Template.</a:t>
            </a:r>
            <a:endParaRPr b="1">
              <a:solidFill>
                <a:srgbClr val="FFC000"/>
              </a:solidFill>
            </a:endParaRPr>
          </a:p>
        </p:txBody>
      </p:sp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1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Template</a:t>
            </a:r>
            <a:endParaRPr/>
          </a:p>
        </p:txBody>
      </p:sp>
      <p:sp>
        <p:nvSpPr>
          <p:cNvPr id="219" name="Google Shape;219;p1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Xét lớp mảng: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Các phần tử là số nguyên.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Tổng quát: các phần tử kiểu bất kỳ.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/>
              <a:t>	🡺 Tham số hóa thuộc tính, phương thức.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/>
              <a:t>	🡺 Class Template.</a:t>
            </a:r>
            <a:endParaRPr/>
          </a:p>
        </p:txBody>
      </p:sp>
      <p:sp>
        <p:nvSpPr>
          <p:cNvPr id="220" name="Google Shape;220;p1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1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Template</a:t>
            </a:r>
            <a:endParaRPr/>
          </a:p>
        </p:txBody>
      </p:sp>
      <p:sp>
        <p:nvSpPr>
          <p:cNvPr id="228" name="Google Shape;228;p1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Cách sử dụng Class Template: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FFCC00"/>
              </a:buClr>
              <a:buSzPts val="1400"/>
              <a:buNone/>
            </a:pPr>
            <a:r>
              <a:rPr b="1" lang="en-US" sz="2000">
                <a:solidFill>
                  <a:srgbClr val="FFFFFF"/>
                </a:solidFill>
              </a:rPr>
              <a:t>	</a:t>
            </a:r>
            <a:r>
              <a:rPr b="1" lang="en-US" sz="1800">
                <a:solidFill>
                  <a:srgbClr val="FFCC00"/>
                </a:solidFill>
              </a:rPr>
              <a:t>template &lt;class T&gt;</a:t>
            </a:r>
            <a:br>
              <a:rPr b="1" lang="en-US" sz="1800">
                <a:solidFill>
                  <a:srgbClr val="FFCC00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class Mang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{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private: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	int	m_kichThuoc;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	</a:t>
            </a:r>
            <a:r>
              <a:rPr b="1" lang="en-US" sz="1800">
                <a:solidFill>
                  <a:srgbClr val="FFCC00"/>
                </a:solidFill>
              </a:rPr>
              <a:t>T</a:t>
            </a:r>
            <a:r>
              <a:rPr lang="en-US" sz="1800">
                <a:solidFill>
                  <a:srgbClr val="FFFFFF"/>
                </a:solidFill>
              </a:rPr>
              <a:t>	*m_duLieu;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public: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	Mang( int kichThuoc );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	</a:t>
            </a:r>
            <a:r>
              <a:rPr b="1" lang="en-US" sz="1800">
                <a:solidFill>
                  <a:srgbClr val="FFCC00"/>
                </a:solidFill>
              </a:rPr>
              <a:t>T&amp;</a:t>
            </a:r>
            <a:r>
              <a:rPr lang="en-US" sz="1800">
                <a:solidFill>
                  <a:srgbClr val="FFFFFF"/>
                </a:solidFill>
              </a:rPr>
              <a:t>  layPhanTu( int  i );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	</a:t>
            </a:r>
            <a:r>
              <a:rPr b="1" lang="en-US" sz="1800">
                <a:solidFill>
                  <a:srgbClr val="FFC000"/>
                </a:solidFill>
              </a:rPr>
              <a:t>T</a:t>
            </a:r>
            <a:r>
              <a:rPr lang="en-US" sz="1800">
                <a:solidFill>
                  <a:srgbClr val="FFFFFF"/>
                </a:solidFill>
              </a:rPr>
              <a:t>  timMax( );</a:t>
            </a:r>
            <a:br>
              <a:rPr lang="en-US" sz="1800">
                <a:solidFill>
                  <a:srgbClr val="FFFFFF"/>
                </a:solidFill>
              </a:rPr>
            </a:br>
            <a:r>
              <a:rPr lang="en-US" sz="1800">
                <a:solidFill>
                  <a:srgbClr val="FFFFFF"/>
                </a:solidFill>
              </a:rPr>
              <a:t>};</a:t>
            </a:r>
            <a:endParaRPr/>
          </a:p>
        </p:txBody>
      </p:sp>
      <p:sp>
        <p:nvSpPr>
          <p:cNvPr id="229" name="Google Shape;229;p1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p1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4038600" y="1676401"/>
            <a:ext cx="51054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Mang&lt;int&gt;	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m1( 10 );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int  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= m1.layPhanTu(5);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max1 = m1.timMax( 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Mang&lt;PhanSo&gt;	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m2( 5 );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PhanSo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p = m2.layPhanTu( 2 );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PhanSo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max2 = m2.timMax( 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Tóm tắt</a:t>
            </a:r>
            <a:endParaRPr/>
          </a:p>
        </p:txBody>
      </p:sp>
      <p:sp>
        <p:nvSpPr>
          <p:cNvPr id="238" name="Google Shape;238;p1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Phương thức khởi tạo: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“Làm khai sinh” cho đối tượng.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Bắt buộc gọi khi khai báo.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Có thể nạp chồng.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Phương thức hủy: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“Làm di chúc” cho đối tượng.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Tự động gọi khi hủy.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Có duy nhất một.</a:t>
            </a:r>
            <a:endParaRPr/>
          </a:p>
        </p:txBody>
      </p:sp>
      <p:sp>
        <p:nvSpPr>
          <p:cNvPr id="239" name="Google Shape;239;p1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1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Tóm tắt</a:t>
            </a:r>
            <a:endParaRPr/>
          </a:p>
        </p:txBody>
      </p:sp>
      <p:sp>
        <p:nvSpPr>
          <p:cNvPr id="247" name="Google Shape;247;p1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Thành phần tĩnh: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Dùng chung cho đối tượng của lớp.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Cách dùng (C++):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Khai báo bằng từ khóa “static”.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Khởi tạo bên ngoài lớp.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Truy xuất bằng toán tử ::.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Class Template: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Tham số hóa kiểu thuộc tính, phương thức.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Lưu trữ và xử lý tổng quát trong lớp.</a:t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9" name="Google Shape;249;p1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56" name="Google Shape;256;p2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3.1: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Trang bị cho lớp </a:t>
            </a:r>
            <a:r>
              <a:rPr b="1" lang="en-US" sz="2000">
                <a:solidFill>
                  <a:schemeClr val="hlink"/>
                </a:solidFill>
              </a:rPr>
              <a:t>phân số</a:t>
            </a:r>
            <a:r>
              <a:rPr lang="en-US" sz="2000"/>
              <a:t> những cách khởi tạo sau: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mặc định phân số = 0.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với tử và mẫu cho trước.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từ giá trị nguyên cho trước.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từ một phân số khác.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2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65" name="Google Shape;265;p2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3.2: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Trang bị cho lớp </a:t>
            </a:r>
            <a:r>
              <a:rPr b="1" lang="en-US" sz="2000">
                <a:solidFill>
                  <a:schemeClr val="hlink"/>
                </a:solidFill>
              </a:rPr>
              <a:t>học sinh</a:t>
            </a:r>
            <a:r>
              <a:rPr lang="en-US" sz="2000"/>
              <a:t> những cách khởi tạo và hủy sau: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với họ tên và điểm văn, toán cho trước.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với họ tên cho trước, điểm văn, toán = 0.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từ một học sinh khác.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Hủy đối tượng học sinh, thu hồi bộ nhớ.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66" name="Google Shape;266;p2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2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74" name="Google Shape;274;p2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3.3: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Trang bị cho lớp </a:t>
            </a:r>
            <a:r>
              <a:rPr b="1" lang="en-US" sz="2000">
                <a:solidFill>
                  <a:schemeClr val="hlink"/>
                </a:solidFill>
              </a:rPr>
              <a:t>mảng</a:t>
            </a:r>
            <a:r>
              <a:rPr lang="en-US" sz="2000"/>
              <a:t> số nguyên những cách khởi tạo và hủy sau: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mặc định mảng kích thước = 0.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với kích thước cho trước, các phần tử = 0.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từ một mảng int [ ] với kích thước cho trước.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Khởi tạo từ một đối tượng mảng khác.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Hủy đối tượng mảng, thu hồi bộ nhớ.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75" name="Google Shape;275;p2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2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83" name="Google Shape;283;p2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3.4: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Làm lại bài 3.3 với lớp </a:t>
            </a:r>
            <a:r>
              <a:rPr b="1" lang="en-US" sz="2000">
                <a:solidFill>
                  <a:schemeClr val="hlink"/>
                </a:solidFill>
              </a:rPr>
              <a:t>mảng</a:t>
            </a:r>
            <a:r>
              <a:rPr lang="en-US" sz="2000"/>
              <a:t> có phần tử thuộc một kiểu bất kỳ.</a:t>
            </a:r>
            <a:endParaRPr/>
          </a:p>
        </p:txBody>
      </p:sp>
      <p:sp>
        <p:nvSpPr>
          <p:cNvPr id="284" name="Google Shape;284;p2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2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92" name="Google Shape;292;p2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3.5 (*):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Trang bị cho lớp </a:t>
            </a:r>
            <a:r>
              <a:rPr b="1" lang="en-US" sz="2000">
                <a:solidFill>
                  <a:schemeClr val="hlink"/>
                </a:solidFill>
              </a:rPr>
              <a:t>phân số</a:t>
            </a:r>
            <a:r>
              <a:rPr lang="en-US" sz="2000"/>
              <a:t> những phương thức sau: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Đếm tổng số lượng phân số được tạo ra trong hàm main().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Hạn chế số lượng phân số được tạo ra là N.</a:t>
            </a:r>
            <a:endParaRPr sz="2000"/>
          </a:p>
        </p:txBody>
      </p:sp>
      <p:sp>
        <p:nvSpPr>
          <p:cNvPr id="293" name="Google Shape;293;p2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" name="Google Shape;294;p2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Nguyễn Minh Huy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2005-11-21T10:16:26Z</dcterms:created>
  <dc:creator>Nguyen Minh Huy</dc:creator>
</cp:coreProperties>
</file>